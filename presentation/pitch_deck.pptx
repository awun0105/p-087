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10287000" cx="18288000"/>
  <p:notesSz cx="6858000" cy="9144000"/>
  <p:embeddedFontLst>
    <p:embeddedFont>
      <p:font typeface="Inter SemiBold"/>
      <p:regular r:id="rId16"/>
      <p:bold r:id="rId17"/>
      <p:italic r:id="rId18"/>
      <p:boldItalic r:id="rId19"/>
    </p:embeddedFont>
    <p:embeddedFont>
      <p:font typeface="Roboto"/>
      <p:bold r:id="rId20"/>
      <p:boldItalic r:id="rId21"/>
    </p:embeddedFont>
    <p:embeddedFont>
      <p:font typeface="Inter"/>
      <p:regular r:id="rId22"/>
      <p:bold r:id="rId23"/>
      <p:italic r:id="rId24"/>
      <p:boldItalic r:id="rId25"/>
    </p:embeddedFont>
    <p:embeddedFont>
      <p:font typeface="Roboto Condensed"/>
      <p:bold r:id="rId26"/>
      <p:boldItalic r:id="rId27"/>
    </p:embeddedFont>
    <p:embeddedFont>
      <p:font typeface="Public Sans Medium"/>
      <p:regular r:id="rId28"/>
      <p:bold r:id="rId29"/>
      <p:italic r:id="rId30"/>
      <p:boldItalic r:id="rId31"/>
    </p:embeddedFont>
    <p:embeddedFont>
      <p:font typeface="Public Sans"/>
      <p:bold r:id="rId32"/>
      <p:boldItalic r:id="rId33"/>
    </p:embeddedFont>
    <p:embeddedFont>
      <p:font typeface="Inter Medium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8" roundtripDataSignature="AMtx7mieb4LEki/eCBPHcStu0S1cYIyg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Inter-regular.fntdata"/><Relationship Id="rId21" Type="http://schemas.openxmlformats.org/officeDocument/2006/relationships/font" Target="fonts/Roboto-boldItalic.fntdata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Condensed-bold.fntdata"/><Relationship Id="rId25" Type="http://schemas.openxmlformats.org/officeDocument/2006/relationships/font" Target="fonts/Inter-boldItalic.fntdata"/><Relationship Id="rId28" Type="http://schemas.openxmlformats.org/officeDocument/2006/relationships/font" Target="fonts/PublicSansMedium-regular.fntdata"/><Relationship Id="rId27" Type="http://schemas.openxmlformats.org/officeDocument/2006/relationships/font" Target="fonts/RobotoCondense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ublicSansMediu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ublicSansMedium-boldItalic.fntdata"/><Relationship Id="rId30" Type="http://schemas.openxmlformats.org/officeDocument/2006/relationships/font" Target="fonts/PublicSansMedium-italic.fntdata"/><Relationship Id="rId11" Type="http://schemas.openxmlformats.org/officeDocument/2006/relationships/slide" Target="slides/slide6.xml"/><Relationship Id="rId33" Type="http://schemas.openxmlformats.org/officeDocument/2006/relationships/font" Target="fonts/PublicSans-boldItalic.fntdata"/><Relationship Id="rId10" Type="http://schemas.openxmlformats.org/officeDocument/2006/relationships/slide" Target="slides/slide5.xml"/><Relationship Id="rId32" Type="http://schemas.openxmlformats.org/officeDocument/2006/relationships/font" Target="fonts/PublicSans-bold.fntdata"/><Relationship Id="rId13" Type="http://schemas.openxmlformats.org/officeDocument/2006/relationships/slide" Target="slides/slide8.xml"/><Relationship Id="rId35" Type="http://schemas.openxmlformats.org/officeDocument/2006/relationships/font" Target="fonts/InterMedium-bold.fntdata"/><Relationship Id="rId12" Type="http://schemas.openxmlformats.org/officeDocument/2006/relationships/slide" Target="slides/slide7.xml"/><Relationship Id="rId34" Type="http://schemas.openxmlformats.org/officeDocument/2006/relationships/font" Target="fonts/InterMedium-regular.fntdata"/><Relationship Id="rId15" Type="http://schemas.openxmlformats.org/officeDocument/2006/relationships/slide" Target="slides/slide10.xml"/><Relationship Id="rId37" Type="http://schemas.openxmlformats.org/officeDocument/2006/relationships/font" Target="fonts/InterMedium-boldItalic.fntdata"/><Relationship Id="rId14" Type="http://schemas.openxmlformats.org/officeDocument/2006/relationships/slide" Target="slides/slide9.xml"/><Relationship Id="rId36" Type="http://schemas.openxmlformats.org/officeDocument/2006/relationships/font" Target="fonts/InterMedium-italic.fntdata"/><Relationship Id="rId17" Type="http://schemas.openxmlformats.org/officeDocument/2006/relationships/font" Target="fonts/InterSemiBold-bold.fntdata"/><Relationship Id="rId16" Type="http://schemas.openxmlformats.org/officeDocument/2006/relationships/font" Target="fonts/InterSemiBold-regular.fntdata"/><Relationship Id="rId38" Type="http://customschemas.google.com/relationships/presentationmetadata" Target="metadata"/><Relationship Id="rId19" Type="http://schemas.openxmlformats.org/officeDocument/2006/relationships/font" Target="fonts/InterSemiBold-boldItalic.fntdata"/><Relationship Id="rId18" Type="http://schemas.openxmlformats.org/officeDocument/2006/relationships/font" Target="fonts/InterSemiBold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0.png"/><Relationship Id="rId13" Type="http://schemas.openxmlformats.org/officeDocument/2006/relationships/image" Target="../media/image5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9.png"/><Relationship Id="rId4" Type="http://schemas.openxmlformats.org/officeDocument/2006/relationships/image" Target="../media/image1.png"/><Relationship Id="rId9" Type="http://schemas.openxmlformats.org/officeDocument/2006/relationships/image" Target="../media/image8.png"/><Relationship Id="rId15" Type="http://schemas.openxmlformats.org/officeDocument/2006/relationships/image" Target="../media/image2.png"/><Relationship Id="rId14" Type="http://schemas.openxmlformats.org/officeDocument/2006/relationships/image" Target="../media/image14.png"/><Relationship Id="rId17" Type="http://schemas.openxmlformats.org/officeDocument/2006/relationships/image" Target="../media/image7.png"/><Relationship Id="rId16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18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20" Type="http://schemas.openxmlformats.org/officeDocument/2006/relationships/image" Target="../media/image38.png"/><Relationship Id="rId22" Type="http://schemas.openxmlformats.org/officeDocument/2006/relationships/image" Target="../media/image30.png"/><Relationship Id="rId21" Type="http://schemas.openxmlformats.org/officeDocument/2006/relationships/image" Target="../media/image34.png"/><Relationship Id="rId24" Type="http://schemas.openxmlformats.org/officeDocument/2006/relationships/image" Target="../media/image35.png"/><Relationship Id="rId23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6.png"/><Relationship Id="rId4" Type="http://schemas.openxmlformats.org/officeDocument/2006/relationships/image" Target="../media/image4.png"/><Relationship Id="rId9" Type="http://schemas.openxmlformats.org/officeDocument/2006/relationships/image" Target="../media/image18.png"/><Relationship Id="rId26" Type="http://schemas.openxmlformats.org/officeDocument/2006/relationships/image" Target="../media/image47.png"/><Relationship Id="rId25" Type="http://schemas.openxmlformats.org/officeDocument/2006/relationships/image" Target="../media/image49.png"/><Relationship Id="rId27" Type="http://schemas.openxmlformats.org/officeDocument/2006/relationships/image" Target="../media/image39.png"/><Relationship Id="rId5" Type="http://schemas.openxmlformats.org/officeDocument/2006/relationships/image" Target="../media/image11.png"/><Relationship Id="rId6" Type="http://schemas.openxmlformats.org/officeDocument/2006/relationships/image" Target="../media/image17.png"/><Relationship Id="rId7" Type="http://schemas.openxmlformats.org/officeDocument/2006/relationships/image" Target="../media/image24.png"/><Relationship Id="rId8" Type="http://schemas.openxmlformats.org/officeDocument/2006/relationships/image" Target="../media/image20.png"/><Relationship Id="rId11" Type="http://schemas.openxmlformats.org/officeDocument/2006/relationships/image" Target="../media/image36.png"/><Relationship Id="rId10" Type="http://schemas.openxmlformats.org/officeDocument/2006/relationships/image" Target="../media/image25.png"/><Relationship Id="rId13" Type="http://schemas.openxmlformats.org/officeDocument/2006/relationships/image" Target="../media/image23.png"/><Relationship Id="rId12" Type="http://schemas.openxmlformats.org/officeDocument/2006/relationships/image" Target="../media/image32.png"/><Relationship Id="rId15" Type="http://schemas.openxmlformats.org/officeDocument/2006/relationships/image" Target="../media/image22.png"/><Relationship Id="rId14" Type="http://schemas.openxmlformats.org/officeDocument/2006/relationships/image" Target="../media/image28.png"/><Relationship Id="rId17" Type="http://schemas.openxmlformats.org/officeDocument/2006/relationships/image" Target="../media/image27.png"/><Relationship Id="rId16" Type="http://schemas.openxmlformats.org/officeDocument/2006/relationships/image" Target="../media/image31.png"/><Relationship Id="rId19" Type="http://schemas.openxmlformats.org/officeDocument/2006/relationships/image" Target="../media/image21.png"/><Relationship Id="rId18" Type="http://schemas.openxmlformats.org/officeDocument/2006/relationships/image" Target="../media/image33.png"/></Relationships>
</file>

<file path=ppt/slides/_rels/slide3.xml.rels><?xml version="1.0" encoding="UTF-8" standalone="yes"?><Relationships xmlns="http://schemas.openxmlformats.org/package/2006/relationships"><Relationship Id="rId20" Type="http://schemas.openxmlformats.org/officeDocument/2006/relationships/image" Target="../media/image53.png"/><Relationship Id="rId22" Type="http://schemas.openxmlformats.org/officeDocument/2006/relationships/image" Target="../media/image71.png"/><Relationship Id="rId21" Type="http://schemas.openxmlformats.org/officeDocument/2006/relationships/image" Target="../media/image64.png"/><Relationship Id="rId24" Type="http://schemas.openxmlformats.org/officeDocument/2006/relationships/image" Target="../media/image66.png"/><Relationship Id="rId23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26" Type="http://schemas.openxmlformats.org/officeDocument/2006/relationships/image" Target="../media/image61.png"/><Relationship Id="rId25" Type="http://schemas.openxmlformats.org/officeDocument/2006/relationships/image" Target="../media/image60.png"/><Relationship Id="rId5" Type="http://schemas.openxmlformats.org/officeDocument/2006/relationships/image" Target="../media/image41.png"/><Relationship Id="rId6" Type="http://schemas.openxmlformats.org/officeDocument/2006/relationships/image" Target="../media/image43.png"/><Relationship Id="rId7" Type="http://schemas.openxmlformats.org/officeDocument/2006/relationships/image" Target="../media/image40.png"/><Relationship Id="rId8" Type="http://schemas.openxmlformats.org/officeDocument/2006/relationships/image" Target="../media/image44.png"/><Relationship Id="rId11" Type="http://schemas.openxmlformats.org/officeDocument/2006/relationships/image" Target="../media/image42.png"/><Relationship Id="rId10" Type="http://schemas.openxmlformats.org/officeDocument/2006/relationships/image" Target="../media/image50.png"/><Relationship Id="rId13" Type="http://schemas.openxmlformats.org/officeDocument/2006/relationships/image" Target="../media/image48.png"/><Relationship Id="rId12" Type="http://schemas.openxmlformats.org/officeDocument/2006/relationships/image" Target="../media/image59.png"/><Relationship Id="rId15" Type="http://schemas.openxmlformats.org/officeDocument/2006/relationships/image" Target="../media/image45.png"/><Relationship Id="rId14" Type="http://schemas.openxmlformats.org/officeDocument/2006/relationships/image" Target="../media/image57.png"/><Relationship Id="rId17" Type="http://schemas.openxmlformats.org/officeDocument/2006/relationships/image" Target="../media/image58.png"/><Relationship Id="rId16" Type="http://schemas.openxmlformats.org/officeDocument/2006/relationships/image" Target="../media/image52.png"/><Relationship Id="rId19" Type="http://schemas.openxmlformats.org/officeDocument/2006/relationships/image" Target="../media/image54.png"/><Relationship Id="rId18" Type="http://schemas.openxmlformats.org/officeDocument/2006/relationships/image" Target="../media/image55.png"/></Relationships>
</file>

<file path=ppt/slides/_rels/slide4.xml.rels><?xml version="1.0" encoding="UTF-8" standalone="yes"?><Relationships xmlns="http://schemas.openxmlformats.org/package/2006/relationships"><Relationship Id="rId20" Type="http://schemas.openxmlformats.org/officeDocument/2006/relationships/image" Target="../media/image77.png"/><Relationship Id="rId22" Type="http://schemas.openxmlformats.org/officeDocument/2006/relationships/image" Target="../media/image93.png"/><Relationship Id="rId21" Type="http://schemas.openxmlformats.org/officeDocument/2006/relationships/image" Target="../media/image84.png"/><Relationship Id="rId24" Type="http://schemas.openxmlformats.org/officeDocument/2006/relationships/image" Target="../media/image86.png"/><Relationship Id="rId23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63.png"/><Relationship Id="rId9" Type="http://schemas.openxmlformats.org/officeDocument/2006/relationships/image" Target="../media/image76.png"/><Relationship Id="rId26" Type="http://schemas.openxmlformats.org/officeDocument/2006/relationships/image" Target="../media/image87.png"/><Relationship Id="rId25" Type="http://schemas.openxmlformats.org/officeDocument/2006/relationships/image" Target="../media/image83.png"/><Relationship Id="rId28" Type="http://schemas.openxmlformats.org/officeDocument/2006/relationships/image" Target="../media/image94.png"/><Relationship Id="rId27" Type="http://schemas.openxmlformats.org/officeDocument/2006/relationships/image" Target="../media/image85.png"/><Relationship Id="rId5" Type="http://schemas.openxmlformats.org/officeDocument/2006/relationships/image" Target="../media/image62.png"/><Relationship Id="rId6" Type="http://schemas.openxmlformats.org/officeDocument/2006/relationships/image" Target="../media/image69.png"/><Relationship Id="rId29" Type="http://schemas.openxmlformats.org/officeDocument/2006/relationships/image" Target="../media/image89.png"/><Relationship Id="rId7" Type="http://schemas.openxmlformats.org/officeDocument/2006/relationships/image" Target="../media/image67.png"/><Relationship Id="rId8" Type="http://schemas.openxmlformats.org/officeDocument/2006/relationships/image" Target="../media/image65.png"/><Relationship Id="rId31" Type="http://schemas.openxmlformats.org/officeDocument/2006/relationships/image" Target="../media/image88.png"/><Relationship Id="rId30" Type="http://schemas.openxmlformats.org/officeDocument/2006/relationships/image" Target="../media/image91.png"/><Relationship Id="rId11" Type="http://schemas.openxmlformats.org/officeDocument/2006/relationships/image" Target="../media/image70.png"/><Relationship Id="rId33" Type="http://schemas.openxmlformats.org/officeDocument/2006/relationships/image" Target="../media/image95.png"/><Relationship Id="rId10" Type="http://schemas.openxmlformats.org/officeDocument/2006/relationships/image" Target="../media/image75.png"/><Relationship Id="rId32" Type="http://schemas.openxmlformats.org/officeDocument/2006/relationships/image" Target="../media/image92.png"/><Relationship Id="rId13" Type="http://schemas.openxmlformats.org/officeDocument/2006/relationships/image" Target="../media/image74.png"/><Relationship Id="rId35" Type="http://schemas.openxmlformats.org/officeDocument/2006/relationships/image" Target="../media/image96.png"/><Relationship Id="rId12" Type="http://schemas.openxmlformats.org/officeDocument/2006/relationships/image" Target="../media/image73.png"/><Relationship Id="rId34" Type="http://schemas.openxmlformats.org/officeDocument/2006/relationships/image" Target="../media/image100.png"/><Relationship Id="rId15" Type="http://schemas.openxmlformats.org/officeDocument/2006/relationships/image" Target="../media/image68.png"/><Relationship Id="rId14" Type="http://schemas.openxmlformats.org/officeDocument/2006/relationships/image" Target="../media/image72.png"/><Relationship Id="rId36" Type="http://schemas.openxmlformats.org/officeDocument/2006/relationships/image" Target="../media/image102.png"/><Relationship Id="rId17" Type="http://schemas.openxmlformats.org/officeDocument/2006/relationships/image" Target="../media/image81.png"/><Relationship Id="rId16" Type="http://schemas.openxmlformats.org/officeDocument/2006/relationships/image" Target="../media/image82.png"/><Relationship Id="rId19" Type="http://schemas.openxmlformats.org/officeDocument/2006/relationships/image" Target="../media/image90.png"/><Relationship Id="rId18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20" Type="http://schemas.openxmlformats.org/officeDocument/2006/relationships/image" Target="../media/image113.png"/><Relationship Id="rId21" Type="http://schemas.openxmlformats.org/officeDocument/2006/relationships/image" Target="../media/image10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5.png"/><Relationship Id="rId4" Type="http://schemas.openxmlformats.org/officeDocument/2006/relationships/image" Target="../media/image97.png"/><Relationship Id="rId9" Type="http://schemas.openxmlformats.org/officeDocument/2006/relationships/image" Target="../media/image125.png"/><Relationship Id="rId5" Type="http://schemas.openxmlformats.org/officeDocument/2006/relationships/image" Target="../media/image98.png"/><Relationship Id="rId6" Type="http://schemas.openxmlformats.org/officeDocument/2006/relationships/image" Target="../media/image101.png"/><Relationship Id="rId7" Type="http://schemas.openxmlformats.org/officeDocument/2006/relationships/image" Target="../media/image99.png"/><Relationship Id="rId8" Type="http://schemas.openxmlformats.org/officeDocument/2006/relationships/image" Target="../media/image103.png"/><Relationship Id="rId11" Type="http://schemas.openxmlformats.org/officeDocument/2006/relationships/image" Target="../media/image111.png"/><Relationship Id="rId10" Type="http://schemas.openxmlformats.org/officeDocument/2006/relationships/image" Target="../media/image116.png"/><Relationship Id="rId13" Type="http://schemas.openxmlformats.org/officeDocument/2006/relationships/image" Target="../media/image114.png"/><Relationship Id="rId12" Type="http://schemas.openxmlformats.org/officeDocument/2006/relationships/image" Target="../media/image106.png"/><Relationship Id="rId15" Type="http://schemas.openxmlformats.org/officeDocument/2006/relationships/image" Target="../media/image112.png"/><Relationship Id="rId14" Type="http://schemas.openxmlformats.org/officeDocument/2006/relationships/image" Target="../media/image104.png"/><Relationship Id="rId17" Type="http://schemas.openxmlformats.org/officeDocument/2006/relationships/image" Target="../media/image105.png"/><Relationship Id="rId16" Type="http://schemas.openxmlformats.org/officeDocument/2006/relationships/image" Target="../media/image108.png"/><Relationship Id="rId19" Type="http://schemas.openxmlformats.org/officeDocument/2006/relationships/image" Target="../media/image110.png"/><Relationship Id="rId18" Type="http://schemas.openxmlformats.org/officeDocument/2006/relationships/image" Target="../media/image107.png"/></Relationships>
</file>

<file path=ppt/slides/_rels/slide6.xml.rels><?xml version="1.0" encoding="UTF-8" standalone="yes"?><Relationships xmlns="http://schemas.openxmlformats.org/package/2006/relationships"><Relationship Id="rId40" Type="http://schemas.openxmlformats.org/officeDocument/2006/relationships/image" Target="../media/image157.png"/><Relationship Id="rId20" Type="http://schemas.openxmlformats.org/officeDocument/2006/relationships/image" Target="../media/image145.png"/><Relationship Id="rId42" Type="http://schemas.openxmlformats.org/officeDocument/2006/relationships/image" Target="../media/image159.png"/><Relationship Id="rId41" Type="http://schemas.openxmlformats.org/officeDocument/2006/relationships/image" Target="../media/image165.png"/><Relationship Id="rId22" Type="http://schemas.openxmlformats.org/officeDocument/2006/relationships/image" Target="../media/image140.png"/><Relationship Id="rId44" Type="http://schemas.openxmlformats.org/officeDocument/2006/relationships/image" Target="../media/image160.png"/><Relationship Id="rId21" Type="http://schemas.openxmlformats.org/officeDocument/2006/relationships/image" Target="../media/image137.png"/><Relationship Id="rId43" Type="http://schemas.openxmlformats.org/officeDocument/2006/relationships/image" Target="../media/image161.png"/><Relationship Id="rId24" Type="http://schemas.openxmlformats.org/officeDocument/2006/relationships/image" Target="../media/image143.png"/><Relationship Id="rId46" Type="http://schemas.openxmlformats.org/officeDocument/2006/relationships/image" Target="../media/image154.png"/><Relationship Id="rId23" Type="http://schemas.openxmlformats.org/officeDocument/2006/relationships/image" Target="../media/image134.png"/><Relationship Id="rId45" Type="http://schemas.openxmlformats.org/officeDocument/2006/relationships/image" Target="../media/image15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6.png"/><Relationship Id="rId4" Type="http://schemas.openxmlformats.org/officeDocument/2006/relationships/image" Target="../media/image122.png"/><Relationship Id="rId9" Type="http://schemas.openxmlformats.org/officeDocument/2006/relationships/image" Target="../media/image121.png"/><Relationship Id="rId26" Type="http://schemas.openxmlformats.org/officeDocument/2006/relationships/image" Target="../media/image141.png"/><Relationship Id="rId25" Type="http://schemas.openxmlformats.org/officeDocument/2006/relationships/image" Target="../media/image138.png"/><Relationship Id="rId47" Type="http://schemas.openxmlformats.org/officeDocument/2006/relationships/image" Target="../media/image158.png"/><Relationship Id="rId28" Type="http://schemas.openxmlformats.org/officeDocument/2006/relationships/image" Target="../media/image150.png"/><Relationship Id="rId27" Type="http://schemas.openxmlformats.org/officeDocument/2006/relationships/image" Target="../media/image139.png"/><Relationship Id="rId5" Type="http://schemas.openxmlformats.org/officeDocument/2006/relationships/image" Target="../media/image117.png"/><Relationship Id="rId6" Type="http://schemas.openxmlformats.org/officeDocument/2006/relationships/image" Target="../media/image120.png"/><Relationship Id="rId29" Type="http://schemas.openxmlformats.org/officeDocument/2006/relationships/image" Target="../media/image144.png"/><Relationship Id="rId7" Type="http://schemas.openxmlformats.org/officeDocument/2006/relationships/image" Target="../media/image132.png"/><Relationship Id="rId8" Type="http://schemas.openxmlformats.org/officeDocument/2006/relationships/image" Target="../media/image126.png"/><Relationship Id="rId31" Type="http://schemas.openxmlformats.org/officeDocument/2006/relationships/image" Target="../media/image190.png"/><Relationship Id="rId30" Type="http://schemas.openxmlformats.org/officeDocument/2006/relationships/image" Target="../media/image149.png"/><Relationship Id="rId11" Type="http://schemas.openxmlformats.org/officeDocument/2006/relationships/image" Target="../media/image119.png"/><Relationship Id="rId33" Type="http://schemas.openxmlformats.org/officeDocument/2006/relationships/image" Target="../media/image146.png"/><Relationship Id="rId10" Type="http://schemas.openxmlformats.org/officeDocument/2006/relationships/image" Target="../media/image127.png"/><Relationship Id="rId32" Type="http://schemas.openxmlformats.org/officeDocument/2006/relationships/image" Target="../media/image147.png"/><Relationship Id="rId13" Type="http://schemas.openxmlformats.org/officeDocument/2006/relationships/image" Target="../media/image128.png"/><Relationship Id="rId35" Type="http://schemas.openxmlformats.org/officeDocument/2006/relationships/image" Target="../media/image142.png"/><Relationship Id="rId12" Type="http://schemas.openxmlformats.org/officeDocument/2006/relationships/image" Target="../media/image123.png"/><Relationship Id="rId34" Type="http://schemas.openxmlformats.org/officeDocument/2006/relationships/image" Target="../media/image148.png"/><Relationship Id="rId15" Type="http://schemas.openxmlformats.org/officeDocument/2006/relationships/image" Target="../media/image124.png"/><Relationship Id="rId37" Type="http://schemas.openxmlformats.org/officeDocument/2006/relationships/image" Target="../media/image152.png"/><Relationship Id="rId14" Type="http://schemas.openxmlformats.org/officeDocument/2006/relationships/image" Target="../media/image118.png"/><Relationship Id="rId36" Type="http://schemas.openxmlformats.org/officeDocument/2006/relationships/image" Target="../media/image151.png"/><Relationship Id="rId17" Type="http://schemas.openxmlformats.org/officeDocument/2006/relationships/image" Target="../media/image130.png"/><Relationship Id="rId39" Type="http://schemas.openxmlformats.org/officeDocument/2006/relationships/image" Target="../media/image156.png"/><Relationship Id="rId16" Type="http://schemas.openxmlformats.org/officeDocument/2006/relationships/image" Target="../media/image129.png"/><Relationship Id="rId38" Type="http://schemas.openxmlformats.org/officeDocument/2006/relationships/image" Target="../media/image153.png"/><Relationship Id="rId19" Type="http://schemas.openxmlformats.org/officeDocument/2006/relationships/image" Target="../media/image135.png"/><Relationship Id="rId18" Type="http://schemas.openxmlformats.org/officeDocument/2006/relationships/image" Target="../media/image133.png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77.png"/><Relationship Id="rId22" Type="http://schemas.openxmlformats.org/officeDocument/2006/relationships/image" Target="../media/image183.png"/><Relationship Id="rId21" Type="http://schemas.openxmlformats.org/officeDocument/2006/relationships/image" Target="../media/image188.png"/><Relationship Id="rId24" Type="http://schemas.openxmlformats.org/officeDocument/2006/relationships/image" Target="../media/image180.png"/><Relationship Id="rId23" Type="http://schemas.openxmlformats.org/officeDocument/2006/relationships/image" Target="../media/image18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1.png"/><Relationship Id="rId4" Type="http://schemas.openxmlformats.org/officeDocument/2006/relationships/image" Target="../media/image162.png"/><Relationship Id="rId9" Type="http://schemas.openxmlformats.org/officeDocument/2006/relationships/image" Target="../media/image169.png"/><Relationship Id="rId26" Type="http://schemas.openxmlformats.org/officeDocument/2006/relationships/image" Target="../media/image184.png"/><Relationship Id="rId25" Type="http://schemas.openxmlformats.org/officeDocument/2006/relationships/image" Target="../media/image179.png"/><Relationship Id="rId28" Type="http://schemas.openxmlformats.org/officeDocument/2006/relationships/image" Target="../media/image189.png"/><Relationship Id="rId27" Type="http://schemas.openxmlformats.org/officeDocument/2006/relationships/image" Target="../media/image185.png"/><Relationship Id="rId5" Type="http://schemas.openxmlformats.org/officeDocument/2006/relationships/image" Target="../media/image163.png"/><Relationship Id="rId6" Type="http://schemas.openxmlformats.org/officeDocument/2006/relationships/image" Target="../media/image171.png"/><Relationship Id="rId29" Type="http://schemas.openxmlformats.org/officeDocument/2006/relationships/image" Target="../media/image186.png"/><Relationship Id="rId7" Type="http://schemas.openxmlformats.org/officeDocument/2006/relationships/image" Target="../media/image170.png"/><Relationship Id="rId8" Type="http://schemas.openxmlformats.org/officeDocument/2006/relationships/image" Target="../media/image164.png"/><Relationship Id="rId31" Type="http://schemas.openxmlformats.org/officeDocument/2006/relationships/image" Target="../media/image194.png"/><Relationship Id="rId30" Type="http://schemas.openxmlformats.org/officeDocument/2006/relationships/image" Target="../media/image191.png"/><Relationship Id="rId11" Type="http://schemas.openxmlformats.org/officeDocument/2006/relationships/image" Target="../media/image166.png"/><Relationship Id="rId33" Type="http://schemas.openxmlformats.org/officeDocument/2006/relationships/image" Target="../media/image193.png"/><Relationship Id="rId10" Type="http://schemas.openxmlformats.org/officeDocument/2006/relationships/image" Target="../media/image167.png"/><Relationship Id="rId32" Type="http://schemas.openxmlformats.org/officeDocument/2006/relationships/image" Target="../media/image224.png"/><Relationship Id="rId13" Type="http://schemas.openxmlformats.org/officeDocument/2006/relationships/image" Target="../media/image172.png"/><Relationship Id="rId12" Type="http://schemas.openxmlformats.org/officeDocument/2006/relationships/image" Target="../media/image168.png"/><Relationship Id="rId34" Type="http://schemas.openxmlformats.org/officeDocument/2006/relationships/image" Target="../media/image192.png"/><Relationship Id="rId15" Type="http://schemas.openxmlformats.org/officeDocument/2006/relationships/image" Target="../media/image174.png"/><Relationship Id="rId14" Type="http://schemas.openxmlformats.org/officeDocument/2006/relationships/image" Target="../media/image173.png"/><Relationship Id="rId17" Type="http://schemas.openxmlformats.org/officeDocument/2006/relationships/image" Target="../media/image178.png"/><Relationship Id="rId16" Type="http://schemas.openxmlformats.org/officeDocument/2006/relationships/image" Target="../media/image175.png"/><Relationship Id="rId19" Type="http://schemas.openxmlformats.org/officeDocument/2006/relationships/image" Target="../media/image182.png"/><Relationship Id="rId18" Type="http://schemas.openxmlformats.org/officeDocument/2006/relationships/image" Target="../media/image176.png"/></Relationships>
</file>

<file path=ppt/slides/_rels/slide8.xml.rels><?xml version="1.0" encoding="UTF-8" standalone="yes"?><Relationships xmlns="http://schemas.openxmlformats.org/package/2006/relationships"><Relationship Id="rId20" Type="http://schemas.openxmlformats.org/officeDocument/2006/relationships/image" Target="../media/image213.png"/><Relationship Id="rId22" Type="http://schemas.openxmlformats.org/officeDocument/2006/relationships/image" Target="../media/image231.png"/><Relationship Id="rId21" Type="http://schemas.openxmlformats.org/officeDocument/2006/relationships/image" Target="../media/image212.png"/><Relationship Id="rId24" Type="http://schemas.openxmlformats.org/officeDocument/2006/relationships/image" Target="../media/image210.png"/><Relationship Id="rId23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1.png"/><Relationship Id="rId4" Type="http://schemas.openxmlformats.org/officeDocument/2006/relationships/image" Target="../media/image196.png"/><Relationship Id="rId9" Type="http://schemas.openxmlformats.org/officeDocument/2006/relationships/image" Target="../media/image195.png"/><Relationship Id="rId26" Type="http://schemas.openxmlformats.org/officeDocument/2006/relationships/image" Target="../media/image217.png"/><Relationship Id="rId25" Type="http://schemas.openxmlformats.org/officeDocument/2006/relationships/image" Target="../media/image214.png"/><Relationship Id="rId28" Type="http://schemas.openxmlformats.org/officeDocument/2006/relationships/image" Target="../media/image216.png"/><Relationship Id="rId27" Type="http://schemas.openxmlformats.org/officeDocument/2006/relationships/image" Target="../media/image215.png"/><Relationship Id="rId5" Type="http://schemas.openxmlformats.org/officeDocument/2006/relationships/image" Target="../media/image198.png"/><Relationship Id="rId6" Type="http://schemas.openxmlformats.org/officeDocument/2006/relationships/image" Target="../media/image197.png"/><Relationship Id="rId29" Type="http://schemas.openxmlformats.org/officeDocument/2006/relationships/image" Target="../media/image218.png"/><Relationship Id="rId7" Type="http://schemas.openxmlformats.org/officeDocument/2006/relationships/image" Target="../media/image201.png"/><Relationship Id="rId8" Type="http://schemas.openxmlformats.org/officeDocument/2006/relationships/image" Target="../media/image199.png"/><Relationship Id="rId31" Type="http://schemas.openxmlformats.org/officeDocument/2006/relationships/image" Target="../media/image221.png"/><Relationship Id="rId30" Type="http://schemas.openxmlformats.org/officeDocument/2006/relationships/image" Target="../media/image222.png"/><Relationship Id="rId11" Type="http://schemas.openxmlformats.org/officeDocument/2006/relationships/image" Target="../media/image203.png"/><Relationship Id="rId33" Type="http://schemas.openxmlformats.org/officeDocument/2006/relationships/image" Target="../media/image223.png"/><Relationship Id="rId10" Type="http://schemas.openxmlformats.org/officeDocument/2006/relationships/image" Target="../media/image205.png"/><Relationship Id="rId32" Type="http://schemas.openxmlformats.org/officeDocument/2006/relationships/image" Target="../media/image234.png"/><Relationship Id="rId13" Type="http://schemas.openxmlformats.org/officeDocument/2006/relationships/image" Target="../media/image204.png"/><Relationship Id="rId35" Type="http://schemas.openxmlformats.org/officeDocument/2006/relationships/image" Target="../media/image226.png"/><Relationship Id="rId12" Type="http://schemas.openxmlformats.org/officeDocument/2006/relationships/image" Target="../media/image200.png"/><Relationship Id="rId34" Type="http://schemas.openxmlformats.org/officeDocument/2006/relationships/image" Target="../media/image225.png"/><Relationship Id="rId15" Type="http://schemas.openxmlformats.org/officeDocument/2006/relationships/image" Target="../media/image202.png"/><Relationship Id="rId37" Type="http://schemas.openxmlformats.org/officeDocument/2006/relationships/image" Target="../media/image230.png"/><Relationship Id="rId14" Type="http://schemas.openxmlformats.org/officeDocument/2006/relationships/image" Target="../media/image219.png"/><Relationship Id="rId36" Type="http://schemas.openxmlformats.org/officeDocument/2006/relationships/image" Target="../media/image233.png"/><Relationship Id="rId17" Type="http://schemas.openxmlformats.org/officeDocument/2006/relationships/image" Target="../media/image208.png"/><Relationship Id="rId16" Type="http://schemas.openxmlformats.org/officeDocument/2006/relationships/image" Target="../media/image206.png"/><Relationship Id="rId19" Type="http://schemas.openxmlformats.org/officeDocument/2006/relationships/image" Target="../media/image209.png"/><Relationship Id="rId18" Type="http://schemas.openxmlformats.org/officeDocument/2006/relationships/image" Target="../media/image207.png"/></Relationships>
</file>

<file path=ppt/slides/_rels/slide9.xml.rels><?xml version="1.0" encoding="UTF-8" standalone="yes"?><Relationships xmlns="http://schemas.openxmlformats.org/package/2006/relationships"><Relationship Id="rId20" Type="http://schemas.openxmlformats.org/officeDocument/2006/relationships/image" Target="../media/image25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4.png"/><Relationship Id="rId4" Type="http://schemas.openxmlformats.org/officeDocument/2006/relationships/image" Target="../media/image227.png"/><Relationship Id="rId9" Type="http://schemas.openxmlformats.org/officeDocument/2006/relationships/image" Target="../media/image248.png"/><Relationship Id="rId5" Type="http://schemas.openxmlformats.org/officeDocument/2006/relationships/image" Target="../media/image228.png"/><Relationship Id="rId6" Type="http://schemas.openxmlformats.org/officeDocument/2006/relationships/image" Target="../media/image235.png"/><Relationship Id="rId7" Type="http://schemas.openxmlformats.org/officeDocument/2006/relationships/image" Target="../media/image229.png"/><Relationship Id="rId8" Type="http://schemas.openxmlformats.org/officeDocument/2006/relationships/image" Target="../media/image236.png"/><Relationship Id="rId11" Type="http://schemas.openxmlformats.org/officeDocument/2006/relationships/image" Target="../media/image246.png"/><Relationship Id="rId10" Type="http://schemas.openxmlformats.org/officeDocument/2006/relationships/image" Target="../media/image232.png"/><Relationship Id="rId13" Type="http://schemas.openxmlformats.org/officeDocument/2006/relationships/image" Target="../media/image239.png"/><Relationship Id="rId12" Type="http://schemas.openxmlformats.org/officeDocument/2006/relationships/image" Target="../media/image240.png"/><Relationship Id="rId15" Type="http://schemas.openxmlformats.org/officeDocument/2006/relationships/image" Target="../media/image242.png"/><Relationship Id="rId14" Type="http://schemas.openxmlformats.org/officeDocument/2006/relationships/image" Target="../media/image243.png"/><Relationship Id="rId17" Type="http://schemas.openxmlformats.org/officeDocument/2006/relationships/image" Target="../media/image241.png"/><Relationship Id="rId16" Type="http://schemas.openxmlformats.org/officeDocument/2006/relationships/image" Target="../media/image237.png"/><Relationship Id="rId19" Type="http://schemas.openxmlformats.org/officeDocument/2006/relationships/image" Target="../media/image245.png"/><Relationship Id="rId18" Type="http://schemas.openxmlformats.org/officeDocument/2006/relationships/image" Target="../media/image238.png"/></Relationships>
</file>

<file path=ppt/slides/_rels/slide10.xml.rels><?xml version="1.0" encoding="UTF-8" standalone="yes"?><Relationships xmlns="http://schemas.openxmlformats.org/package/2006/relationships"><Relationship Id="rId20" Type="http://schemas.openxmlformats.org/officeDocument/2006/relationships/image" Target="../media/image26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61.png"/><Relationship Id="rId4" Type="http://schemas.openxmlformats.org/officeDocument/2006/relationships/image" Target="../media/image247.png"/><Relationship Id="rId9" Type="http://schemas.openxmlformats.org/officeDocument/2006/relationships/image" Target="../media/image255.png"/><Relationship Id="rId5" Type="http://schemas.openxmlformats.org/officeDocument/2006/relationships/image" Target="../media/image257.png"/><Relationship Id="rId6" Type="http://schemas.openxmlformats.org/officeDocument/2006/relationships/image" Target="../media/image250.png"/><Relationship Id="rId7" Type="http://schemas.openxmlformats.org/officeDocument/2006/relationships/image" Target="../media/image258.png"/><Relationship Id="rId8" Type="http://schemas.openxmlformats.org/officeDocument/2006/relationships/image" Target="../media/image253.png"/><Relationship Id="rId11" Type="http://schemas.openxmlformats.org/officeDocument/2006/relationships/image" Target="../media/image254.png"/><Relationship Id="rId10" Type="http://schemas.openxmlformats.org/officeDocument/2006/relationships/image" Target="../media/image256.png"/><Relationship Id="rId13" Type="http://schemas.openxmlformats.org/officeDocument/2006/relationships/image" Target="../media/image251.png"/><Relationship Id="rId12" Type="http://schemas.openxmlformats.org/officeDocument/2006/relationships/image" Target="../media/image249.png"/><Relationship Id="rId15" Type="http://schemas.openxmlformats.org/officeDocument/2006/relationships/image" Target="../media/image263.png"/><Relationship Id="rId14" Type="http://schemas.openxmlformats.org/officeDocument/2006/relationships/image" Target="../media/image262.png"/><Relationship Id="rId17" Type="http://schemas.openxmlformats.org/officeDocument/2006/relationships/image" Target="../media/image266.png"/><Relationship Id="rId16" Type="http://schemas.openxmlformats.org/officeDocument/2006/relationships/image" Target="../media/image259.png"/><Relationship Id="rId19" Type="http://schemas.openxmlformats.org/officeDocument/2006/relationships/image" Target="../media/image260.png"/><Relationship Id="rId18" Type="http://schemas.openxmlformats.org/officeDocument/2006/relationships/image" Target="../media/image26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0" y="638175"/>
            <a:ext cx="657225" cy="219075"/>
          </a:xfrm>
          <a:custGeom>
            <a:rect b="b" l="l" r="r" t="t"/>
            <a:pathLst>
              <a:path extrusionOk="0" h="219075" w="657225">
                <a:moveTo>
                  <a:pt x="0" y="0"/>
                </a:moveTo>
                <a:lnTo>
                  <a:pt x="657225" y="0"/>
                </a:lnTo>
                <a:lnTo>
                  <a:pt x="6572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6524625" y="638175"/>
            <a:ext cx="3714750" cy="647700"/>
          </a:xfrm>
          <a:custGeom>
            <a:rect b="b" l="l" r="r" t="t"/>
            <a:pathLst>
              <a:path extrusionOk="0" h="647700" w="3714750">
                <a:moveTo>
                  <a:pt x="0" y="0"/>
                </a:moveTo>
                <a:lnTo>
                  <a:pt x="3714750" y="0"/>
                </a:lnTo>
                <a:lnTo>
                  <a:pt x="3714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7" name="Google Shape;87;p1"/>
          <p:cNvSpPr txBox="1"/>
          <p:nvPr/>
        </p:nvSpPr>
        <p:spPr>
          <a:xfrm>
            <a:off x="605730" y="623231"/>
            <a:ext cx="6399652" cy="384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8" sz="2575" u="none" cap="none" strike="noStrike">
                <a:solidFill>
                  <a:srgbClr val="2B2520"/>
                </a:solidFill>
                <a:latin typeface="Public Sans"/>
                <a:ea typeface="Public Sans"/>
                <a:cs typeface="Public Sans"/>
                <a:sym typeface="Public Sans"/>
              </a:rPr>
              <a:t>REAL2SIM CHO ROBOTICS &amp; SIMULATION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647700" y="1066800"/>
            <a:ext cx="5886450" cy="219075"/>
          </a:xfrm>
          <a:custGeom>
            <a:rect b="b" l="l" r="r" t="t"/>
            <a:pathLst>
              <a:path extrusionOk="0" h="219075" w="5886450">
                <a:moveTo>
                  <a:pt x="0" y="0"/>
                </a:moveTo>
                <a:lnTo>
                  <a:pt x="5886450" y="0"/>
                </a:lnTo>
                <a:lnTo>
                  <a:pt x="58864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9" name="Google Shape;89;p1"/>
          <p:cNvGrpSpPr/>
          <p:nvPr/>
        </p:nvGrpSpPr>
        <p:grpSpPr>
          <a:xfrm>
            <a:off x="361950" y="1352550"/>
            <a:ext cx="13335000" cy="3219450"/>
            <a:chOff x="0" y="-38100"/>
            <a:chExt cx="17780000" cy="4292600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17780000" cy="4254500"/>
            </a:xfrm>
            <a:custGeom>
              <a:rect b="b" l="l" r="r" t="t"/>
              <a:pathLst>
                <a:path extrusionOk="0" h="4254500" w="17780000">
                  <a:moveTo>
                    <a:pt x="325740" y="0"/>
                  </a:moveTo>
                  <a:lnTo>
                    <a:pt x="17454260" y="0"/>
                  </a:lnTo>
                  <a:cubicBezTo>
                    <a:pt x="17634162" y="0"/>
                    <a:pt x="17780000" y="136464"/>
                    <a:pt x="17780000" y="304800"/>
                  </a:cubicBezTo>
                  <a:lnTo>
                    <a:pt x="17780000" y="3949700"/>
                  </a:lnTo>
                  <a:cubicBezTo>
                    <a:pt x="17780000" y="4118036"/>
                    <a:pt x="17634162" y="4254500"/>
                    <a:pt x="17454260" y="4254500"/>
                  </a:cubicBezTo>
                  <a:lnTo>
                    <a:pt x="325740" y="4254500"/>
                  </a:lnTo>
                  <a:cubicBezTo>
                    <a:pt x="145839" y="4254500"/>
                    <a:pt x="0" y="4118036"/>
                    <a:pt x="0" y="3949700"/>
                  </a:cubicBezTo>
                  <a:lnTo>
                    <a:pt x="0" y="304800"/>
                  </a:lnTo>
                  <a:cubicBezTo>
                    <a:pt x="0" y="136464"/>
                    <a:pt x="145839" y="0"/>
                    <a:pt x="325740" y="0"/>
                  </a:cubicBezTo>
                  <a:close/>
                </a:path>
              </a:pathLst>
            </a:custGeom>
            <a:solidFill>
              <a:srgbClr val="2B2520">
                <a:alpha val="4314"/>
              </a:srgbClr>
            </a:solidFill>
            <a:ln cap="sq" cmpd="sng" w="14275">
              <a:solidFill>
                <a:srgbClr val="F49859">
                  <a:alpha val="431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38100"/>
              <a:ext cx="17780000" cy="42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l">
                <a:lnSpc>
                  <a:spcPct val="932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 txBox="1"/>
          <p:nvPr/>
        </p:nvSpPr>
        <p:spPr>
          <a:xfrm>
            <a:off x="638175" y="1724025"/>
            <a:ext cx="6118268" cy="1219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7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58" sz="9199" u="none" cap="none" strike="noStrike">
                <a:solidFill>
                  <a:srgbClr val="211C1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Từ Video Thật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7620000" y="1924050"/>
            <a:ext cx="1314450" cy="647700"/>
          </a:xfrm>
          <a:custGeom>
            <a:rect b="b" l="l" r="r" t="t"/>
            <a:pathLst>
              <a:path extrusionOk="0" h="647700" w="1314450">
                <a:moveTo>
                  <a:pt x="0" y="0"/>
                </a:moveTo>
                <a:lnTo>
                  <a:pt x="1314450" y="0"/>
                </a:lnTo>
                <a:lnTo>
                  <a:pt x="13144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4" name="Google Shape;94;p1"/>
          <p:cNvSpPr txBox="1"/>
          <p:nvPr/>
        </p:nvSpPr>
        <p:spPr>
          <a:xfrm>
            <a:off x="533400" y="2990850"/>
            <a:ext cx="11463173" cy="1132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28" sz="8600" u="none" cap="none" strike="noStrike">
                <a:solidFill>
                  <a:srgbClr val="211C1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Scene Mô Phỏng Dùng Được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588592" y="4556447"/>
            <a:ext cx="8113413" cy="12348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5" sz="2759" u="none" cap="none" strike="noStrike">
                <a:solidFill>
                  <a:srgbClr val="2B2520"/>
                </a:solidFill>
                <a:latin typeface="Public Sans"/>
                <a:ea typeface="Public Sans"/>
                <a:cs typeface="Public Sans"/>
                <a:sym typeface="Public Sans"/>
              </a:rPr>
              <a:t>Biến video quay môi trường thật thành scene 3D</a:t>
            </a:r>
            <a:endParaRPr/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5" sz="2759" u="none" cap="none" strike="noStrike">
                <a:solidFill>
                  <a:srgbClr val="2B2520"/>
                </a:solidFill>
                <a:latin typeface="Public Sans"/>
                <a:ea typeface="Public Sans"/>
                <a:cs typeface="Public Sans"/>
                <a:sym typeface="Public Sans"/>
              </a:rPr>
              <a:t>đúng tỉ lệ mét, tách rời từng vật thể và tích hợp sẵn</a:t>
            </a:r>
            <a:endParaRPr/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5" sz="2759" u="none" cap="none" strike="noStrike">
                <a:solidFill>
                  <a:srgbClr val="2B2520"/>
                </a:solidFill>
                <a:latin typeface="Public Sans"/>
                <a:ea typeface="Public Sans"/>
                <a:cs typeface="Public Sans"/>
                <a:sym typeface="Public Sans"/>
              </a:rPr>
              <a:t>collider cho NVIDIA Isaac Sim.</a:t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647700" y="6210300"/>
            <a:ext cx="2838450" cy="2790825"/>
          </a:xfrm>
          <a:custGeom>
            <a:rect b="b" l="l" r="r" t="t"/>
            <a:pathLst>
              <a:path extrusionOk="0" h="2790825" w="2838450">
                <a:moveTo>
                  <a:pt x="0" y="0"/>
                </a:moveTo>
                <a:lnTo>
                  <a:pt x="2838450" y="0"/>
                </a:lnTo>
                <a:lnTo>
                  <a:pt x="283845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7" name="Google Shape;97;p1"/>
          <p:cNvSpPr/>
          <p:nvPr/>
        </p:nvSpPr>
        <p:spPr>
          <a:xfrm>
            <a:off x="1524000" y="6429375"/>
            <a:ext cx="1095375" cy="1504950"/>
          </a:xfrm>
          <a:custGeom>
            <a:rect b="b" l="l" r="r" t="t"/>
            <a:pathLst>
              <a:path extrusionOk="0" h="1504950" w="1095375">
                <a:moveTo>
                  <a:pt x="0" y="0"/>
                </a:moveTo>
                <a:lnTo>
                  <a:pt x="1095375" y="0"/>
                </a:lnTo>
                <a:lnTo>
                  <a:pt x="1095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8" name="Google Shape;98;p1"/>
          <p:cNvSpPr txBox="1"/>
          <p:nvPr/>
        </p:nvSpPr>
        <p:spPr>
          <a:xfrm>
            <a:off x="1045648" y="7978392"/>
            <a:ext cx="2004751" cy="4162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1" sz="2575" u="none" cap="none" strike="noStrike">
                <a:solidFill>
                  <a:srgbClr val="4B301D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Visual: 3DGS</a:t>
            </a:r>
            <a:endParaRPr/>
          </a:p>
        </p:txBody>
      </p:sp>
      <p:sp>
        <p:nvSpPr>
          <p:cNvPr id="99" name="Google Shape;99;p1"/>
          <p:cNvSpPr/>
          <p:nvPr/>
        </p:nvSpPr>
        <p:spPr>
          <a:xfrm>
            <a:off x="3695700" y="6210300"/>
            <a:ext cx="3276600" cy="2790825"/>
          </a:xfrm>
          <a:custGeom>
            <a:rect b="b" l="l" r="r" t="t"/>
            <a:pathLst>
              <a:path extrusionOk="0" h="2790825" w="3276600">
                <a:moveTo>
                  <a:pt x="0" y="0"/>
                </a:moveTo>
                <a:lnTo>
                  <a:pt x="3276600" y="0"/>
                </a:lnTo>
                <a:lnTo>
                  <a:pt x="32766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0" name="Google Shape;100;p1"/>
          <p:cNvSpPr/>
          <p:nvPr/>
        </p:nvSpPr>
        <p:spPr>
          <a:xfrm>
            <a:off x="4572000" y="6429375"/>
            <a:ext cx="1314450" cy="1504950"/>
          </a:xfrm>
          <a:custGeom>
            <a:rect b="b" l="l" r="r" t="t"/>
            <a:pathLst>
              <a:path extrusionOk="0" h="1504950" w="13144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"/>
          <p:cNvSpPr txBox="1"/>
          <p:nvPr/>
        </p:nvSpPr>
        <p:spPr>
          <a:xfrm>
            <a:off x="3864912" y="7978392"/>
            <a:ext cx="2790241" cy="4162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1" sz="2575" u="none" cap="none" strike="noStrike">
                <a:solidFill>
                  <a:srgbClr val="4B301D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Geometry: Hệ mét</a:t>
            </a:r>
            <a:endParaRPr/>
          </a:p>
        </p:txBody>
      </p:sp>
      <p:sp>
        <p:nvSpPr>
          <p:cNvPr id="102" name="Google Shape;102;p1"/>
          <p:cNvSpPr/>
          <p:nvPr/>
        </p:nvSpPr>
        <p:spPr>
          <a:xfrm>
            <a:off x="6962775" y="6210300"/>
            <a:ext cx="3276600" cy="2790825"/>
          </a:xfrm>
          <a:custGeom>
            <a:rect b="b" l="l" r="r" t="t"/>
            <a:pathLst>
              <a:path extrusionOk="0" h="2790825" w="3276600">
                <a:moveTo>
                  <a:pt x="0" y="0"/>
                </a:moveTo>
                <a:lnTo>
                  <a:pt x="3276600" y="0"/>
                </a:lnTo>
                <a:lnTo>
                  <a:pt x="32766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3" name="Google Shape;103;p1"/>
          <p:cNvSpPr/>
          <p:nvPr/>
        </p:nvSpPr>
        <p:spPr>
          <a:xfrm>
            <a:off x="8048625" y="6429375"/>
            <a:ext cx="1314450" cy="1504950"/>
          </a:xfrm>
          <a:custGeom>
            <a:rect b="b" l="l" r="r" t="t"/>
            <a:pathLst>
              <a:path extrusionOk="0" h="1504950" w="13144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4" name="Google Shape;104;p1"/>
          <p:cNvSpPr txBox="1"/>
          <p:nvPr/>
        </p:nvSpPr>
        <p:spPr>
          <a:xfrm>
            <a:off x="7346011" y="7978392"/>
            <a:ext cx="2525309" cy="4162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1" sz="2575" u="none" cap="none" strike="noStrike">
                <a:solidFill>
                  <a:srgbClr val="4B301D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Physics: Collider</a:t>
            </a:r>
            <a:endParaRPr/>
          </a:p>
        </p:txBody>
      </p:sp>
      <p:sp>
        <p:nvSpPr>
          <p:cNvPr id="105" name="Google Shape;105;p1"/>
          <p:cNvSpPr/>
          <p:nvPr/>
        </p:nvSpPr>
        <p:spPr>
          <a:xfrm>
            <a:off x="647700" y="9001125"/>
            <a:ext cx="4581525" cy="219075"/>
          </a:xfrm>
          <a:custGeom>
            <a:rect b="b" l="l" r="r" t="t"/>
            <a:pathLst>
              <a:path extrusionOk="0" h="219075" w="4581525">
                <a:moveTo>
                  <a:pt x="0" y="0"/>
                </a:moveTo>
                <a:lnTo>
                  <a:pt x="4581525" y="0"/>
                </a:lnTo>
                <a:lnTo>
                  <a:pt x="45815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6" name="Google Shape;106;p1"/>
          <p:cNvSpPr txBox="1"/>
          <p:nvPr/>
        </p:nvSpPr>
        <p:spPr>
          <a:xfrm>
            <a:off x="694689" y="9363163"/>
            <a:ext cx="1879959" cy="384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1" sz="2575" u="none" cap="none" strike="noStrike">
                <a:solidFill>
                  <a:srgbClr val="C2551F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Team P-087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2609850" y="9210675"/>
            <a:ext cx="438150" cy="647700"/>
          </a:xfrm>
          <a:custGeom>
            <a:rect b="b" l="l" r="r" t="t"/>
            <a:pathLst>
              <a:path extrusionOk="0"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8" name="Google Shape;108;p1"/>
          <p:cNvSpPr txBox="1"/>
          <p:nvPr/>
        </p:nvSpPr>
        <p:spPr>
          <a:xfrm>
            <a:off x="2932954" y="9363163"/>
            <a:ext cx="2034187" cy="384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1" sz="2575" u="none" cap="none" strike="noStrike">
                <a:solidFill>
                  <a:srgbClr val="2B2520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VinUni AI20K</a:t>
            </a:r>
            <a:endParaRPr/>
          </a:p>
        </p:txBody>
      </p:sp>
      <p:sp>
        <p:nvSpPr>
          <p:cNvPr id="109" name="Google Shape;109;p1"/>
          <p:cNvSpPr/>
          <p:nvPr/>
        </p:nvSpPr>
        <p:spPr>
          <a:xfrm>
            <a:off x="5438775" y="9429750"/>
            <a:ext cx="12201525" cy="428625"/>
          </a:xfrm>
          <a:custGeom>
            <a:rect b="b" l="l" r="r" t="t"/>
            <a:pathLst>
              <a:path extrusionOk="0" h="428625" w="12201525">
                <a:moveTo>
                  <a:pt x="0" y="0"/>
                </a:moveTo>
                <a:lnTo>
                  <a:pt x="12201525" y="0"/>
                </a:lnTo>
                <a:lnTo>
                  <a:pt x="122015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0" name="Google Shape;110;p1"/>
          <p:cNvSpPr/>
          <p:nvPr/>
        </p:nvSpPr>
        <p:spPr>
          <a:xfrm>
            <a:off x="16325850" y="209550"/>
            <a:ext cx="1314450" cy="9648825"/>
          </a:xfrm>
          <a:custGeom>
            <a:rect b="b" l="l" r="r" t="t"/>
            <a:pathLst>
              <a:path extrusionOk="0" h="9648825" w="1314450">
                <a:moveTo>
                  <a:pt x="0" y="0"/>
                </a:moveTo>
                <a:lnTo>
                  <a:pt x="1314450" y="0"/>
                </a:lnTo>
                <a:lnTo>
                  <a:pt x="1314450" y="9648825"/>
                </a:lnTo>
                <a:lnTo>
                  <a:pt x="0" y="9648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1" name="Google Shape;111;p1"/>
          <p:cNvSpPr/>
          <p:nvPr/>
        </p:nvSpPr>
        <p:spPr>
          <a:xfrm>
            <a:off x="13058775" y="2571750"/>
            <a:ext cx="4362450" cy="5791200"/>
          </a:xfrm>
          <a:custGeom>
            <a:rect b="b" l="l" r="r" t="t"/>
            <a:pathLst>
              <a:path extrusionOk="0" h="5791200" w="4362450">
                <a:moveTo>
                  <a:pt x="0" y="0"/>
                </a:moveTo>
                <a:lnTo>
                  <a:pt x="4362450" y="0"/>
                </a:lnTo>
                <a:lnTo>
                  <a:pt x="4362450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7" name="Google Shape;117;p2"/>
          <p:cNvSpPr/>
          <p:nvPr/>
        </p:nvSpPr>
        <p:spPr>
          <a:xfrm>
            <a:off x="12839700" y="0"/>
            <a:ext cx="5448300" cy="2790825"/>
          </a:xfrm>
          <a:custGeom>
            <a:rect b="b" l="l" r="r" t="t"/>
            <a:pathLst>
              <a:path extrusionOk="0" h="2790825" w="5448300">
                <a:moveTo>
                  <a:pt x="0" y="0"/>
                </a:moveTo>
                <a:lnTo>
                  <a:pt x="5448300" y="0"/>
                </a:lnTo>
                <a:lnTo>
                  <a:pt x="54483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8" name="Google Shape;118;p2"/>
          <p:cNvSpPr/>
          <p:nvPr/>
        </p:nvSpPr>
        <p:spPr>
          <a:xfrm>
            <a:off x="209550" y="428625"/>
            <a:ext cx="447675" cy="1714500"/>
          </a:xfrm>
          <a:custGeom>
            <a:rect b="b" l="l" r="r" t="t"/>
            <a:pathLst>
              <a:path extrusionOk="0" h="1714500" w="447675">
                <a:moveTo>
                  <a:pt x="0" y="0"/>
                </a:moveTo>
                <a:lnTo>
                  <a:pt x="447675" y="0"/>
                </a:lnTo>
                <a:lnTo>
                  <a:pt x="4476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9" name="Google Shape;119;p2"/>
          <p:cNvSpPr txBox="1"/>
          <p:nvPr/>
        </p:nvSpPr>
        <p:spPr>
          <a:xfrm>
            <a:off x="711236" y="302642"/>
            <a:ext cx="9243567" cy="971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48" sz="6206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Robot phải chạy thử trong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715202" y="1161566"/>
            <a:ext cx="8847002" cy="971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48" sz="6206" u="none" cap="none" strike="noStrike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máy trước khi ra kho thật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690076" y="2301450"/>
            <a:ext cx="123621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7" sz="2443" u="none" cap="none" strike="noStrike">
                <a:solidFill>
                  <a:srgbClr val="4D2C16"/>
                </a:solidFill>
                <a:latin typeface="Inter Medium"/>
                <a:ea typeface="Inter Medium"/>
                <a:cs typeface="Inter Medium"/>
                <a:sym typeface="Inter Medium"/>
              </a:rPr>
              <a:t>Kiểm thử robot trong môi trường ảo giúp giảm rủi ro trước khi triển khai tại kho thật.</a:t>
            </a:r>
            <a:endParaRPr/>
          </a:p>
        </p:txBody>
      </p:sp>
      <p:sp>
        <p:nvSpPr>
          <p:cNvPr id="122" name="Google Shape;122;p2"/>
          <p:cNvSpPr/>
          <p:nvPr/>
        </p:nvSpPr>
        <p:spPr>
          <a:xfrm>
            <a:off x="428625" y="3000375"/>
            <a:ext cx="8505825" cy="5572125"/>
          </a:xfrm>
          <a:custGeom>
            <a:rect b="b" l="l" r="r" t="t"/>
            <a:pathLst>
              <a:path extrusionOk="0" h="5572125" w="8505825">
                <a:moveTo>
                  <a:pt x="0" y="0"/>
                </a:moveTo>
                <a:lnTo>
                  <a:pt x="8505825" y="0"/>
                </a:lnTo>
                <a:lnTo>
                  <a:pt x="8505825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3" name="Google Shape;123;p2"/>
          <p:cNvSpPr/>
          <p:nvPr/>
        </p:nvSpPr>
        <p:spPr>
          <a:xfrm>
            <a:off x="647700" y="2781300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4" name="Google Shape;124;p2"/>
          <p:cNvSpPr/>
          <p:nvPr/>
        </p:nvSpPr>
        <p:spPr>
          <a:xfrm>
            <a:off x="866775" y="3000375"/>
            <a:ext cx="657225" cy="857250"/>
          </a:xfrm>
          <a:custGeom>
            <a:rect b="b" l="l" r="r" t="t"/>
            <a:pathLst>
              <a:path extrusionOk="0"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5" name="Google Shape;125;p2"/>
          <p:cNvSpPr/>
          <p:nvPr/>
        </p:nvSpPr>
        <p:spPr>
          <a:xfrm>
            <a:off x="1524000" y="3000375"/>
            <a:ext cx="5448300" cy="647700"/>
          </a:xfrm>
          <a:custGeom>
            <a:rect b="b" l="l" r="r" t="t"/>
            <a:pathLst>
              <a:path extrusionOk="0" h="647700" w="5448300">
                <a:moveTo>
                  <a:pt x="0" y="0"/>
                </a:moveTo>
                <a:lnTo>
                  <a:pt x="5448300" y="0"/>
                </a:lnTo>
                <a:lnTo>
                  <a:pt x="5448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6" name="Google Shape;126;p2"/>
          <p:cNvSpPr txBox="1"/>
          <p:nvPr/>
        </p:nvSpPr>
        <p:spPr>
          <a:xfrm>
            <a:off x="1938591" y="3100056"/>
            <a:ext cx="4379995" cy="412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06" sz="2654" u="none" cap="none" strike="noStrike">
                <a:solidFill>
                  <a:srgbClr val="F8F3E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DỰNG THÚ CÔNG (CAD/3D)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1951925" y="3712400"/>
            <a:ext cx="3551100" cy="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pc="-84" sz="2109" u="none" cap="none" strike="noStrike">
                <a:solidFill>
                  <a:srgbClr val="F47238"/>
                </a:solidFill>
                <a:latin typeface="Inter"/>
                <a:ea typeface="Inter"/>
                <a:cs typeface="Inter"/>
                <a:sym typeface="Inter"/>
              </a:rPr>
              <a:t>Chính xác, nhưng tốn côn</a:t>
            </a:r>
            <a:r>
              <a:rPr i="1" lang="en-US" spc="-84" sz="2109">
                <a:solidFill>
                  <a:srgbClr val="F47238"/>
                </a:solidFill>
                <a:latin typeface="Inter"/>
                <a:ea typeface="Inter"/>
                <a:cs typeface="Inter"/>
                <a:sym typeface="Inter"/>
              </a:rPr>
              <a:t>g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647700" y="4067175"/>
            <a:ext cx="4143375" cy="3438525"/>
          </a:xfrm>
          <a:custGeom>
            <a:rect b="b" l="l" r="r" t="t"/>
            <a:pathLst>
              <a:path extrusionOk="0" h="3438525" w="4143375">
                <a:moveTo>
                  <a:pt x="0" y="0"/>
                </a:moveTo>
                <a:lnTo>
                  <a:pt x="4143375" y="0"/>
                </a:lnTo>
                <a:lnTo>
                  <a:pt x="4143375" y="3438525"/>
                </a:lnTo>
                <a:lnTo>
                  <a:pt x="0" y="34385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2"/>
          <p:cNvSpPr/>
          <p:nvPr/>
        </p:nvSpPr>
        <p:spPr>
          <a:xfrm>
            <a:off x="5000625" y="406717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0" name="Google Shape;130;p2"/>
          <p:cNvSpPr txBox="1"/>
          <p:nvPr/>
        </p:nvSpPr>
        <p:spPr>
          <a:xfrm>
            <a:off x="5667906" y="4269805"/>
            <a:ext cx="1137509" cy="33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87" sz="2179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Ưu điểm: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5652580" y="4647547"/>
            <a:ext cx="2670159" cy="8024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1" sz="1546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Có thể kiểm soát kích thước và hình học khi có dữ liệu thiết kế phù hợp.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5000625" y="5781675"/>
            <a:ext cx="1971675" cy="219075"/>
          </a:xfrm>
          <a:custGeom>
            <a:rect b="b" l="l" r="r" t="t"/>
            <a:pathLst>
              <a:path extrusionOk="0" h="219075" w="1971675">
                <a:moveTo>
                  <a:pt x="0" y="0"/>
                </a:moveTo>
                <a:lnTo>
                  <a:pt x="1971675" y="0"/>
                </a:lnTo>
                <a:lnTo>
                  <a:pt x="197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3" name="Google Shape;133;p2"/>
          <p:cNvSpPr/>
          <p:nvPr/>
        </p:nvSpPr>
        <p:spPr>
          <a:xfrm>
            <a:off x="5000625" y="600075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4" name="Google Shape;134;p2"/>
          <p:cNvSpPr txBox="1"/>
          <p:nvPr/>
        </p:nvSpPr>
        <p:spPr>
          <a:xfrm>
            <a:off x="5667930" y="6093135"/>
            <a:ext cx="1135090" cy="33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87" sz="2179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Hạn chế:</a:t>
            </a:r>
            <a:endParaRPr/>
          </a:p>
        </p:txBody>
      </p:sp>
      <p:sp>
        <p:nvSpPr>
          <p:cNvPr id="135" name="Google Shape;135;p2"/>
          <p:cNvSpPr txBox="1"/>
          <p:nvPr/>
        </p:nvSpPr>
        <p:spPr>
          <a:xfrm>
            <a:off x="5654046" y="6491554"/>
            <a:ext cx="2523542" cy="577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6" sz="1652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Cần thời gian dụng và cập nhật khi bố trí kho thay đổi.</a:t>
            </a: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647700" y="7286625"/>
            <a:ext cx="8067675" cy="1076325"/>
          </a:xfrm>
          <a:custGeom>
            <a:rect b="b" l="l" r="r" t="t"/>
            <a:pathLst>
              <a:path extrusionOk="0" h="1076325" w="8067675">
                <a:moveTo>
                  <a:pt x="0" y="0"/>
                </a:moveTo>
                <a:lnTo>
                  <a:pt x="8067675" y="0"/>
                </a:lnTo>
                <a:lnTo>
                  <a:pt x="8067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7" name="Google Shape;137;p2"/>
          <p:cNvSpPr/>
          <p:nvPr/>
        </p:nvSpPr>
        <p:spPr>
          <a:xfrm>
            <a:off x="1304925" y="7496175"/>
            <a:ext cx="1095375" cy="866775"/>
          </a:xfrm>
          <a:custGeom>
            <a:rect b="b" l="l" r="r" t="t"/>
            <a:pathLst>
              <a:path extrusionOk="0" h="866775" w="1095375">
                <a:moveTo>
                  <a:pt x="0" y="0"/>
                </a:moveTo>
                <a:lnTo>
                  <a:pt x="1095375" y="0"/>
                </a:lnTo>
                <a:lnTo>
                  <a:pt x="109537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8" name="Google Shape;138;p2"/>
          <p:cNvSpPr txBox="1"/>
          <p:nvPr/>
        </p:nvSpPr>
        <p:spPr>
          <a:xfrm>
            <a:off x="2582203" y="7660500"/>
            <a:ext cx="57405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1" sz="3032" u="none" cap="none" strike="noStrike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Nhiều công sức thủ công</a:t>
            </a:r>
            <a:endParaRPr/>
          </a:p>
        </p:txBody>
      </p:sp>
      <p:sp>
        <p:nvSpPr>
          <p:cNvPr id="139" name="Google Shape;139;p2"/>
          <p:cNvSpPr/>
          <p:nvPr/>
        </p:nvSpPr>
        <p:spPr>
          <a:xfrm>
            <a:off x="8924925" y="3000375"/>
            <a:ext cx="8934450" cy="5572125"/>
          </a:xfrm>
          <a:custGeom>
            <a:rect b="b" l="l" r="r" t="t"/>
            <a:pathLst>
              <a:path extrusionOk="0" h="5572125" w="8934450">
                <a:moveTo>
                  <a:pt x="0" y="0"/>
                </a:moveTo>
                <a:lnTo>
                  <a:pt x="8934450" y="0"/>
                </a:lnTo>
                <a:lnTo>
                  <a:pt x="8934450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0" name="Google Shape;140;p2"/>
          <p:cNvSpPr/>
          <p:nvPr/>
        </p:nvSpPr>
        <p:spPr>
          <a:xfrm>
            <a:off x="9144000" y="2781300"/>
            <a:ext cx="1314450" cy="1295400"/>
          </a:xfrm>
          <a:custGeom>
            <a:rect b="b" l="l" r="r" t="t"/>
            <a:pathLst>
              <a:path extrusionOk="0" h="1295400" w="131445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1" name="Google Shape;141;p2"/>
          <p:cNvSpPr/>
          <p:nvPr/>
        </p:nvSpPr>
        <p:spPr>
          <a:xfrm>
            <a:off x="9353550" y="3000375"/>
            <a:ext cx="885825" cy="857250"/>
          </a:xfrm>
          <a:custGeom>
            <a:rect b="b" l="l" r="r" t="t"/>
            <a:pathLst>
              <a:path extrusionOk="0" h="857250" w="885825">
                <a:moveTo>
                  <a:pt x="0" y="0"/>
                </a:moveTo>
                <a:lnTo>
                  <a:pt x="885825" y="0"/>
                </a:lnTo>
                <a:lnTo>
                  <a:pt x="885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2" name="Google Shape;142;p2"/>
          <p:cNvSpPr/>
          <p:nvPr/>
        </p:nvSpPr>
        <p:spPr>
          <a:xfrm>
            <a:off x="10229850" y="3000375"/>
            <a:ext cx="6534150" cy="647700"/>
          </a:xfrm>
          <a:custGeom>
            <a:rect b="b" l="l" r="r" t="t"/>
            <a:pathLst>
              <a:path extrusionOk="0" h="647700" w="6534150">
                <a:moveTo>
                  <a:pt x="0" y="0"/>
                </a:moveTo>
                <a:lnTo>
                  <a:pt x="6534150" y="0"/>
                </a:lnTo>
                <a:lnTo>
                  <a:pt x="6534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2"/>
          <p:cNvSpPr txBox="1"/>
          <p:nvPr/>
        </p:nvSpPr>
        <p:spPr>
          <a:xfrm>
            <a:off x="10718414" y="3100056"/>
            <a:ext cx="5078870" cy="412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06" sz="2654" u="none" cap="none" strike="noStrike">
                <a:solidFill>
                  <a:srgbClr val="F8F3E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TÁI TẠO TỪ VIDEO (NERF/3DGS)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10958969" y="3712391"/>
            <a:ext cx="5133596" cy="3175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pc="-84" sz="2109" u="none" cap="none" strike="noStrike">
                <a:solidFill>
                  <a:srgbClr val="F47238"/>
                </a:solidFill>
                <a:latin typeface="Inter"/>
                <a:ea typeface="Inter"/>
                <a:cs typeface="Inter"/>
                <a:sym typeface="Inter"/>
              </a:rPr>
              <a:t>Nhanh về hình ảnh, chưa đủ cho mô phỏng</a:t>
            </a:r>
            <a:endParaRPr/>
          </a:p>
        </p:txBody>
      </p:sp>
      <p:sp>
        <p:nvSpPr>
          <p:cNvPr id="145" name="Google Shape;145;p2"/>
          <p:cNvSpPr/>
          <p:nvPr/>
        </p:nvSpPr>
        <p:spPr>
          <a:xfrm>
            <a:off x="8924925" y="4067175"/>
            <a:ext cx="4791075" cy="3438525"/>
          </a:xfrm>
          <a:custGeom>
            <a:rect b="b" l="l" r="r" t="t"/>
            <a:pathLst>
              <a:path extrusionOk="0" h="3438525" w="4791075">
                <a:moveTo>
                  <a:pt x="0" y="0"/>
                </a:moveTo>
                <a:lnTo>
                  <a:pt x="4791075" y="0"/>
                </a:lnTo>
                <a:lnTo>
                  <a:pt x="4791075" y="3438525"/>
                </a:lnTo>
                <a:lnTo>
                  <a:pt x="0" y="34385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6" name="Google Shape;146;p2"/>
          <p:cNvSpPr/>
          <p:nvPr/>
        </p:nvSpPr>
        <p:spPr>
          <a:xfrm>
            <a:off x="13716000" y="406717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7" name="Google Shape;147;p2"/>
          <p:cNvSpPr txBox="1"/>
          <p:nvPr/>
        </p:nvSpPr>
        <p:spPr>
          <a:xfrm>
            <a:off x="14374351" y="4269805"/>
            <a:ext cx="1137509" cy="33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87" sz="2179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Ưu điểm: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14363315" y="4647546"/>
            <a:ext cx="2241153" cy="8024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1" sz="1546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Có thể tái tạo hình ảnh và</a:t>
            </a:r>
            <a:endParaRPr/>
          </a:p>
          <a:p>
            <a:pPr indent="0" lvl="0" marL="0" marR="0" rtl="0" algn="l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1" sz="1546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bối cảnh trực quan từ dữ</a:t>
            </a:r>
            <a:endParaRPr/>
          </a:p>
          <a:p>
            <a:pPr indent="0" lvl="0" marL="0" marR="0" rtl="0" algn="l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1" sz="1546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liệu ghi hình.</a:t>
            </a:r>
            <a:endParaRPr/>
          </a:p>
        </p:txBody>
      </p:sp>
      <p:sp>
        <p:nvSpPr>
          <p:cNvPr id="149" name="Google Shape;149;p2"/>
          <p:cNvSpPr/>
          <p:nvPr/>
        </p:nvSpPr>
        <p:spPr>
          <a:xfrm>
            <a:off x="13716000" y="557212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0" name="Google Shape;150;p2"/>
          <p:cNvSpPr txBox="1"/>
          <p:nvPr/>
        </p:nvSpPr>
        <p:spPr>
          <a:xfrm>
            <a:off x="14374376" y="5761620"/>
            <a:ext cx="1135090" cy="33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87" sz="2179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Hạn chế:</a:t>
            </a:r>
            <a:endParaRPr/>
          </a:p>
        </p:txBody>
      </p:sp>
      <p:sp>
        <p:nvSpPr>
          <p:cNvPr id="151" name="Google Shape;151;p2"/>
          <p:cNvSpPr txBox="1"/>
          <p:nvPr/>
        </p:nvSpPr>
        <p:spPr>
          <a:xfrm>
            <a:off x="14357187" y="6179647"/>
            <a:ext cx="2853997" cy="11284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7" sz="1696" u="none" cap="none" strike="noStrike">
                <a:solidFill>
                  <a:srgbClr val="4D2C16"/>
                </a:solidFill>
                <a:latin typeface="Inter"/>
                <a:ea typeface="Inter"/>
                <a:cs typeface="Inter"/>
                <a:sym typeface="Inter"/>
              </a:rPr>
              <a:t>Kết quả tái tạo hình ảnh không tự động bảo đảm có hình học, collier và tương tác vật lý phù hợp cho robot.</a:t>
            </a:r>
            <a:endParaRPr/>
          </a:p>
        </p:txBody>
      </p:sp>
      <p:sp>
        <p:nvSpPr>
          <p:cNvPr id="152" name="Google Shape;152;p2"/>
          <p:cNvSpPr/>
          <p:nvPr/>
        </p:nvSpPr>
        <p:spPr>
          <a:xfrm>
            <a:off x="9144000" y="7286625"/>
            <a:ext cx="8496300" cy="1076325"/>
          </a:xfrm>
          <a:custGeom>
            <a:rect b="b" l="l" r="r" t="t"/>
            <a:pathLst>
              <a:path extrusionOk="0" h="1076325" w="8496300">
                <a:moveTo>
                  <a:pt x="0" y="0"/>
                </a:moveTo>
                <a:lnTo>
                  <a:pt x="8496300" y="0"/>
                </a:lnTo>
                <a:lnTo>
                  <a:pt x="84963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3" name="Google Shape;153;p2"/>
          <p:cNvSpPr/>
          <p:nvPr/>
        </p:nvSpPr>
        <p:spPr>
          <a:xfrm>
            <a:off x="9791700" y="7496175"/>
            <a:ext cx="1095375" cy="866775"/>
          </a:xfrm>
          <a:custGeom>
            <a:rect b="b" l="l" r="r" t="t"/>
            <a:pathLst>
              <a:path extrusionOk="0" h="866775" w="1095375">
                <a:moveTo>
                  <a:pt x="0" y="0"/>
                </a:moveTo>
                <a:lnTo>
                  <a:pt x="1095375" y="0"/>
                </a:lnTo>
                <a:lnTo>
                  <a:pt x="109537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4" name="Google Shape;154;p2"/>
          <p:cNvSpPr txBox="1"/>
          <p:nvPr/>
        </p:nvSpPr>
        <p:spPr>
          <a:xfrm>
            <a:off x="11014701" y="7660500"/>
            <a:ext cx="59217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1" sz="3032" u="none" cap="none" strike="noStrike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Nhìn đúng </a:t>
            </a:r>
            <a:r>
              <a:rPr b="1" lang="en-US" spc="-121" sz="3032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khác</a:t>
            </a:r>
            <a:r>
              <a:rPr b="1" i="0" lang="en-US" spc="-121" sz="3032" u="none" cap="none" strike="noStrike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Mô phỏng được</a:t>
            </a:r>
            <a:endParaRPr/>
          </a:p>
        </p:txBody>
      </p:sp>
      <p:sp>
        <p:nvSpPr>
          <p:cNvPr id="155" name="Google Shape;155;p2"/>
          <p:cNvSpPr/>
          <p:nvPr/>
        </p:nvSpPr>
        <p:spPr>
          <a:xfrm>
            <a:off x="428625" y="8572500"/>
            <a:ext cx="17430750" cy="1714500"/>
          </a:xfrm>
          <a:custGeom>
            <a:rect b="b" l="l" r="r" t="t"/>
            <a:pathLst>
              <a:path extrusionOk="0" h="1714500" w="17430750">
                <a:moveTo>
                  <a:pt x="0" y="0"/>
                </a:moveTo>
                <a:lnTo>
                  <a:pt x="17430750" y="0"/>
                </a:lnTo>
                <a:lnTo>
                  <a:pt x="1743075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6" name="Google Shape;156;p2"/>
          <p:cNvSpPr/>
          <p:nvPr/>
        </p:nvSpPr>
        <p:spPr>
          <a:xfrm>
            <a:off x="1952625" y="8572500"/>
            <a:ext cx="1533525" cy="1504950"/>
          </a:xfrm>
          <a:custGeom>
            <a:rect b="b" l="l" r="r" t="t"/>
            <a:pathLst>
              <a:path extrusionOk="0" h="1504950" w="1533525">
                <a:moveTo>
                  <a:pt x="0" y="0"/>
                </a:moveTo>
                <a:lnTo>
                  <a:pt x="1533525" y="0"/>
                </a:lnTo>
                <a:lnTo>
                  <a:pt x="1533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7" name="Google Shape;157;p2"/>
          <p:cNvSpPr/>
          <p:nvPr/>
        </p:nvSpPr>
        <p:spPr>
          <a:xfrm>
            <a:off x="2171700" y="8782050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8" name="Google Shape;158;p2"/>
          <p:cNvSpPr txBox="1"/>
          <p:nvPr/>
        </p:nvSpPr>
        <p:spPr>
          <a:xfrm>
            <a:off x="3878208" y="8811205"/>
            <a:ext cx="11336199" cy="998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9" sz="3234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Bài toán không chỉ là tạo ra một cảnh 3D đẹp,</a:t>
            </a:r>
            <a:endParaRPr/>
          </a:p>
          <a:p>
            <a:pPr indent="0" lvl="0" marL="0" marR="0" rtl="0" algn="l">
              <a:lnSpc>
                <a:spcPct val="124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9" sz="3234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mà là chuẩn bị </a:t>
            </a:r>
            <a:r>
              <a:rPr b="1" i="0" lang="en-US" spc="-129" sz="3234" u="none" cap="none" strike="noStrike">
                <a:solidFill>
                  <a:srgbClr val="F4723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scene có cấu trúc</a:t>
            </a:r>
            <a:r>
              <a:rPr b="1" i="0" lang="en-US" spc="-129" sz="3234" u="none" cap="none" strike="noStrike">
                <a:solidFill>
                  <a:srgbClr val="4D2C1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để phục vụ mô phỏng robot.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4" name="Google Shape;164;p3"/>
          <p:cNvSpPr txBox="1"/>
          <p:nvPr/>
        </p:nvSpPr>
        <p:spPr>
          <a:xfrm>
            <a:off x="2571101" y="231576"/>
            <a:ext cx="13289745" cy="84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4" sz="5554" u="none" cap="none" strike="noStrike">
                <a:solidFill>
                  <a:srgbClr val="340E0A"/>
                </a:solidFill>
                <a:latin typeface="Roboto"/>
                <a:ea typeface="Roboto"/>
                <a:cs typeface="Roboto"/>
                <a:sym typeface="Roboto"/>
              </a:rPr>
              <a:t>Scene nhìn giống thật </a:t>
            </a:r>
            <a:r>
              <a:rPr b="1" i="0" lang="en-US" spc="-54" sz="5554" u="none" cap="none" strike="noStrike">
                <a:solidFill>
                  <a:srgbClr val="E7763F"/>
                </a:solidFill>
                <a:latin typeface="Roboto"/>
                <a:ea typeface="Roboto"/>
                <a:cs typeface="Roboto"/>
                <a:sym typeface="Roboto"/>
              </a:rPr>
              <a:t>≠ Robot dùng được</a:t>
            </a:r>
            <a:endParaRPr/>
          </a:p>
        </p:txBody>
      </p:sp>
      <p:sp>
        <p:nvSpPr>
          <p:cNvPr id="165" name="Google Shape;165;p3"/>
          <p:cNvSpPr/>
          <p:nvPr/>
        </p:nvSpPr>
        <p:spPr>
          <a:xfrm>
            <a:off x="209550" y="1285875"/>
            <a:ext cx="8067675" cy="6858000"/>
          </a:xfrm>
          <a:custGeom>
            <a:rect b="b" l="l" r="r" t="t"/>
            <a:pathLst>
              <a:path extrusionOk="0" h="6858000" w="8067675">
                <a:moveTo>
                  <a:pt x="0" y="0"/>
                </a:moveTo>
                <a:lnTo>
                  <a:pt x="8067675" y="0"/>
                </a:lnTo>
                <a:lnTo>
                  <a:pt x="80676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6" name="Google Shape;166;p3"/>
          <p:cNvSpPr/>
          <p:nvPr/>
        </p:nvSpPr>
        <p:spPr>
          <a:xfrm>
            <a:off x="1733550" y="1495425"/>
            <a:ext cx="885825" cy="866775"/>
          </a:xfrm>
          <a:custGeom>
            <a:rect b="b" l="l" r="r" t="t"/>
            <a:pathLst>
              <a:path extrusionOk="0" h="866775" w="885825">
                <a:moveTo>
                  <a:pt x="0" y="0"/>
                </a:moveTo>
                <a:lnTo>
                  <a:pt x="885825" y="0"/>
                </a:lnTo>
                <a:lnTo>
                  <a:pt x="8858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7" name="Google Shape;167;p3"/>
          <p:cNvSpPr txBox="1"/>
          <p:nvPr/>
        </p:nvSpPr>
        <p:spPr>
          <a:xfrm>
            <a:off x="2610839" y="1548110"/>
            <a:ext cx="4127822" cy="42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6" sz="2759" u="none" cap="none" strike="noStrike">
                <a:solidFill>
                  <a:srgbClr val="E7763F"/>
                </a:solidFill>
                <a:latin typeface="Roboto"/>
                <a:ea typeface="Roboto"/>
                <a:cs typeface="Roboto"/>
                <a:sym typeface="Roboto"/>
              </a:rPr>
              <a:t>BẢN 3D THÔNG THƯỜNG</a:t>
            </a:r>
            <a:endParaRPr/>
          </a:p>
        </p:txBody>
      </p:sp>
      <p:sp>
        <p:nvSpPr>
          <p:cNvPr id="168" name="Google Shape;168;p3"/>
          <p:cNvSpPr txBox="1"/>
          <p:nvPr/>
        </p:nvSpPr>
        <p:spPr>
          <a:xfrm>
            <a:off x="2632907" y="1949425"/>
            <a:ext cx="1921059" cy="3309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4" sz="2179" u="none" cap="none" strike="noStrike">
                <a:solidFill>
                  <a:srgbClr val="E7763F"/>
                </a:solidFill>
                <a:latin typeface="Roboto"/>
                <a:ea typeface="Roboto"/>
                <a:cs typeface="Roboto"/>
                <a:sym typeface="Roboto"/>
              </a:rPr>
              <a:t>Giống PDF scan</a:t>
            </a:r>
            <a:endParaRPr/>
          </a:p>
        </p:txBody>
      </p:sp>
      <p:sp>
        <p:nvSpPr>
          <p:cNvPr id="169" name="Google Shape;169;p3"/>
          <p:cNvSpPr/>
          <p:nvPr/>
        </p:nvSpPr>
        <p:spPr>
          <a:xfrm>
            <a:off x="209550" y="2352675"/>
            <a:ext cx="8067675" cy="3219450"/>
          </a:xfrm>
          <a:custGeom>
            <a:rect b="b" l="l" r="r" t="t"/>
            <a:pathLst>
              <a:path extrusionOk="0" h="3219450" w="8067675">
                <a:moveTo>
                  <a:pt x="0" y="0"/>
                </a:moveTo>
                <a:lnTo>
                  <a:pt x="8067675" y="0"/>
                </a:lnTo>
                <a:lnTo>
                  <a:pt x="8067675" y="3219450"/>
                </a:lnTo>
                <a:lnTo>
                  <a:pt x="0" y="3219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0" name="Google Shape;170;p3"/>
          <p:cNvSpPr/>
          <p:nvPr/>
        </p:nvSpPr>
        <p:spPr>
          <a:xfrm>
            <a:off x="6305550" y="3857625"/>
            <a:ext cx="1533525" cy="1714500"/>
          </a:xfrm>
          <a:custGeom>
            <a:rect b="b" l="l" r="r" t="t"/>
            <a:pathLst>
              <a:path extrusionOk="0" h="1714500" w="1533525">
                <a:moveTo>
                  <a:pt x="0" y="0"/>
                </a:moveTo>
                <a:lnTo>
                  <a:pt x="1533525" y="0"/>
                </a:lnTo>
                <a:lnTo>
                  <a:pt x="15335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1" name="Google Shape;171;p3"/>
          <p:cNvSpPr/>
          <p:nvPr/>
        </p:nvSpPr>
        <p:spPr>
          <a:xfrm>
            <a:off x="647700" y="557212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2" name="Google Shape;172;p3"/>
          <p:cNvSpPr txBox="1"/>
          <p:nvPr/>
        </p:nvSpPr>
        <p:spPr>
          <a:xfrm>
            <a:off x="1359309" y="5701568"/>
            <a:ext cx="3372211" cy="277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5" sz="1863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Nhìn thấy toàn bộ cảnh kho hàng.</a:t>
            </a:r>
            <a:endParaRPr/>
          </a:p>
        </p:txBody>
      </p:sp>
      <p:sp>
        <p:nvSpPr>
          <p:cNvPr id="173" name="Google Shape;173;p3"/>
          <p:cNvSpPr/>
          <p:nvPr/>
        </p:nvSpPr>
        <p:spPr>
          <a:xfrm>
            <a:off x="647700" y="6429375"/>
            <a:ext cx="666750" cy="428625"/>
          </a:xfrm>
          <a:custGeom>
            <a:rect b="b" l="l" r="r" t="t"/>
            <a:pathLst>
              <a:path extrusionOk="0" h="428625" w="666750">
                <a:moveTo>
                  <a:pt x="0" y="0"/>
                </a:moveTo>
                <a:lnTo>
                  <a:pt x="666750" y="0"/>
                </a:lnTo>
                <a:lnTo>
                  <a:pt x="666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4" name="Google Shape;174;p3"/>
          <p:cNvSpPr txBox="1"/>
          <p:nvPr/>
        </p:nvSpPr>
        <p:spPr>
          <a:xfrm>
            <a:off x="1353167" y="6360435"/>
            <a:ext cx="3986388" cy="5771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Các chi tiết có thể khó chỉnh sửa độc lập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nếu chỉ có dữ liệu tái tạo hình ảnh.</a:t>
            </a:r>
            <a:endParaRPr/>
          </a:p>
        </p:txBody>
      </p:sp>
      <p:sp>
        <p:nvSpPr>
          <p:cNvPr id="175" name="Google Shape;175;p3"/>
          <p:cNvSpPr/>
          <p:nvPr/>
        </p:nvSpPr>
        <p:spPr>
          <a:xfrm>
            <a:off x="647700" y="706755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6" name="Google Shape;176;p3"/>
          <p:cNvSpPr txBox="1"/>
          <p:nvPr/>
        </p:nvSpPr>
        <p:spPr>
          <a:xfrm>
            <a:off x="1361843" y="7159084"/>
            <a:ext cx="3118831" cy="5771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Chưa chắc có cấu trúc hình học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và collider phù hợp cho robot.</a:t>
            </a:r>
            <a:endParaRPr/>
          </a:p>
        </p:txBody>
      </p:sp>
      <p:sp>
        <p:nvSpPr>
          <p:cNvPr id="177" name="Google Shape;177;p3"/>
          <p:cNvSpPr/>
          <p:nvPr/>
        </p:nvSpPr>
        <p:spPr>
          <a:xfrm>
            <a:off x="8486775" y="3429000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8" name="Google Shape;178;p3"/>
          <p:cNvSpPr txBox="1"/>
          <p:nvPr/>
        </p:nvSpPr>
        <p:spPr>
          <a:xfrm>
            <a:off x="8461125" y="4702844"/>
            <a:ext cx="1174834" cy="1218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7" sz="1916" u="none" cap="none" strike="noStrike">
                <a:solidFill>
                  <a:srgbClr val="242424"/>
                </a:solidFill>
                <a:latin typeface="Roboto"/>
                <a:ea typeface="Roboto"/>
                <a:cs typeface="Roboto"/>
                <a:sym typeface="Roboto"/>
              </a:rPr>
              <a:t>Từ tái tạo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7" sz="1916" u="none" cap="none" strike="noStrike">
                <a:solidFill>
                  <a:srgbClr val="242424"/>
                </a:solidFill>
                <a:latin typeface="Roboto"/>
                <a:ea typeface="Roboto"/>
                <a:cs typeface="Roboto"/>
                <a:sym typeface="Roboto"/>
              </a:rPr>
              <a:t>hình ảnh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7" sz="1916" u="none" cap="none" strike="noStrike">
                <a:solidFill>
                  <a:srgbClr val="242424"/>
                </a:solidFill>
                <a:latin typeface="Roboto"/>
                <a:ea typeface="Roboto"/>
                <a:cs typeface="Roboto"/>
                <a:sym typeface="Roboto"/>
              </a:rPr>
              <a:t>đến scene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7" sz="1916" u="none" cap="none" strike="noStrike">
                <a:solidFill>
                  <a:srgbClr val="242424"/>
                </a:solidFill>
                <a:latin typeface="Roboto"/>
                <a:ea typeface="Roboto"/>
                <a:cs typeface="Roboto"/>
                <a:sym typeface="Roboto"/>
              </a:rPr>
              <a:t>có cấu trúc</a:t>
            </a:r>
            <a:endParaRPr/>
          </a:p>
        </p:txBody>
      </p:sp>
      <p:sp>
        <p:nvSpPr>
          <p:cNvPr id="179" name="Google Shape;179;p3"/>
          <p:cNvSpPr/>
          <p:nvPr/>
        </p:nvSpPr>
        <p:spPr>
          <a:xfrm>
            <a:off x="9791700" y="1285875"/>
            <a:ext cx="8286750" cy="6858000"/>
          </a:xfrm>
          <a:custGeom>
            <a:rect b="b" l="l" r="r" t="t"/>
            <a:pathLst>
              <a:path extrusionOk="0" h="6858000" w="8286750">
                <a:moveTo>
                  <a:pt x="0" y="0"/>
                </a:moveTo>
                <a:lnTo>
                  <a:pt x="8286750" y="0"/>
                </a:lnTo>
                <a:lnTo>
                  <a:pt x="828675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0" name="Google Shape;180;p3"/>
          <p:cNvSpPr/>
          <p:nvPr/>
        </p:nvSpPr>
        <p:spPr>
          <a:xfrm>
            <a:off x="11534775" y="1495425"/>
            <a:ext cx="876300" cy="866775"/>
          </a:xfrm>
          <a:custGeom>
            <a:rect b="b" l="l" r="r" t="t"/>
            <a:pathLst>
              <a:path extrusionOk="0"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1" name="Google Shape;181;p3"/>
          <p:cNvSpPr txBox="1"/>
          <p:nvPr/>
        </p:nvSpPr>
        <p:spPr>
          <a:xfrm>
            <a:off x="12422013" y="1548110"/>
            <a:ext cx="3490130" cy="42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6" sz="2759" u="none" cap="none" strike="noStrike">
                <a:solidFill>
                  <a:srgbClr val="4A7B96"/>
                </a:solidFill>
                <a:latin typeface="Roboto"/>
                <a:ea typeface="Roboto"/>
                <a:cs typeface="Roboto"/>
                <a:sym typeface="Roboto"/>
              </a:rPr>
              <a:t>SCENE CÓ CẤU TRÚC</a:t>
            </a:r>
            <a:endParaRPr/>
          </a:p>
        </p:txBody>
      </p:sp>
      <p:sp>
        <p:nvSpPr>
          <p:cNvPr id="182" name="Google Shape;182;p3"/>
          <p:cNvSpPr txBox="1"/>
          <p:nvPr/>
        </p:nvSpPr>
        <p:spPr>
          <a:xfrm>
            <a:off x="12425164" y="1949425"/>
            <a:ext cx="3174999" cy="3309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64" sz="2179" u="none" cap="none" strike="noStrike">
                <a:solidFill>
                  <a:srgbClr val="4A7B96"/>
                </a:solidFill>
                <a:latin typeface="Roboto"/>
                <a:ea typeface="Roboto"/>
                <a:cs typeface="Roboto"/>
                <a:sym typeface="Roboto"/>
              </a:rPr>
              <a:t>Giống file có thể chỉnh sửa</a:t>
            </a:r>
            <a:endParaRPr/>
          </a:p>
        </p:txBody>
      </p:sp>
      <p:sp>
        <p:nvSpPr>
          <p:cNvPr id="183" name="Google Shape;183;p3"/>
          <p:cNvSpPr/>
          <p:nvPr/>
        </p:nvSpPr>
        <p:spPr>
          <a:xfrm>
            <a:off x="9791700" y="2352675"/>
            <a:ext cx="8067675" cy="3219450"/>
          </a:xfrm>
          <a:custGeom>
            <a:rect b="b" l="l" r="r" t="t"/>
            <a:pathLst>
              <a:path extrusionOk="0" h="3219450" w="8067675">
                <a:moveTo>
                  <a:pt x="0" y="0"/>
                </a:moveTo>
                <a:lnTo>
                  <a:pt x="8067675" y="0"/>
                </a:lnTo>
                <a:lnTo>
                  <a:pt x="8067675" y="3219450"/>
                </a:lnTo>
                <a:lnTo>
                  <a:pt x="0" y="3219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4" name="Google Shape;184;p3"/>
          <p:cNvSpPr/>
          <p:nvPr/>
        </p:nvSpPr>
        <p:spPr>
          <a:xfrm>
            <a:off x="10229850" y="557212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5" name="Google Shape;185;p3"/>
          <p:cNvSpPr txBox="1"/>
          <p:nvPr/>
        </p:nvSpPr>
        <p:spPr>
          <a:xfrm>
            <a:off x="10912574" y="5591924"/>
            <a:ext cx="4415297" cy="5771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Kệ hàng, pallet và thùng hàng được biểu diễn thành các đối tượng riêng khi pipeline hỗ trợ.</a:t>
            </a:r>
            <a:endParaRPr/>
          </a:p>
        </p:txBody>
      </p:sp>
      <p:sp>
        <p:nvSpPr>
          <p:cNvPr id="186" name="Google Shape;186;p3"/>
          <p:cNvSpPr/>
          <p:nvPr/>
        </p:nvSpPr>
        <p:spPr>
          <a:xfrm>
            <a:off x="10229850" y="642937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7" name="Google Shape;187;p3"/>
          <p:cNvSpPr txBox="1"/>
          <p:nvPr/>
        </p:nvSpPr>
        <p:spPr>
          <a:xfrm>
            <a:off x="10914057" y="6390572"/>
            <a:ext cx="4267005" cy="5771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Có thông tin vị trí và kích thước theo hệ mét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đã được xác nhận.</a:t>
            </a:r>
            <a:endParaRPr/>
          </a:p>
        </p:txBody>
      </p:sp>
      <p:sp>
        <p:nvSpPr>
          <p:cNvPr id="188" name="Google Shape;188;p3"/>
          <p:cNvSpPr/>
          <p:nvPr/>
        </p:nvSpPr>
        <p:spPr>
          <a:xfrm>
            <a:off x="10229850" y="7067550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3"/>
          <p:cNvSpPr txBox="1"/>
          <p:nvPr/>
        </p:nvSpPr>
        <p:spPr>
          <a:xfrm>
            <a:off x="10920238" y="7159084"/>
            <a:ext cx="3648906" cy="5771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Có collider được chuẩn bị để phục vụ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53" sz="1810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mô phỏng vật lý.</a:t>
            </a:r>
            <a:endParaRPr/>
          </a:p>
        </p:txBody>
      </p:sp>
      <p:sp>
        <p:nvSpPr>
          <p:cNvPr id="190" name="Google Shape;190;p3"/>
          <p:cNvSpPr/>
          <p:nvPr/>
        </p:nvSpPr>
        <p:spPr>
          <a:xfrm>
            <a:off x="209550" y="8143875"/>
            <a:ext cx="17868900" cy="1933575"/>
          </a:xfrm>
          <a:custGeom>
            <a:rect b="b" l="l" r="r" t="t"/>
            <a:pathLst>
              <a:path extrusionOk="0" h="1933575" w="17868900">
                <a:moveTo>
                  <a:pt x="0" y="0"/>
                </a:moveTo>
                <a:lnTo>
                  <a:pt x="17868900" y="0"/>
                </a:lnTo>
                <a:lnTo>
                  <a:pt x="178689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1" name="Google Shape;191;p3"/>
          <p:cNvSpPr/>
          <p:nvPr/>
        </p:nvSpPr>
        <p:spPr>
          <a:xfrm>
            <a:off x="428625" y="8353425"/>
            <a:ext cx="885825" cy="647700"/>
          </a:xfrm>
          <a:custGeom>
            <a:rect b="b" l="l" r="r" t="t"/>
            <a:pathLst>
              <a:path extrusionOk="0" h="647700" w="885825">
                <a:moveTo>
                  <a:pt x="0" y="0"/>
                </a:moveTo>
                <a:lnTo>
                  <a:pt x="885825" y="0"/>
                </a:lnTo>
                <a:lnTo>
                  <a:pt x="8858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2" name="Google Shape;192;p3"/>
          <p:cNvSpPr/>
          <p:nvPr/>
        </p:nvSpPr>
        <p:spPr>
          <a:xfrm>
            <a:off x="866775" y="8572500"/>
            <a:ext cx="1095375" cy="1285875"/>
          </a:xfrm>
          <a:custGeom>
            <a:rect b="b" l="l" r="r" t="t"/>
            <a:pathLst>
              <a:path extrusionOk="0"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3" name="Google Shape;193;p3"/>
          <p:cNvSpPr txBox="1"/>
          <p:nvPr/>
        </p:nvSpPr>
        <p:spPr>
          <a:xfrm>
            <a:off x="2120765" y="8896965"/>
            <a:ext cx="2235961" cy="802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Không thể tùy ý di chuyển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từng đối tượng nếu chúng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chưa được tách riêng.</a:t>
            </a:r>
            <a:endParaRPr/>
          </a:p>
        </p:txBody>
      </p:sp>
      <p:sp>
        <p:nvSpPr>
          <p:cNvPr id="194" name="Google Shape;194;p3"/>
          <p:cNvSpPr/>
          <p:nvPr/>
        </p:nvSpPr>
        <p:spPr>
          <a:xfrm>
            <a:off x="4781550" y="8353425"/>
            <a:ext cx="885825" cy="647700"/>
          </a:xfrm>
          <a:custGeom>
            <a:rect b="b" l="l" r="r" t="t"/>
            <a:pathLst>
              <a:path extrusionOk="0" h="647700" w="885825">
                <a:moveTo>
                  <a:pt x="0" y="0"/>
                </a:moveTo>
                <a:lnTo>
                  <a:pt x="885825" y="0"/>
                </a:lnTo>
                <a:lnTo>
                  <a:pt x="8858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5" name="Google Shape;195;p3"/>
          <p:cNvSpPr/>
          <p:nvPr/>
        </p:nvSpPr>
        <p:spPr>
          <a:xfrm>
            <a:off x="5219700" y="8572500"/>
            <a:ext cx="1095375" cy="1285875"/>
          </a:xfrm>
          <a:custGeom>
            <a:rect b="b" l="l" r="r" t="t"/>
            <a:pathLst>
              <a:path extrusionOk="0"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6" name="Google Shape;196;p3"/>
          <p:cNvSpPr txBox="1"/>
          <p:nvPr/>
        </p:nvSpPr>
        <p:spPr>
          <a:xfrm>
            <a:off x="6486828" y="8896965"/>
            <a:ext cx="2291440" cy="802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Robot có thể đi xuyên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vật thể khi scene không có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collider phù hợp.</a:t>
            </a:r>
            <a:endParaRPr/>
          </a:p>
        </p:txBody>
      </p:sp>
      <p:sp>
        <p:nvSpPr>
          <p:cNvPr id="197" name="Google Shape;197;p3"/>
          <p:cNvSpPr/>
          <p:nvPr/>
        </p:nvSpPr>
        <p:spPr>
          <a:xfrm>
            <a:off x="9144000" y="8353425"/>
            <a:ext cx="876300" cy="647700"/>
          </a:xfrm>
          <a:custGeom>
            <a:rect b="b" l="l" r="r" t="t"/>
            <a:pathLst>
              <a:path extrusionOk="0"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8" name="Google Shape;198;p3"/>
          <p:cNvSpPr/>
          <p:nvPr/>
        </p:nvSpPr>
        <p:spPr>
          <a:xfrm>
            <a:off x="9572625" y="8572500"/>
            <a:ext cx="1095375" cy="1285875"/>
          </a:xfrm>
          <a:custGeom>
            <a:rect b="b" l="l" r="r" t="t"/>
            <a:pathLst>
              <a:path extrusionOk="0"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9" name="Google Shape;199;p3"/>
          <p:cNvSpPr txBox="1"/>
          <p:nvPr/>
        </p:nvSpPr>
        <p:spPr>
          <a:xfrm>
            <a:off x="10772270" y="8866828"/>
            <a:ext cx="2372230" cy="802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Kích thước không được xác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nhận có thể dẫn đến mô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phỏng không sát thực tế.</a:t>
            </a:r>
            <a:endParaRPr/>
          </a:p>
        </p:txBody>
      </p:sp>
      <p:sp>
        <p:nvSpPr>
          <p:cNvPr id="200" name="Google Shape;200;p3"/>
          <p:cNvSpPr/>
          <p:nvPr/>
        </p:nvSpPr>
        <p:spPr>
          <a:xfrm>
            <a:off x="13716000" y="835342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1" name="Google Shape;201;p3"/>
          <p:cNvSpPr/>
          <p:nvPr/>
        </p:nvSpPr>
        <p:spPr>
          <a:xfrm>
            <a:off x="13925550" y="8572500"/>
            <a:ext cx="1104900" cy="1285875"/>
          </a:xfrm>
          <a:custGeom>
            <a:rect b="b" l="l" r="r" t="t"/>
            <a:pathLst>
              <a:path extrusionOk="0" h="1285875" w="1104900">
                <a:moveTo>
                  <a:pt x="0" y="0"/>
                </a:moveTo>
                <a:lnTo>
                  <a:pt x="1104900" y="0"/>
                </a:lnTo>
                <a:lnTo>
                  <a:pt x="11049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2" name="Google Shape;202;p3"/>
          <p:cNvSpPr txBox="1"/>
          <p:nvPr/>
        </p:nvSpPr>
        <p:spPr>
          <a:xfrm>
            <a:off x="15221152" y="8866828"/>
            <a:ext cx="2182411" cy="802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Khi bố trí kho thay đổi,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scene cần được cập nhật</a:t>
            </a:r>
            <a:endParaRPr/>
          </a:p>
          <a:p>
            <a:pPr indent="0" lvl="0" marL="0" marR="0" rtl="0" algn="l">
              <a:lnSpc>
                <a:spcPct val="1401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6" sz="1546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tương ứng.</a:t>
            </a:r>
            <a:endParaRPr/>
          </a:p>
        </p:txBody>
      </p:sp>
      <p:sp>
        <p:nvSpPr>
          <p:cNvPr id="203" name="Google Shape;203;p3"/>
          <p:cNvSpPr txBox="1"/>
          <p:nvPr/>
        </p:nvSpPr>
        <p:spPr>
          <a:xfrm>
            <a:off x="6494119" y="8534511"/>
            <a:ext cx="1562272" cy="277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5" sz="1863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Thiếu va chạm:</a:t>
            </a:r>
            <a:endParaRPr/>
          </a:p>
        </p:txBody>
      </p:sp>
      <p:sp>
        <p:nvSpPr>
          <p:cNvPr id="204" name="Google Shape;204;p3"/>
          <p:cNvSpPr txBox="1"/>
          <p:nvPr/>
        </p:nvSpPr>
        <p:spPr>
          <a:xfrm>
            <a:off x="2127923" y="8534511"/>
            <a:ext cx="1520164" cy="277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5" sz="1863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Khó chỉnh sửa:</a:t>
            </a:r>
            <a:endParaRPr/>
          </a:p>
        </p:txBody>
      </p:sp>
      <p:sp>
        <p:nvSpPr>
          <p:cNvPr id="205" name="Google Shape;205;p3"/>
          <p:cNvSpPr txBox="1"/>
          <p:nvPr/>
        </p:nvSpPr>
        <p:spPr>
          <a:xfrm>
            <a:off x="15228967" y="8534511"/>
            <a:ext cx="1400956" cy="277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5" sz="1863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Khó cập nhật:</a:t>
            </a:r>
            <a:endParaRPr/>
          </a:p>
        </p:txBody>
      </p:sp>
      <p:sp>
        <p:nvSpPr>
          <p:cNvPr id="206" name="Google Shape;206;p3"/>
          <p:cNvSpPr txBox="1"/>
          <p:nvPr/>
        </p:nvSpPr>
        <p:spPr>
          <a:xfrm>
            <a:off x="10787383" y="8534511"/>
            <a:ext cx="860903" cy="277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5" sz="1863" u="none" cap="none" strike="noStrike">
                <a:solidFill>
                  <a:srgbClr val="5D3B36"/>
                </a:solidFill>
                <a:latin typeface="Roboto"/>
                <a:ea typeface="Roboto"/>
                <a:cs typeface="Roboto"/>
                <a:sym typeface="Roboto"/>
              </a:rPr>
              <a:t>Sai tỷ lệ:</a:t>
            </a:r>
            <a:endParaRPr/>
          </a:p>
        </p:txBody>
      </p:sp>
      <p:sp>
        <p:nvSpPr>
          <p:cNvPr id="207" name="Google Shape;207;p3"/>
          <p:cNvSpPr txBox="1"/>
          <p:nvPr/>
        </p:nvSpPr>
        <p:spPr>
          <a:xfrm>
            <a:off x="5159695" y="8474236"/>
            <a:ext cx="201747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86" sz="2896" u="none" cap="none" strike="noStrike">
                <a:solidFill>
                  <a:srgbClr val="F8F1EA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208" name="Google Shape;208;p3"/>
          <p:cNvSpPr txBox="1"/>
          <p:nvPr/>
        </p:nvSpPr>
        <p:spPr>
          <a:xfrm>
            <a:off x="9472734" y="8474236"/>
            <a:ext cx="201747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86" sz="2896" u="none" cap="none" strike="noStrike">
                <a:solidFill>
                  <a:srgbClr val="F8F1EA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209" name="Google Shape;209;p3"/>
          <p:cNvSpPr txBox="1"/>
          <p:nvPr/>
        </p:nvSpPr>
        <p:spPr>
          <a:xfrm>
            <a:off x="13892929" y="8474236"/>
            <a:ext cx="201747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86" sz="2896" u="none" cap="none" strike="noStrike">
                <a:solidFill>
                  <a:srgbClr val="F8F1EA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210" name="Google Shape;210;p3"/>
          <p:cNvSpPr txBox="1"/>
          <p:nvPr/>
        </p:nvSpPr>
        <p:spPr>
          <a:xfrm>
            <a:off x="793077" y="8474236"/>
            <a:ext cx="201747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86" sz="2896" u="none" cap="none" strike="noStrike">
                <a:solidFill>
                  <a:srgbClr val="F8F1EA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6" name="Google Shape;216;p4"/>
          <p:cNvSpPr/>
          <p:nvPr/>
        </p:nvSpPr>
        <p:spPr>
          <a:xfrm>
            <a:off x="209550" y="209550"/>
            <a:ext cx="885825" cy="866775"/>
          </a:xfrm>
          <a:custGeom>
            <a:rect b="b" l="l" r="r" t="t"/>
            <a:pathLst>
              <a:path extrusionOk="0" h="866775" w="885825">
                <a:moveTo>
                  <a:pt x="0" y="0"/>
                </a:moveTo>
                <a:lnTo>
                  <a:pt x="885825" y="0"/>
                </a:lnTo>
                <a:lnTo>
                  <a:pt x="8858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7" name="Google Shape;217;p4"/>
          <p:cNvSpPr txBox="1"/>
          <p:nvPr/>
        </p:nvSpPr>
        <p:spPr>
          <a:xfrm>
            <a:off x="984450" y="360113"/>
            <a:ext cx="3353413" cy="499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54" sz="3577" u="none" cap="none" strike="noStrike">
                <a:solidFill>
                  <a:srgbClr val="0F0F0F"/>
                </a:solidFill>
                <a:latin typeface="Roboto"/>
                <a:ea typeface="Roboto"/>
                <a:cs typeface="Roboto"/>
                <a:sym typeface="Roboto"/>
              </a:rPr>
              <a:t>Real2</a:t>
            </a:r>
            <a:r>
              <a:rPr b="1" i="0" lang="en-US" spc="-54" sz="3577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Sim </a:t>
            </a:r>
            <a:r>
              <a:rPr b="1" i="0" lang="en-US" spc="-54" sz="3577" u="none" cap="none" strike="noStrike">
                <a:solidFill>
                  <a:srgbClr val="0F0F0F"/>
                </a:solidFill>
                <a:latin typeface="Roboto"/>
                <a:ea typeface="Roboto"/>
                <a:cs typeface="Roboto"/>
                <a:sym typeface="Roboto"/>
              </a:rPr>
              <a:t>Studio</a:t>
            </a:r>
            <a:endParaRPr/>
          </a:p>
        </p:txBody>
      </p:sp>
      <p:sp>
        <p:nvSpPr>
          <p:cNvPr id="218" name="Google Shape;218;p4"/>
          <p:cNvSpPr/>
          <p:nvPr/>
        </p:nvSpPr>
        <p:spPr>
          <a:xfrm>
            <a:off x="209550" y="1066800"/>
            <a:ext cx="1533525" cy="219075"/>
          </a:xfrm>
          <a:custGeom>
            <a:rect b="b" l="l" r="r" t="t"/>
            <a:pathLst>
              <a:path extrusionOk="0" h="219075" w="1533525">
                <a:moveTo>
                  <a:pt x="0" y="0"/>
                </a:moveTo>
                <a:lnTo>
                  <a:pt x="1533525" y="0"/>
                </a:lnTo>
                <a:lnTo>
                  <a:pt x="15335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9" name="Google Shape;219;p4"/>
          <p:cNvSpPr txBox="1"/>
          <p:nvPr/>
        </p:nvSpPr>
        <p:spPr>
          <a:xfrm>
            <a:off x="214669" y="1153501"/>
            <a:ext cx="13358849" cy="7035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939" u="none" cap="none" strike="noStrike">
                <a:solidFill>
                  <a:srgbClr val="291910"/>
                </a:solidFill>
                <a:latin typeface="Roboto"/>
                <a:ea typeface="Roboto"/>
                <a:cs typeface="Roboto"/>
                <a:sym typeface="Roboto"/>
              </a:rPr>
              <a:t>Ba mắt xích đang chịu lãng phí trong quy trình</a:t>
            </a:r>
            <a:endParaRPr/>
          </a:p>
        </p:txBody>
      </p:sp>
      <p:sp>
        <p:nvSpPr>
          <p:cNvPr id="220" name="Google Shape;220;p4"/>
          <p:cNvSpPr/>
          <p:nvPr/>
        </p:nvSpPr>
        <p:spPr>
          <a:xfrm>
            <a:off x="209550" y="2143125"/>
            <a:ext cx="5886450" cy="8143875"/>
          </a:xfrm>
          <a:custGeom>
            <a:rect b="b" l="l" r="r" t="t"/>
            <a:pathLst>
              <a:path extrusionOk="0" h="8143875" w="5886450">
                <a:moveTo>
                  <a:pt x="0" y="0"/>
                </a:moveTo>
                <a:lnTo>
                  <a:pt x="5886450" y="0"/>
                </a:lnTo>
                <a:lnTo>
                  <a:pt x="5886450" y="8143875"/>
                </a:lnTo>
                <a:lnTo>
                  <a:pt x="0" y="8143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1" name="Google Shape;221;p4"/>
          <p:cNvSpPr/>
          <p:nvPr/>
        </p:nvSpPr>
        <p:spPr>
          <a:xfrm>
            <a:off x="428625" y="2143125"/>
            <a:ext cx="1095375" cy="1285875"/>
          </a:xfrm>
          <a:custGeom>
            <a:rect b="b" l="l" r="r" t="t"/>
            <a:pathLst>
              <a:path extrusionOk="0"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2" name="Google Shape;222;p4"/>
          <p:cNvSpPr/>
          <p:nvPr/>
        </p:nvSpPr>
        <p:spPr>
          <a:xfrm>
            <a:off x="647700" y="2352675"/>
            <a:ext cx="666750" cy="866775"/>
          </a:xfrm>
          <a:custGeom>
            <a:rect b="b" l="l" r="r" t="t"/>
            <a:pathLst>
              <a:path extrusionOk="0" h="866775" w="666750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3" name="Google Shape;223;p4"/>
          <p:cNvSpPr txBox="1"/>
          <p:nvPr/>
        </p:nvSpPr>
        <p:spPr>
          <a:xfrm>
            <a:off x="1577782" y="2451021"/>
            <a:ext cx="2956188" cy="400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1" sz="2759" u="none" cap="none" strike="noStrike">
                <a:solidFill>
                  <a:srgbClr val="F8F3F0"/>
                </a:solidFill>
                <a:latin typeface="Roboto"/>
                <a:ea typeface="Roboto"/>
                <a:cs typeface="Roboto"/>
                <a:sym typeface="Roboto"/>
              </a:rPr>
              <a:t>KỸ SƯ MÔ PHỎNG</a:t>
            </a:r>
            <a:endParaRPr/>
          </a:p>
        </p:txBody>
      </p:sp>
      <p:sp>
        <p:nvSpPr>
          <p:cNvPr id="224" name="Google Shape;224;p4"/>
          <p:cNvSpPr txBox="1"/>
          <p:nvPr/>
        </p:nvSpPr>
        <p:spPr>
          <a:xfrm>
            <a:off x="1586849" y="2953509"/>
            <a:ext cx="2049511" cy="274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9" sz="1916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Người dựng scene.</a:t>
            </a:r>
            <a:endParaRPr/>
          </a:p>
        </p:txBody>
      </p:sp>
      <p:sp>
        <p:nvSpPr>
          <p:cNvPr id="225" name="Google Shape;225;p4"/>
          <p:cNvSpPr/>
          <p:nvPr/>
        </p:nvSpPr>
        <p:spPr>
          <a:xfrm>
            <a:off x="209550" y="3429000"/>
            <a:ext cx="5886450" cy="3429000"/>
          </a:xfrm>
          <a:custGeom>
            <a:rect b="b" l="l" r="r" t="t"/>
            <a:pathLst>
              <a:path extrusionOk="0" h="3429000" w="5886450">
                <a:moveTo>
                  <a:pt x="0" y="0"/>
                </a:moveTo>
                <a:lnTo>
                  <a:pt x="5886450" y="0"/>
                </a:lnTo>
                <a:lnTo>
                  <a:pt x="588645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6" name="Google Shape;226;p4"/>
          <p:cNvSpPr/>
          <p:nvPr/>
        </p:nvSpPr>
        <p:spPr>
          <a:xfrm>
            <a:off x="428625" y="3638550"/>
            <a:ext cx="1314450" cy="438150"/>
          </a:xfrm>
          <a:custGeom>
            <a:rect b="b" l="l" r="r" t="t"/>
            <a:pathLst>
              <a:path extrusionOk="0"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7" name="Google Shape;227;p4"/>
          <p:cNvSpPr/>
          <p:nvPr/>
        </p:nvSpPr>
        <p:spPr>
          <a:xfrm>
            <a:off x="1733550" y="3638550"/>
            <a:ext cx="1314450" cy="438150"/>
          </a:xfrm>
          <a:custGeom>
            <a:rect b="b" l="l" r="r" t="t"/>
            <a:pathLst>
              <a:path extrusionOk="0"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8" name="Google Shape;228;p4"/>
          <p:cNvSpPr/>
          <p:nvPr/>
        </p:nvSpPr>
        <p:spPr>
          <a:xfrm>
            <a:off x="3048000" y="3638550"/>
            <a:ext cx="1524000" cy="438150"/>
          </a:xfrm>
          <a:custGeom>
            <a:rect b="b" l="l" r="r" t="t"/>
            <a:pathLst>
              <a:path extrusionOk="0" h="438150" w="1524000">
                <a:moveTo>
                  <a:pt x="0" y="0"/>
                </a:moveTo>
                <a:lnTo>
                  <a:pt x="1524000" y="0"/>
                </a:lnTo>
                <a:lnTo>
                  <a:pt x="15240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9" name="Google Shape;229;p4"/>
          <p:cNvSpPr/>
          <p:nvPr/>
        </p:nvSpPr>
        <p:spPr>
          <a:xfrm>
            <a:off x="4781550" y="3638550"/>
            <a:ext cx="1104900" cy="438150"/>
          </a:xfrm>
          <a:custGeom>
            <a:rect b="b" l="l" r="r" t="t"/>
            <a:pathLst>
              <a:path extrusionOk="0" h="438150" w="1104900">
                <a:moveTo>
                  <a:pt x="0" y="0"/>
                </a:moveTo>
                <a:lnTo>
                  <a:pt x="1104900" y="0"/>
                </a:lnTo>
                <a:lnTo>
                  <a:pt x="11049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0" name="Google Shape;230;p4"/>
          <p:cNvSpPr/>
          <p:nvPr/>
        </p:nvSpPr>
        <p:spPr>
          <a:xfrm>
            <a:off x="428625" y="6858000"/>
            <a:ext cx="1095375" cy="857250"/>
          </a:xfrm>
          <a:custGeom>
            <a:rect b="b" l="l" r="r" t="t"/>
            <a:pathLst>
              <a:path extrusionOk="0" h="857250" w="1095375">
                <a:moveTo>
                  <a:pt x="0" y="0"/>
                </a:moveTo>
                <a:lnTo>
                  <a:pt x="1095375" y="0"/>
                </a:lnTo>
                <a:lnTo>
                  <a:pt x="1095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1" name="Google Shape;231;p4"/>
          <p:cNvSpPr/>
          <p:nvPr/>
        </p:nvSpPr>
        <p:spPr>
          <a:xfrm>
            <a:off x="647700" y="6858000"/>
            <a:ext cx="876300" cy="647700"/>
          </a:xfrm>
          <a:custGeom>
            <a:rect b="b" l="l" r="r" t="t"/>
            <a:pathLst>
              <a:path extrusionOk="0"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2" name="Google Shape;232;p4"/>
          <p:cNvSpPr txBox="1"/>
          <p:nvPr/>
        </p:nvSpPr>
        <p:spPr>
          <a:xfrm>
            <a:off x="1584768" y="6930131"/>
            <a:ext cx="3615063" cy="499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06" sz="3577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10 bước thủ công*</a:t>
            </a:r>
            <a:endParaRPr/>
          </a:p>
        </p:txBody>
      </p:sp>
      <p:sp>
        <p:nvSpPr>
          <p:cNvPr id="233" name="Google Shape;233;p4"/>
          <p:cNvSpPr/>
          <p:nvPr/>
        </p:nvSpPr>
        <p:spPr>
          <a:xfrm>
            <a:off x="428625" y="7715250"/>
            <a:ext cx="5238750" cy="219075"/>
          </a:xfrm>
          <a:custGeom>
            <a:rect b="b" l="l" r="r" t="t"/>
            <a:pathLst>
              <a:path extrusionOk="0" h="219075" w="5238750">
                <a:moveTo>
                  <a:pt x="0" y="0"/>
                </a:moveTo>
                <a:lnTo>
                  <a:pt x="5238750" y="0"/>
                </a:lnTo>
                <a:lnTo>
                  <a:pt x="5238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4" name="Google Shape;234;p4"/>
          <p:cNvSpPr/>
          <p:nvPr/>
        </p:nvSpPr>
        <p:spPr>
          <a:xfrm>
            <a:off x="428625" y="7924800"/>
            <a:ext cx="447675" cy="438150"/>
          </a:xfrm>
          <a:custGeom>
            <a:rect b="b" l="l" r="r" t="t"/>
            <a:pathLst>
              <a:path extrusionOk="0"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5" name="Google Shape;235;p4"/>
          <p:cNvSpPr txBox="1"/>
          <p:nvPr/>
        </p:nvSpPr>
        <p:spPr>
          <a:xfrm>
            <a:off x="457598" y="8068637"/>
            <a:ext cx="5139434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Nhiều bước xử lý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thủ công rời rạc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qua các phần mềm.</a:t>
            </a:r>
            <a:endParaRPr/>
          </a:p>
        </p:txBody>
      </p:sp>
      <p:sp>
        <p:nvSpPr>
          <p:cNvPr id="236" name="Google Shape;236;p4"/>
          <p:cNvSpPr/>
          <p:nvPr/>
        </p:nvSpPr>
        <p:spPr>
          <a:xfrm>
            <a:off x="428625" y="9001125"/>
            <a:ext cx="447675" cy="428625"/>
          </a:xfrm>
          <a:custGeom>
            <a:rect b="b" l="l" r="r" t="t"/>
            <a:pathLst>
              <a:path extrusionOk="0"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7" name="Google Shape;237;p4"/>
          <p:cNvSpPr txBox="1"/>
          <p:nvPr/>
        </p:nvSpPr>
        <p:spPr>
          <a:xfrm>
            <a:off x="457028" y="8987837"/>
            <a:ext cx="5196376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Khó căn chỉnh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tỷ lệ không gian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nếu thiếu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 dữ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liệu do lạc đáng tin cậy.</a:t>
            </a:r>
            <a:endParaRPr/>
          </a:p>
        </p:txBody>
      </p:sp>
      <p:sp>
        <p:nvSpPr>
          <p:cNvPr id="238" name="Google Shape;238;p4"/>
          <p:cNvSpPr/>
          <p:nvPr/>
        </p:nvSpPr>
        <p:spPr>
          <a:xfrm>
            <a:off x="6096000" y="2143125"/>
            <a:ext cx="5886450" cy="8143875"/>
          </a:xfrm>
          <a:custGeom>
            <a:rect b="b" l="l" r="r" t="t"/>
            <a:pathLst>
              <a:path extrusionOk="0" h="8143875" w="5886450">
                <a:moveTo>
                  <a:pt x="0" y="0"/>
                </a:moveTo>
                <a:lnTo>
                  <a:pt x="5886450" y="0"/>
                </a:lnTo>
                <a:lnTo>
                  <a:pt x="5886450" y="8143875"/>
                </a:lnTo>
                <a:lnTo>
                  <a:pt x="0" y="8143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9" name="Google Shape;239;p4"/>
          <p:cNvSpPr/>
          <p:nvPr/>
        </p:nvSpPr>
        <p:spPr>
          <a:xfrm>
            <a:off x="6305550" y="2143125"/>
            <a:ext cx="1104900" cy="1285875"/>
          </a:xfrm>
          <a:custGeom>
            <a:rect b="b" l="l" r="r" t="t"/>
            <a:pathLst>
              <a:path extrusionOk="0" h="1285875" w="1104900">
                <a:moveTo>
                  <a:pt x="0" y="0"/>
                </a:moveTo>
                <a:lnTo>
                  <a:pt x="1104900" y="0"/>
                </a:lnTo>
                <a:lnTo>
                  <a:pt x="11049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0" name="Google Shape;240;p4"/>
          <p:cNvSpPr/>
          <p:nvPr/>
        </p:nvSpPr>
        <p:spPr>
          <a:xfrm>
            <a:off x="6524625" y="2352675"/>
            <a:ext cx="666750" cy="866775"/>
          </a:xfrm>
          <a:custGeom>
            <a:rect b="b" l="l" r="r" t="t"/>
            <a:pathLst>
              <a:path extrusionOk="0" h="866775" w="666750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4"/>
          <p:cNvSpPr txBox="1"/>
          <p:nvPr/>
        </p:nvSpPr>
        <p:spPr>
          <a:xfrm>
            <a:off x="7462636" y="2450423"/>
            <a:ext cx="3830161" cy="400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1" sz="2759" u="none" cap="none" strike="noStrike">
                <a:solidFill>
                  <a:srgbClr val="F8F3F0"/>
                </a:solidFill>
                <a:latin typeface="Roboto"/>
                <a:ea typeface="Roboto"/>
                <a:cs typeface="Roboto"/>
                <a:sym typeface="Roboto"/>
              </a:rPr>
              <a:t>KỸ SƯ TÍCH HỢP ROBOT</a:t>
            </a:r>
            <a:endParaRPr/>
          </a:p>
        </p:txBody>
      </p:sp>
      <p:sp>
        <p:nvSpPr>
          <p:cNvPr id="242" name="Google Shape;242;p4"/>
          <p:cNvSpPr txBox="1"/>
          <p:nvPr/>
        </p:nvSpPr>
        <p:spPr>
          <a:xfrm>
            <a:off x="7463398" y="2953509"/>
            <a:ext cx="3753956" cy="274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9" sz="1916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Người triển khai và kiểm thử robot.</a:t>
            </a:r>
            <a:endParaRPr/>
          </a:p>
        </p:txBody>
      </p:sp>
      <p:sp>
        <p:nvSpPr>
          <p:cNvPr id="243" name="Google Shape;243;p4"/>
          <p:cNvSpPr/>
          <p:nvPr/>
        </p:nvSpPr>
        <p:spPr>
          <a:xfrm>
            <a:off x="6096000" y="3429000"/>
            <a:ext cx="5886450" cy="3429000"/>
          </a:xfrm>
          <a:custGeom>
            <a:rect b="b" l="l" r="r" t="t"/>
            <a:pathLst>
              <a:path extrusionOk="0" h="3429000" w="5886450">
                <a:moveTo>
                  <a:pt x="0" y="0"/>
                </a:moveTo>
                <a:lnTo>
                  <a:pt x="5886450" y="0"/>
                </a:lnTo>
                <a:lnTo>
                  <a:pt x="588645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4" name="Google Shape;244;p4"/>
          <p:cNvSpPr/>
          <p:nvPr/>
        </p:nvSpPr>
        <p:spPr>
          <a:xfrm>
            <a:off x="6305550" y="6858000"/>
            <a:ext cx="885825" cy="857250"/>
          </a:xfrm>
          <a:custGeom>
            <a:rect b="b" l="l" r="r" t="t"/>
            <a:pathLst>
              <a:path extrusionOk="0" h="857250" w="885825">
                <a:moveTo>
                  <a:pt x="0" y="0"/>
                </a:moveTo>
                <a:lnTo>
                  <a:pt x="885825" y="0"/>
                </a:lnTo>
                <a:lnTo>
                  <a:pt x="885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5" name="Google Shape;245;p4"/>
          <p:cNvSpPr/>
          <p:nvPr/>
        </p:nvSpPr>
        <p:spPr>
          <a:xfrm>
            <a:off x="6305550" y="685800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6" name="Google Shape;246;p4"/>
          <p:cNvSpPr txBox="1"/>
          <p:nvPr/>
        </p:nvSpPr>
        <p:spPr>
          <a:xfrm>
            <a:off x="7272189" y="6974942"/>
            <a:ext cx="4134565" cy="449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4" sz="3168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Nhìn đúng # Chạy đúng</a:t>
            </a:r>
            <a:endParaRPr/>
          </a:p>
        </p:txBody>
      </p:sp>
      <p:sp>
        <p:nvSpPr>
          <p:cNvPr id="247" name="Google Shape;247;p4"/>
          <p:cNvSpPr/>
          <p:nvPr/>
        </p:nvSpPr>
        <p:spPr>
          <a:xfrm>
            <a:off x="6305550" y="7715250"/>
            <a:ext cx="5238750" cy="219075"/>
          </a:xfrm>
          <a:custGeom>
            <a:rect b="b" l="l" r="r" t="t"/>
            <a:pathLst>
              <a:path extrusionOk="0" h="219075" w="5238750">
                <a:moveTo>
                  <a:pt x="0" y="0"/>
                </a:moveTo>
                <a:lnTo>
                  <a:pt x="5238750" y="0"/>
                </a:lnTo>
                <a:lnTo>
                  <a:pt x="5238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8" name="Google Shape;248;p4"/>
          <p:cNvSpPr/>
          <p:nvPr/>
        </p:nvSpPr>
        <p:spPr>
          <a:xfrm>
            <a:off x="6305550" y="8143875"/>
            <a:ext cx="228600" cy="219075"/>
          </a:xfrm>
          <a:custGeom>
            <a:rect b="b" l="l" r="r" t="t"/>
            <a:pathLst>
              <a:path extrusionOk="0" h="219075" w="228600">
                <a:moveTo>
                  <a:pt x="0" y="0"/>
                </a:moveTo>
                <a:lnTo>
                  <a:pt x="228600" y="0"/>
                </a:lnTo>
                <a:lnTo>
                  <a:pt x="228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9" name="Google Shape;249;p4"/>
          <p:cNvSpPr txBox="1"/>
          <p:nvPr/>
        </p:nvSpPr>
        <p:spPr>
          <a:xfrm>
            <a:off x="6271209" y="8068637"/>
            <a:ext cx="5101025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1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Mô hình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nhìn đúng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chưa chắc phù hợp cho mô phỏng.</a:t>
            </a:r>
            <a:endParaRPr/>
          </a:p>
        </p:txBody>
      </p:sp>
      <p:sp>
        <p:nvSpPr>
          <p:cNvPr id="250" name="Google Shape;250;p4"/>
          <p:cNvSpPr/>
          <p:nvPr/>
        </p:nvSpPr>
        <p:spPr>
          <a:xfrm>
            <a:off x="6305550" y="9001125"/>
            <a:ext cx="228600" cy="428625"/>
          </a:xfrm>
          <a:custGeom>
            <a:rect b="b" l="l" r="r" t="t"/>
            <a:pathLst>
              <a:path extrusionOk="0"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1" name="Google Shape;251;p4"/>
          <p:cNvSpPr txBox="1"/>
          <p:nvPr/>
        </p:nvSpPr>
        <p:spPr>
          <a:xfrm>
            <a:off x="6273206" y="8987837"/>
            <a:ext cx="4901259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1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Collider không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phù hợp có thể khiến robot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 và chạm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hoặc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di chuyển không dùng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dự kiến.</a:t>
            </a:r>
            <a:endParaRPr/>
          </a:p>
        </p:txBody>
      </p:sp>
      <p:sp>
        <p:nvSpPr>
          <p:cNvPr id="252" name="Google Shape;252;p4"/>
          <p:cNvSpPr/>
          <p:nvPr/>
        </p:nvSpPr>
        <p:spPr>
          <a:xfrm>
            <a:off x="11972925" y="2143125"/>
            <a:ext cx="6105525" cy="8143875"/>
          </a:xfrm>
          <a:custGeom>
            <a:rect b="b" l="l" r="r" t="t"/>
            <a:pathLst>
              <a:path extrusionOk="0" h="8143875" w="6105525">
                <a:moveTo>
                  <a:pt x="0" y="0"/>
                </a:moveTo>
                <a:lnTo>
                  <a:pt x="6105525" y="0"/>
                </a:lnTo>
                <a:lnTo>
                  <a:pt x="6105525" y="8143875"/>
                </a:lnTo>
                <a:lnTo>
                  <a:pt x="0" y="8143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3" name="Google Shape;253;p4"/>
          <p:cNvSpPr/>
          <p:nvPr/>
        </p:nvSpPr>
        <p:spPr>
          <a:xfrm>
            <a:off x="12192000" y="2143125"/>
            <a:ext cx="1095375" cy="1285875"/>
          </a:xfrm>
          <a:custGeom>
            <a:rect b="b" l="l" r="r" t="t"/>
            <a:pathLst>
              <a:path extrusionOk="0"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4" name="Google Shape;254;p4"/>
          <p:cNvSpPr/>
          <p:nvPr/>
        </p:nvSpPr>
        <p:spPr>
          <a:xfrm>
            <a:off x="12401550" y="2352675"/>
            <a:ext cx="666750" cy="866775"/>
          </a:xfrm>
          <a:custGeom>
            <a:rect b="b" l="l" r="r" t="t"/>
            <a:pathLst>
              <a:path extrusionOk="0" h="866775" w="666750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5" name="Google Shape;255;p4"/>
          <p:cNvSpPr txBox="1"/>
          <p:nvPr/>
        </p:nvSpPr>
        <p:spPr>
          <a:xfrm>
            <a:off x="13383026" y="2450916"/>
            <a:ext cx="3829465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1" sz="2759" u="none" cap="none" strike="noStrike">
                <a:solidFill>
                  <a:srgbClr val="F8F3F0"/>
                </a:solidFill>
                <a:latin typeface="Roboto"/>
                <a:ea typeface="Roboto"/>
                <a:cs typeface="Roboto"/>
                <a:sym typeface="Roboto"/>
              </a:rPr>
              <a:t>TECH LEAD/ REVIEWER</a:t>
            </a:r>
            <a:endParaRPr/>
          </a:p>
        </p:txBody>
      </p:sp>
      <p:sp>
        <p:nvSpPr>
          <p:cNvPr id="256" name="Google Shape;256;p4"/>
          <p:cNvSpPr txBox="1"/>
          <p:nvPr/>
        </p:nvSpPr>
        <p:spPr>
          <a:xfrm>
            <a:off x="13389724" y="2953509"/>
            <a:ext cx="3159591" cy="274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9" sz="1916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Người đánh giá và phê duyệt.</a:t>
            </a:r>
            <a:endParaRPr/>
          </a:p>
        </p:txBody>
      </p:sp>
      <p:sp>
        <p:nvSpPr>
          <p:cNvPr id="257" name="Google Shape;257;p4"/>
          <p:cNvSpPr/>
          <p:nvPr/>
        </p:nvSpPr>
        <p:spPr>
          <a:xfrm>
            <a:off x="11972925" y="3429000"/>
            <a:ext cx="6105525" cy="3429000"/>
          </a:xfrm>
          <a:custGeom>
            <a:rect b="b" l="l" r="r" t="t"/>
            <a:pathLst>
              <a:path extrusionOk="0" h="3429000" w="6105525">
                <a:moveTo>
                  <a:pt x="0" y="0"/>
                </a:moveTo>
                <a:lnTo>
                  <a:pt x="6105525" y="0"/>
                </a:lnTo>
                <a:lnTo>
                  <a:pt x="6105525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8" name="Google Shape;258;p4"/>
          <p:cNvSpPr/>
          <p:nvPr/>
        </p:nvSpPr>
        <p:spPr>
          <a:xfrm>
            <a:off x="12192000" y="6858000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9" name="Google Shape;259;p4"/>
          <p:cNvSpPr/>
          <p:nvPr/>
        </p:nvSpPr>
        <p:spPr>
          <a:xfrm>
            <a:off x="12401550" y="685800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0" name="Google Shape;260;p4"/>
          <p:cNvSpPr txBox="1"/>
          <p:nvPr/>
        </p:nvSpPr>
        <p:spPr>
          <a:xfrm>
            <a:off x="13186422" y="6974942"/>
            <a:ext cx="4200443" cy="449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4" sz="3168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Thiếu dấu vết kiểm định</a:t>
            </a:r>
            <a:endParaRPr/>
          </a:p>
        </p:txBody>
      </p:sp>
      <p:sp>
        <p:nvSpPr>
          <p:cNvPr id="261" name="Google Shape;261;p4"/>
          <p:cNvSpPr/>
          <p:nvPr/>
        </p:nvSpPr>
        <p:spPr>
          <a:xfrm>
            <a:off x="12192000" y="7715250"/>
            <a:ext cx="5448300" cy="219075"/>
          </a:xfrm>
          <a:custGeom>
            <a:rect b="b" l="l" r="r" t="t"/>
            <a:pathLst>
              <a:path extrusionOk="0" h="219075" w="5448300">
                <a:moveTo>
                  <a:pt x="0" y="0"/>
                </a:moveTo>
                <a:lnTo>
                  <a:pt x="5448300" y="0"/>
                </a:lnTo>
                <a:lnTo>
                  <a:pt x="5448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2" name="Google Shape;262;p4"/>
          <p:cNvSpPr/>
          <p:nvPr/>
        </p:nvSpPr>
        <p:spPr>
          <a:xfrm>
            <a:off x="12192000" y="8143875"/>
            <a:ext cx="438150" cy="219075"/>
          </a:xfrm>
          <a:custGeom>
            <a:rect b="b" l="l" r="r" t="t"/>
            <a:pathLst>
              <a:path extrusionOk="0" h="219075" w="438150">
                <a:moveTo>
                  <a:pt x="0" y="0"/>
                </a:moveTo>
                <a:lnTo>
                  <a:pt x="438150" y="0"/>
                </a:lnTo>
                <a:lnTo>
                  <a:pt x="4381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3" name="Google Shape;263;p4"/>
          <p:cNvSpPr txBox="1"/>
          <p:nvPr/>
        </p:nvSpPr>
        <p:spPr>
          <a:xfrm>
            <a:off x="12217701" y="8068637"/>
            <a:ext cx="5168933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1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Khó tập trung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thông tin để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đối chiếu chất lượng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scene.</a:t>
            </a:r>
            <a:endParaRPr/>
          </a:p>
        </p:txBody>
      </p:sp>
      <p:sp>
        <p:nvSpPr>
          <p:cNvPr id="264" name="Google Shape;264;p4"/>
          <p:cNvSpPr/>
          <p:nvPr/>
        </p:nvSpPr>
        <p:spPr>
          <a:xfrm>
            <a:off x="12192000" y="9001125"/>
            <a:ext cx="438150" cy="428625"/>
          </a:xfrm>
          <a:custGeom>
            <a:rect b="b" l="l" r="r" t="t"/>
            <a:pathLst>
              <a:path extrusionOk="0"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5" name="Google Shape;265;p4"/>
          <p:cNvSpPr txBox="1"/>
          <p:nvPr/>
        </p:nvSpPr>
        <p:spPr>
          <a:xfrm>
            <a:off x="12220165" y="8987837"/>
            <a:ext cx="4922524" cy="6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92514" lvl="1" marL="385028" marR="0" rtl="0" algn="l">
              <a:lnSpc>
                <a:spcPct val="139966"/>
              </a:lnSpc>
              <a:spcBef>
                <a:spcPts val="0"/>
              </a:spcBef>
              <a:spcAft>
                <a:spcPts val="0"/>
              </a:spcAft>
              <a:buClr>
                <a:srgbClr val="292929"/>
              </a:buClr>
              <a:buSzPts val="1784"/>
              <a:buFont typeface="Arial"/>
              <a:buChar char="•"/>
            </a:pPr>
            <a:r>
              <a:rPr b="1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Khó theo dõi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phiên bản và xác định trạng thái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 kiểm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tra nếu thiếu </a:t>
            </a:r>
            <a:r>
              <a:rPr b="1" i="0" lang="en-US" spc="-27" sz="178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quy trình quản lý </a:t>
            </a:r>
            <a:r>
              <a:rPr b="0" i="0" lang="en-US" spc="-27" sz="1784" u="none" cap="none" strike="noStrike">
                <a:solidFill>
                  <a:srgbClr val="292929"/>
                </a:solidFill>
                <a:latin typeface="Roboto"/>
                <a:ea typeface="Roboto"/>
                <a:cs typeface="Roboto"/>
                <a:sym typeface="Roboto"/>
              </a:rPr>
              <a:t>rõ ràng.</a:t>
            </a:r>
            <a:endParaRPr/>
          </a:p>
        </p:txBody>
      </p:sp>
      <p:sp>
        <p:nvSpPr>
          <p:cNvPr id="266" name="Google Shape;266;p4"/>
          <p:cNvSpPr txBox="1"/>
          <p:nvPr/>
        </p:nvSpPr>
        <p:spPr>
          <a:xfrm>
            <a:off x="1474388" y="7534682"/>
            <a:ext cx="3415769" cy="215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pc="-22" sz="1494" u="none" cap="none" strike="noStrike">
                <a:solidFill>
                  <a:srgbClr val="E16B34"/>
                </a:solidFill>
                <a:latin typeface="Roboto"/>
                <a:ea typeface="Roboto"/>
                <a:cs typeface="Roboto"/>
                <a:sym typeface="Roboto"/>
              </a:rPr>
              <a:t>* Cần nhắm xác thực trước khi phát hành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2" name="Google Shape;272;p5"/>
          <p:cNvSpPr txBox="1"/>
          <p:nvPr/>
        </p:nvSpPr>
        <p:spPr>
          <a:xfrm>
            <a:off x="288451" y="309800"/>
            <a:ext cx="14017359" cy="8006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54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Biến bản scan thành bản soạn thảo của nhà kho.</a:t>
            </a:r>
            <a:endParaRPr/>
          </a:p>
        </p:txBody>
      </p:sp>
      <p:sp>
        <p:nvSpPr>
          <p:cNvPr id="273" name="Google Shape;273;p5"/>
          <p:cNvSpPr/>
          <p:nvPr/>
        </p:nvSpPr>
        <p:spPr>
          <a:xfrm>
            <a:off x="428625" y="106680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4" name="Google Shape;274;p5"/>
          <p:cNvSpPr txBox="1"/>
          <p:nvPr/>
        </p:nvSpPr>
        <p:spPr>
          <a:xfrm>
            <a:off x="1040824" y="1241189"/>
            <a:ext cx="3073900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9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Không vẽ lại bánh xe</a:t>
            </a:r>
            <a:endParaRPr/>
          </a:p>
        </p:txBody>
      </p:sp>
      <p:sp>
        <p:nvSpPr>
          <p:cNvPr id="275" name="Google Shape;275;p5"/>
          <p:cNvSpPr txBox="1"/>
          <p:nvPr/>
        </p:nvSpPr>
        <p:spPr>
          <a:xfrm>
            <a:off x="285871" y="1798736"/>
            <a:ext cx="14275427" cy="3309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79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Nhóm không làm lại bước tái tạo 3D (dùng COLMAP/Brush có sẵn), mà nói phần còn thiếu: Tách vật, gắn vật lý và kiểm chuẩn.</a:t>
            </a:r>
            <a:endParaRPr/>
          </a:p>
        </p:txBody>
      </p:sp>
      <p:sp>
        <p:nvSpPr>
          <p:cNvPr id="276" name="Google Shape;276;p5"/>
          <p:cNvSpPr/>
          <p:nvPr/>
        </p:nvSpPr>
        <p:spPr>
          <a:xfrm>
            <a:off x="209550" y="2143125"/>
            <a:ext cx="13944600" cy="2571750"/>
          </a:xfrm>
          <a:custGeom>
            <a:rect b="b" l="l" r="r" t="t"/>
            <a:pathLst>
              <a:path extrusionOk="0" h="2571750" w="13944600">
                <a:moveTo>
                  <a:pt x="0" y="0"/>
                </a:moveTo>
                <a:lnTo>
                  <a:pt x="13944600" y="0"/>
                </a:lnTo>
                <a:lnTo>
                  <a:pt x="13944600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7" name="Google Shape;277;p5"/>
          <p:cNvSpPr/>
          <p:nvPr/>
        </p:nvSpPr>
        <p:spPr>
          <a:xfrm>
            <a:off x="866775" y="2781300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8" name="Google Shape;278;p5"/>
          <p:cNvSpPr txBox="1"/>
          <p:nvPr/>
        </p:nvSpPr>
        <p:spPr>
          <a:xfrm>
            <a:off x="2319584" y="2782535"/>
            <a:ext cx="1106423" cy="400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59" u="none" cap="none" strike="noStrike">
                <a:solidFill>
                  <a:srgbClr val="169D8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VISUAL</a:t>
            </a:r>
            <a:endParaRPr/>
          </a:p>
        </p:txBody>
      </p:sp>
      <p:sp>
        <p:nvSpPr>
          <p:cNvPr id="279" name="Google Shape;279;p5"/>
          <p:cNvSpPr txBox="1"/>
          <p:nvPr/>
        </p:nvSpPr>
        <p:spPr>
          <a:xfrm>
            <a:off x="2309507" y="3335759"/>
            <a:ext cx="2114168" cy="8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Xem 3DGS tương tác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mượt mà ngay trên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Web Browser.</a:t>
            </a:r>
            <a:endParaRPr/>
          </a:p>
        </p:txBody>
      </p:sp>
      <p:sp>
        <p:nvSpPr>
          <p:cNvPr id="280" name="Google Shape;280;p5"/>
          <p:cNvSpPr/>
          <p:nvPr/>
        </p:nvSpPr>
        <p:spPr>
          <a:xfrm>
            <a:off x="5000625" y="2352675"/>
            <a:ext cx="8505825" cy="1933575"/>
          </a:xfrm>
          <a:custGeom>
            <a:rect b="b" l="l" r="r" t="t"/>
            <a:pathLst>
              <a:path extrusionOk="0" h="1933575" w="8505825">
                <a:moveTo>
                  <a:pt x="0" y="0"/>
                </a:moveTo>
                <a:lnTo>
                  <a:pt x="8505825" y="0"/>
                </a:lnTo>
                <a:lnTo>
                  <a:pt x="85058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1" name="Google Shape;281;p5"/>
          <p:cNvSpPr/>
          <p:nvPr/>
        </p:nvSpPr>
        <p:spPr>
          <a:xfrm>
            <a:off x="209550" y="4495800"/>
            <a:ext cx="13944600" cy="2362200"/>
          </a:xfrm>
          <a:custGeom>
            <a:rect b="b" l="l" r="r" t="t"/>
            <a:pathLst>
              <a:path extrusionOk="0" h="2362200" w="13944600">
                <a:moveTo>
                  <a:pt x="0" y="0"/>
                </a:moveTo>
                <a:lnTo>
                  <a:pt x="13944600" y="0"/>
                </a:lnTo>
                <a:lnTo>
                  <a:pt x="13944600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2" name="Google Shape;282;p5"/>
          <p:cNvSpPr/>
          <p:nvPr/>
        </p:nvSpPr>
        <p:spPr>
          <a:xfrm>
            <a:off x="866775" y="49244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3" name="Google Shape;283;p5"/>
          <p:cNvSpPr txBox="1"/>
          <p:nvPr/>
        </p:nvSpPr>
        <p:spPr>
          <a:xfrm>
            <a:off x="2314001" y="5012725"/>
            <a:ext cx="1664706" cy="400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59" u="none" cap="none" strike="noStrike">
                <a:solidFill>
                  <a:srgbClr val="3069A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GEOMETRY</a:t>
            </a:r>
            <a:endParaRPr/>
          </a:p>
        </p:txBody>
      </p:sp>
      <p:sp>
        <p:nvSpPr>
          <p:cNvPr id="284" name="Google Shape;284;p5"/>
          <p:cNvSpPr txBox="1"/>
          <p:nvPr/>
        </p:nvSpPr>
        <p:spPr>
          <a:xfrm>
            <a:off x="2310137" y="5550880"/>
            <a:ext cx="2051168" cy="8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Point cloud &amp; mesh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căn chỉnh chính xác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theo hệ mét thực tế.</a:t>
            </a:r>
            <a:endParaRPr/>
          </a:p>
        </p:txBody>
      </p:sp>
      <p:sp>
        <p:nvSpPr>
          <p:cNvPr id="285" name="Google Shape;285;p5"/>
          <p:cNvSpPr/>
          <p:nvPr/>
        </p:nvSpPr>
        <p:spPr>
          <a:xfrm>
            <a:off x="5000625" y="4714875"/>
            <a:ext cx="8505825" cy="1933575"/>
          </a:xfrm>
          <a:custGeom>
            <a:rect b="b" l="l" r="r" t="t"/>
            <a:pathLst>
              <a:path extrusionOk="0" h="1933575" w="8505825">
                <a:moveTo>
                  <a:pt x="0" y="0"/>
                </a:moveTo>
                <a:lnTo>
                  <a:pt x="8505825" y="0"/>
                </a:lnTo>
                <a:lnTo>
                  <a:pt x="85058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6" name="Google Shape;286;p5"/>
          <p:cNvSpPr/>
          <p:nvPr/>
        </p:nvSpPr>
        <p:spPr>
          <a:xfrm>
            <a:off x="5000625" y="5353050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7" name="Google Shape;287;p5"/>
          <p:cNvSpPr/>
          <p:nvPr/>
        </p:nvSpPr>
        <p:spPr>
          <a:xfrm>
            <a:off x="209550" y="6638925"/>
            <a:ext cx="13944600" cy="2362200"/>
          </a:xfrm>
          <a:custGeom>
            <a:rect b="b" l="l" r="r" t="t"/>
            <a:pathLst>
              <a:path extrusionOk="0" h="2362200" w="13944600">
                <a:moveTo>
                  <a:pt x="0" y="0"/>
                </a:moveTo>
                <a:lnTo>
                  <a:pt x="13944600" y="0"/>
                </a:lnTo>
                <a:lnTo>
                  <a:pt x="13944600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8" name="Google Shape;288;p5"/>
          <p:cNvSpPr/>
          <p:nvPr/>
        </p:nvSpPr>
        <p:spPr>
          <a:xfrm>
            <a:off x="866775" y="7067550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9" name="Google Shape;289;p5"/>
          <p:cNvSpPr txBox="1"/>
          <p:nvPr/>
        </p:nvSpPr>
        <p:spPr>
          <a:xfrm>
            <a:off x="2317360" y="7122364"/>
            <a:ext cx="1328882" cy="400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59" u="none" cap="none" strike="noStrike">
                <a:solidFill>
                  <a:srgbClr val="E4903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PHYSICS</a:t>
            </a:r>
            <a:endParaRPr/>
          </a:p>
        </p:txBody>
      </p:sp>
      <p:sp>
        <p:nvSpPr>
          <p:cNvPr id="290" name="Google Shape;290;p5"/>
          <p:cNvSpPr txBox="1"/>
          <p:nvPr/>
        </p:nvSpPr>
        <p:spPr>
          <a:xfrm>
            <a:off x="2308698" y="7645450"/>
            <a:ext cx="2195061" cy="8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Collider độc lập cho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từng vật, tách rời sàn,</a:t>
            </a:r>
            <a:endParaRPr/>
          </a:p>
          <a:p>
            <a:pPr indent="0" lvl="0" marL="0" marR="0" rtl="0" algn="l">
              <a:lnSpc>
                <a:spcPct val="11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sẵn sàng va chạm.</a:t>
            </a:r>
            <a:endParaRPr/>
          </a:p>
        </p:txBody>
      </p:sp>
      <p:sp>
        <p:nvSpPr>
          <p:cNvPr id="291" name="Google Shape;291;p5"/>
          <p:cNvSpPr/>
          <p:nvPr/>
        </p:nvSpPr>
        <p:spPr>
          <a:xfrm>
            <a:off x="5000625" y="6858000"/>
            <a:ext cx="8934450" cy="2143125"/>
          </a:xfrm>
          <a:custGeom>
            <a:rect b="b" l="l" r="r" t="t"/>
            <a:pathLst>
              <a:path extrusionOk="0" h="2143125" w="8934450">
                <a:moveTo>
                  <a:pt x="0" y="0"/>
                </a:moveTo>
                <a:lnTo>
                  <a:pt x="8934450" y="0"/>
                </a:lnTo>
                <a:lnTo>
                  <a:pt x="89344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2" name="Google Shape;292;p5"/>
          <p:cNvSpPr/>
          <p:nvPr/>
        </p:nvSpPr>
        <p:spPr>
          <a:xfrm>
            <a:off x="7181850" y="4067175"/>
            <a:ext cx="2181225" cy="2152650"/>
          </a:xfrm>
          <a:custGeom>
            <a:rect b="b" l="l" r="r" t="t"/>
            <a:pathLst>
              <a:path extrusionOk="0" h="2152650" w="2181225">
                <a:moveTo>
                  <a:pt x="0" y="0"/>
                </a:moveTo>
                <a:lnTo>
                  <a:pt x="2181225" y="0"/>
                </a:lnTo>
                <a:lnTo>
                  <a:pt x="2181225" y="2152650"/>
                </a:lnTo>
                <a:lnTo>
                  <a:pt x="0" y="21526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3" name="Google Shape;293;p5"/>
          <p:cNvSpPr txBox="1"/>
          <p:nvPr/>
        </p:nvSpPr>
        <p:spPr>
          <a:xfrm>
            <a:off x="7420570" y="4841190"/>
            <a:ext cx="1741289" cy="589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22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ONE</a:t>
            </a:r>
            <a:endParaRPr/>
          </a:p>
          <a:p>
            <a:pPr indent="0" lvl="0" marL="0" marR="0" rtl="0" algn="ctr">
              <a:lnSpc>
                <a:spcPct val="1099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22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TRANSFORM</a:t>
            </a:r>
            <a:endParaRPr/>
          </a:p>
        </p:txBody>
      </p:sp>
      <p:sp>
        <p:nvSpPr>
          <p:cNvPr id="294" name="Google Shape;294;p5"/>
          <p:cNvSpPr/>
          <p:nvPr/>
        </p:nvSpPr>
        <p:spPr>
          <a:xfrm>
            <a:off x="14363700" y="2571750"/>
            <a:ext cx="3276600" cy="6219825"/>
          </a:xfrm>
          <a:custGeom>
            <a:rect b="b" l="l" r="r" t="t"/>
            <a:pathLst>
              <a:path extrusionOk="0" h="6219825" w="3276600">
                <a:moveTo>
                  <a:pt x="0" y="0"/>
                </a:moveTo>
                <a:lnTo>
                  <a:pt x="3276600" y="0"/>
                </a:lnTo>
                <a:lnTo>
                  <a:pt x="3276600" y="6219825"/>
                </a:lnTo>
                <a:lnTo>
                  <a:pt x="0" y="6219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5" name="Google Shape;295;p5"/>
          <p:cNvSpPr/>
          <p:nvPr/>
        </p:nvSpPr>
        <p:spPr>
          <a:xfrm>
            <a:off x="15668625" y="3000375"/>
            <a:ext cx="885825" cy="857250"/>
          </a:xfrm>
          <a:custGeom>
            <a:rect b="b" l="l" r="r" t="t"/>
            <a:pathLst>
              <a:path extrusionOk="0" h="857250" w="885825">
                <a:moveTo>
                  <a:pt x="0" y="0"/>
                </a:moveTo>
                <a:lnTo>
                  <a:pt x="885825" y="0"/>
                </a:lnTo>
                <a:lnTo>
                  <a:pt x="885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6" name="Google Shape;296;p5"/>
          <p:cNvSpPr txBox="1"/>
          <p:nvPr/>
        </p:nvSpPr>
        <p:spPr>
          <a:xfrm>
            <a:off x="15109623" y="3972974"/>
            <a:ext cx="1908877" cy="775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59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ONE</a:t>
            </a:r>
            <a:endParaRPr/>
          </a:p>
          <a:p>
            <a:pPr indent="0" lvl="0" marL="0" marR="0" rtl="0" algn="ctr">
              <a:lnSpc>
                <a:spcPct val="1099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59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TRANSFORM</a:t>
            </a:r>
            <a:endParaRPr/>
          </a:p>
        </p:txBody>
      </p:sp>
      <p:sp>
        <p:nvSpPr>
          <p:cNvPr id="297" name="Google Shape;297;p5"/>
          <p:cNvSpPr/>
          <p:nvPr/>
        </p:nvSpPr>
        <p:spPr>
          <a:xfrm>
            <a:off x="14801850" y="4924425"/>
            <a:ext cx="2619375" cy="219075"/>
          </a:xfrm>
          <a:custGeom>
            <a:rect b="b" l="l" r="r" t="t"/>
            <a:pathLst>
              <a:path extrusionOk="0" h="219075" w="2619375">
                <a:moveTo>
                  <a:pt x="0" y="0"/>
                </a:moveTo>
                <a:lnTo>
                  <a:pt x="2619375" y="0"/>
                </a:lnTo>
                <a:lnTo>
                  <a:pt x="26193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8" name="Google Shape;298;p5"/>
          <p:cNvSpPr txBox="1"/>
          <p:nvPr/>
        </p:nvSpPr>
        <p:spPr>
          <a:xfrm>
            <a:off x="14924197" y="5270115"/>
            <a:ext cx="2409996" cy="1233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Dời hoặc xoay</a:t>
            </a:r>
            <a:endParaRPr/>
          </a:p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một vật →</a:t>
            </a:r>
            <a:endParaRPr/>
          </a:p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Visual + Geometry + Physics cùng cập nhật</a:t>
            </a:r>
            <a:endParaRPr/>
          </a:p>
        </p:txBody>
      </p:sp>
      <p:sp>
        <p:nvSpPr>
          <p:cNvPr id="299" name="Google Shape;299;p5"/>
          <p:cNvSpPr/>
          <p:nvPr/>
        </p:nvSpPr>
        <p:spPr>
          <a:xfrm>
            <a:off x="14582775" y="6638925"/>
            <a:ext cx="2838450" cy="1724025"/>
          </a:xfrm>
          <a:custGeom>
            <a:rect b="b" l="l" r="r" t="t"/>
            <a:pathLst>
              <a:path extrusionOk="0" h="1724025" w="2838450">
                <a:moveTo>
                  <a:pt x="0" y="0"/>
                </a:moveTo>
                <a:lnTo>
                  <a:pt x="2838450" y="0"/>
                </a:lnTo>
                <a:lnTo>
                  <a:pt x="283845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0" name="Google Shape;300;p5"/>
          <p:cNvSpPr/>
          <p:nvPr/>
        </p:nvSpPr>
        <p:spPr>
          <a:xfrm>
            <a:off x="209550" y="9001125"/>
            <a:ext cx="13506450" cy="1285875"/>
          </a:xfrm>
          <a:custGeom>
            <a:rect b="b" l="l" r="r" t="t"/>
            <a:pathLst>
              <a:path extrusionOk="0" h="1285875" w="13506450">
                <a:moveTo>
                  <a:pt x="0" y="0"/>
                </a:moveTo>
                <a:lnTo>
                  <a:pt x="13506450" y="0"/>
                </a:lnTo>
                <a:lnTo>
                  <a:pt x="135064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1" name="Google Shape;301;p5"/>
          <p:cNvSpPr/>
          <p:nvPr/>
        </p:nvSpPr>
        <p:spPr>
          <a:xfrm>
            <a:off x="647700" y="9001125"/>
            <a:ext cx="876300" cy="647700"/>
          </a:xfrm>
          <a:custGeom>
            <a:rect b="b" l="l" r="r" t="t"/>
            <a:pathLst>
              <a:path extrusionOk="0"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2" name="Google Shape;302;p5"/>
          <p:cNvSpPr txBox="1"/>
          <p:nvPr/>
        </p:nvSpPr>
        <p:spPr>
          <a:xfrm>
            <a:off x="1425304" y="9082533"/>
            <a:ext cx="10167253" cy="9298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Real2Sim Studio không làm lại phần tái tạo 3D. Chúng tôi giải quyết phần khó nhất:</a:t>
            </a:r>
            <a:endParaRPr/>
          </a:p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tự động phân rà scene thành 3 lớp đồng bộ — Hình ảnh, Hình học chuẩn mét và Vật lý va chạm.</a:t>
            </a:r>
            <a:endParaRPr/>
          </a:p>
          <a:p>
            <a:pPr indent="0" lvl="0" marL="0" marR="0" rtl="0" algn="l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47" u="none" cap="none" strike="noStrike">
                <a:solidFill>
                  <a:srgbClr val="3B24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Bạn di chuyển một chiếc pallet, cả 3 lớp chuyển động theo.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8" name="Google Shape;308;p6"/>
          <p:cNvSpPr txBox="1"/>
          <p:nvPr/>
        </p:nvSpPr>
        <p:spPr>
          <a:xfrm>
            <a:off x="346582" y="502815"/>
            <a:ext cx="16775983" cy="795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04" sz="52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Quy trình 7 bước: Từ Video thô đến Gói OpenUSD đã niêm phong</a:t>
            </a:r>
            <a:endParaRPr/>
          </a:p>
        </p:txBody>
      </p:sp>
      <p:sp>
        <p:nvSpPr>
          <p:cNvPr id="309" name="Google Shape;309;p6"/>
          <p:cNvSpPr/>
          <p:nvPr/>
        </p:nvSpPr>
        <p:spPr>
          <a:xfrm>
            <a:off x="428625" y="1285875"/>
            <a:ext cx="16992600" cy="428625"/>
          </a:xfrm>
          <a:custGeom>
            <a:rect b="b" l="l" r="r" t="t"/>
            <a:pathLst>
              <a:path extrusionOk="0" h="428625" w="16992600">
                <a:moveTo>
                  <a:pt x="0" y="0"/>
                </a:moveTo>
                <a:lnTo>
                  <a:pt x="16992600" y="0"/>
                </a:lnTo>
                <a:lnTo>
                  <a:pt x="16992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0" name="Google Shape;310;p6"/>
          <p:cNvSpPr/>
          <p:nvPr/>
        </p:nvSpPr>
        <p:spPr>
          <a:xfrm>
            <a:off x="209550" y="2571750"/>
            <a:ext cx="2628900" cy="5791200"/>
          </a:xfrm>
          <a:custGeom>
            <a:rect b="b" l="l" r="r" t="t"/>
            <a:pathLst>
              <a:path extrusionOk="0" h="5791200" w="2628900">
                <a:moveTo>
                  <a:pt x="0" y="0"/>
                </a:moveTo>
                <a:lnTo>
                  <a:pt x="2628900" y="0"/>
                </a:lnTo>
                <a:lnTo>
                  <a:pt x="2628900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1" name="Google Shape;311;p6"/>
          <p:cNvSpPr/>
          <p:nvPr/>
        </p:nvSpPr>
        <p:spPr>
          <a:xfrm>
            <a:off x="866775" y="2143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2" name="Google Shape;312;p6"/>
          <p:cNvSpPr txBox="1"/>
          <p:nvPr/>
        </p:nvSpPr>
        <p:spPr>
          <a:xfrm>
            <a:off x="1258357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01</a:t>
            </a:r>
            <a:endParaRPr/>
          </a:p>
        </p:txBody>
      </p:sp>
      <p:sp>
        <p:nvSpPr>
          <p:cNvPr id="313" name="Google Shape;313;p6"/>
          <p:cNvSpPr/>
          <p:nvPr/>
        </p:nvSpPr>
        <p:spPr>
          <a:xfrm>
            <a:off x="866775" y="3429000"/>
            <a:ext cx="1314450" cy="1504950"/>
          </a:xfrm>
          <a:custGeom>
            <a:rect b="b" l="l" r="r" t="t"/>
            <a:pathLst>
              <a:path extrusionOk="0" h="1504950" w="1314450">
                <a:moveTo>
                  <a:pt x="0" y="0"/>
                </a:moveTo>
                <a:lnTo>
                  <a:pt x="1314450" y="0"/>
                </a:lnTo>
                <a:lnTo>
                  <a:pt x="1314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4" name="Google Shape;314;p6"/>
          <p:cNvSpPr txBox="1"/>
          <p:nvPr/>
        </p:nvSpPr>
        <p:spPr>
          <a:xfrm>
            <a:off x="771684" y="5204296"/>
            <a:ext cx="1314489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Nạp dữ liệu</a:t>
            </a:r>
            <a:endParaRPr/>
          </a:p>
        </p:txBody>
      </p:sp>
      <p:sp>
        <p:nvSpPr>
          <p:cNvPr id="315" name="Google Shape;315;p6"/>
          <p:cNvSpPr txBox="1"/>
          <p:nvPr/>
        </p:nvSpPr>
        <p:spPr>
          <a:xfrm>
            <a:off x="545442" y="5818098"/>
            <a:ext cx="1766974" cy="967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Tải video MP4</a:t>
            </a:r>
            <a:endParaRPr/>
          </a:p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quay bằng</a:t>
            </a:r>
            <a:endParaRPr/>
          </a:p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camera di chuyển.</a:t>
            </a:r>
            <a:endParaRPr/>
          </a:p>
        </p:txBody>
      </p:sp>
      <p:sp>
        <p:nvSpPr>
          <p:cNvPr id="316" name="Google Shape;316;p6"/>
          <p:cNvSpPr/>
          <p:nvPr/>
        </p:nvSpPr>
        <p:spPr>
          <a:xfrm>
            <a:off x="428625" y="7286625"/>
            <a:ext cx="2190750" cy="857250"/>
          </a:xfrm>
          <a:custGeom>
            <a:rect b="b" l="l" r="r" t="t"/>
            <a:pathLst>
              <a:path extrusionOk="0" h="857250" w="2190750">
                <a:moveTo>
                  <a:pt x="0" y="0"/>
                </a:moveTo>
                <a:lnTo>
                  <a:pt x="2190750" y="0"/>
                </a:lnTo>
                <a:lnTo>
                  <a:pt x="2190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7" name="Google Shape;317;p6"/>
          <p:cNvSpPr/>
          <p:nvPr/>
        </p:nvSpPr>
        <p:spPr>
          <a:xfrm>
            <a:off x="647700" y="749617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8" name="Google Shape;318;p6"/>
          <p:cNvSpPr/>
          <p:nvPr/>
        </p:nvSpPr>
        <p:spPr>
          <a:xfrm>
            <a:off x="2609850" y="2571750"/>
            <a:ext cx="2619375" cy="5791200"/>
          </a:xfrm>
          <a:custGeom>
            <a:rect b="b" l="l" r="r" t="t"/>
            <a:pathLst>
              <a:path extrusionOk="0" h="5791200" w="2619375">
                <a:moveTo>
                  <a:pt x="0" y="0"/>
                </a:moveTo>
                <a:lnTo>
                  <a:pt x="2619375" y="0"/>
                </a:lnTo>
                <a:lnTo>
                  <a:pt x="2619375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9" name="Google Shape;319;p6"/>
          <p:cNvSpPr/>
          <p:nvPr/>
        </p:nvSpPr>
        <p:spPr>
          <a:xfrm>
            <a:off x="3476625" y="2143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0" name="Google Shape;320;p6"/>
          <p:cNvSpPr txBox="1"/>
          <p:nvPr/>
        </p:nvSpPr>
        <p:spPr>
          <a:xfrm>
            <a:off x="3776529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02</a:t>
            </a:r>
            <a:endParaRPr/>
          </a:p>
        </p:txBody>
      </p:sp>
      <p:sp>
        <p:nvSpPr>
          <p:cNvPr id="321" name="Google Shape;321;p6"/>
          <p:cNvSpPr/>
          <p:nvPr/>
        </p:nvSpPr>
        <p:spPr>
          <a:xfrm>
            <a:off x="3048000" y="3429000"/>
            <a:ext cx="1743075" cy="1504950"/>
          </a:xfrm>
          <a:custGeom>
            <a:rect b="b" l="l" r="r" t="t"/>
            <a:pathLst>
              <a:path extrusionOk="0" h="1504950" w="1743075">
                <a:moveTo>
                  <a:pt x="0" y="0"/>
                </a:moveTo>
                <a:lnTo>
                  <a:pt x="1743075" y="0"/>
                </a:lnTo>
                <a:lnTo>
                  <a:pt x="17430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2" name="Google Shape;322;p6"/>
          <p:cNvSpPr txBox="1"/>
          <p:nvPr/>
        </p:nvSpPr>
        <p:spPr>
          <a:xfrm>
            <a:off x="3342358" y="5204296"/>
            <a:ext cx="1175731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Tái tạo 3D</a:t>
            </a:r>
            <a:endParaRPr/>
          </a:p>
        </p:txBody>
      </p:sp>
      <p:sp>
        <p:nvSpPr>
          <p:cNvPr id="323" name="Google Shape;323;p6"/>
          <p:cNvSpPr txBox="1"/>
          <p:nvPr/>
        </p:nvSpPr>
        <p:spPr>
          <a:xfrm>
            <a:off x="2872106" y="5808784"/>
            <a:ext cx="2116236" cy="1298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Tách frame, COLMAP tính camera, Brush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đựng 3DGS, nén SOG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xem trên web.</a:t>
            </a:r>
            <a:endParaRPr/>
          </a:p>
        </p:txBody>
      </p:sp>
      <p:sp>
        <p:nvSpPr>
          <p:cNvPr id="324" name="Google Shape;324;p6"/>
          <p:cNvSpPr/>
          <p:nvPr/>
        </p:nvSpPr>
        <p:spPr>
          <a:xfrm>
            <a:off x="2828925" y="7286625"/>
            <a:ext cx="2181225" cy="857250"/>
          </a:xfrm>
          <a:custGeom>
            <a:rect b="b" l="l" r="r" t="t"/>
            <a:pathLst>
              <a:path extrusionOk="0" h="857250" w="2181225">
                <a:moveTo>
                  <a:pt x="0" y="0"/>
                </a:moveTo>
                <a:lnTo>
                  <a:pt x="2181225" y="0"/>
                </a:lnTo>
                <a:lnTo>
                  <a:pt x="2181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5" name="Google Shape;325;p6"/>
          <p:cNvSpPr/>
          <p:nvPr/>
        </p:nvSpPr>
        <p:spPr>
          <a:xfrm>
            <a:off x="3257550" y="749617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6" name="Google Shape;326;p6"/>
          <p:cNvSpPr/>
          <p:nvPr/>
        </p:nvSpPr>
        <p:spPr>
          <a:xfrm>
            <a:off x="5219700" y="2571750"/>
            <a:ext cx="2619375" cy="5791200"/>
          </a:xfrm>
          <a:custGeom>
            <a:rect b="b" l="l" r="r" t="t"/>
            <a:pathLst>
              <a:path extrusionOk="0" h="5791200" w="2619375">
                <a:moveTo>
                  <a:pt x="0" y="0"/>
                </a:moveTo>
                <a:lnTo>
                  <a:pt x="2619375" y="0"/>
                </a:lnTo>
                <a:lnTo>
                  <a:pt x="2619375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7" name="Google Shape;327;p6"/>
          <p:cNvSpPr/>
          <p:nvPr/>
        </p:nvSpPr>
        <p:spPr>
          <a:xfrm>
            <a:off x="5876925" y="1924050"/>
            <a:ext cx="1314450" cy="1295400"/>
          </a:xfrm>
          <a:custGeom>
            <a:rect b="b" l="l" r="r" t="t"/>
            <a:pathLst>
              <a:path extrusionOk="0" h="1295400" w="131445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8" name="Google Shape;328;p6"/>
          <p:cNvSpPr txBox="1"/>
          <p:nvPr/>
        </p:nvSpPr>
        <p:spPr>
          <a:xfrm>
            <a:off x="6321490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03</a:t>
            </a:r>
            <a:endParaRPr/>
          </a:p>
        </p:txBody>
      </p:sp>
      <p:sp>
        <p:nvSpPr>
          <p:cNvPr id="329" name="Google Shape;329;p6"/>
          <p:cNvSpPr/>
          <p:nvPr/>
        </p:nvSpPr>
        <p:spPr>
          <a:xfrm>
            <a:off x="5657850" y="3209925"/>
            <a:ext cx="1752600" cy="1724025"/>
          </a:xfrm>
          <a:custGeom>
            <a:rect b="b" l="l" r="r" t="t"/>
            <a:pathLst>
              <a:path extrusionOk="0" h="1724025" w="1752600">
                <a:moveTo>
                  <a:pt x="0" y="0"/>
                </a:moveTo>
                <a:lnTo>
                  <a:pt x="1752600" y="0"/>
                </a:lnTo>
                <a:lnTo>
                  <a:pt x="175260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0" name="Google Shape;330;p6"/>
          <p:cNvSpPr txBox="1"/>
          <p:nvPr/>
        </p:nvSpPr>
        <p:spPr>
          <a:xfrm>
            <a:off x="6021172" y="5204296"/>
            <a:ext cx="1015181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Tỉ lệ mét</a:t>
            </a:r>
            <a:endParaRPr/>
          </a:p>
        </p:txBody>
      </p:sp>
      <p:sp>
        <p:nvSpPr>
          <p:cNvPr id="331" name="Google Shape;331;p6"/>
          <p:cNvSpPr txBox="1"/>
          <p:nvPr/>
        </p:nvSpPr>
        <p:spPr>
          <a:xfrm>
            <a:off x="5472080" y="5818018"/>
            <a:ext cx="1982099" cy="967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Chọn 1 khoảng cách</a:t>
            </a:r>
            <a:endParaRPr/>
          </a:p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tham chiếu thực tế</a:t>
            </a:r>
            <a:endParaRPr/>
          </a:p>
          <a:p>
            <a:pPr indent="0" lvl="0" marL="0" marR="0" rtl="0" algn="ctr">
              <a:lnSpc>
                <a:spcPct val="1299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9" sz="198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để khóa hệ mét.</a:t>
            </a:r>
            <a:endParaRPr/>
          </a:p>
        </p:txBody>
      </p:sp>
      <p:sp>
        <p:nvSpPr>
          <p:cNvPr id="332" name="Google Shape;332;p6"/>
          <p:cNvSpPr/>
          <p:nvPr/>
        </p:nvSpPr>
        <p:spPr>
          <a:xfrm>
            <a:off x="5438775" y="7286625"/>
            <a:ext cx="2181225" cy="857250"/>
          </a:xfrm>
          <a:custGeom>
            <a:rect b="b" l="l" r="r" t="t"/>
            <a:pathLst>
              <a:path extrusionOk="0" h="857250" w="2181225">
                <a:moveTo>
                  <a:pt x="0" y="0"/>
                </a:moveTo>
                <a:lnTo>
                  <a:pt x="2181225" y="0"/>
                </a:lnTo>
                <a:lnTo>
                  <a:pt x="2181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3" name="Google Shape;333;p6"/>
          <p:cNvSpPr/>
          <p:nvPr/>
        </p:nvSpPr>
        <p:spPr>
          <a:xfrm>
            <a:off x="5438775" y="749617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4" name="Google Shape;334;p6"/>
          <p:cNvSpPr/>
          <p:nvPr/>
        </p:nvSpPr>
        <p:spPr>
          <a:xfrm>
            <a:off x="7829550" y="2571750"/>
            <a:ext cx="2628900" cy="5791200"/>
          </a:xfrm>
          <a:custGeom>
            <a:rect b="b" l="l" r="r" t="t"/>
            <a:pathLst>
              <a:path extrusionOk="0" h="5791200" w="2628900">
                <a:moveTo>
                  <a:pt x="0" y="0"/>
                </a:moveTo>
                <a:lnTo>
                  <a:pt x="2628900" y="0"/>
                </a:lnTo>
                <a:lnTo>
                  <a:pt x="2628900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5" name="Google Shape;335;p6"/>
          <p:cNvSpPr/>
          <p:nvPr/>
        </p:nvSpPr>
        <p:spPr>
          <a:xfrm>
            <a:off x="8486775" y="1924050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6" name="Google Shape;336;p6"/>
          <p:cNvSpPr txBox="1"/>
          <p:nvPr/>
        </p:nvSpPr>
        <p:spPr>
          <a:xfrm>
            <a:off x="8893240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04</a:t>
            </a:r>
            <a:endParaRPr/>
          </a:p>
        </p:txBody>
      </p:sp>
      <p:sp>
        <p:nvSpPr>
          <p:cNvPr id="337" name="Google Shape;337;p6"/>
          <p:cNvSpPr/>
          <p:nvPr/>
        </p:nvSpPr>
        <p:spPr>
          <a:xfrm>
            <a:off x="8048625" y="3429000"/>
            <a:ext cx="2190750" cy="1504950"/>
          </a:xfrm>
          <a:custGeom>
            <a:rect b="b" l="l" r="r" t="t"/>
            <a:pathLst>
              <a:path extrusionOk="0" h="1504950" w="2190750">
                <a:moveTo>
                  <a:pt x="0" y="0"/>
                </a:moveTo>
                <a:lnTo>
                  <a:pt x="2190750" y="0"/>
                </a:lnTo>
                <a:lnTo>
                  <a:pt x="21907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8" name="Google Shape;338;p6"/>
          <p:cNvSpPr txBox="1"/>
          <p:nvPr/>
        </p:nvSpPr>
        <p:spPr>
          <a:xfrm>
            <a:off x="8349499" y="5204296"/>
            <a:ext cx="1424338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Tách vật thể</a:t>
            </a:r>
            <a:endParaRPr/>
          </a:p>
        </p:txBody>
      </p:sp>
      <p:sp>
        <p:nvSpPr>
          <p:cNvPr id="339" name="Google Shape;339;p6"/>
          <p:cNvSpPr txBox="1"/>
          <p:nvPr/>
        </p:nvSpPr>
        <p:spPr>
          <a:xfrm>
            <a:off x="8070699" y="5808624"/>
            <a:ext cx="1981937" cy="1298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SAM2 dễ xuất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bounding box; kỹ sư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xác nhận, đổi tên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hoặc thêm vật cản.</a:t>
            </a:r>
            <a:endParaRPr/>
          </a:p>
        </p:txBody>
      </p:sp>
      <p:sp>
        <p:nvSpPr>
          <p:cNvPr id="340" name="Google Shape;340;p6"/>
          <p:cNvSpPr/>
          <p:nvPr/>
        </p:nvSpPr>
        <p:spPr>
          <a:xfrm>
            <a:off x="7829550" y="7286625"/>
            <a:ext cx="2409825" cy="857250"/>
          </a:xfrm>
          <a:custGeom>
            <a:rect b="b" l="l" r="r" t="t"/>
            <a:pathLst>
              <a:path extrusionOk="0" h="857250" w="2409825">
                <a:moveTo>
                  <a:pt x="0" y="0"/>
                </a:moveTo>
                <a:lnTo>
                  <a:pt x="2409825" y="0"/>
                </a:lnTo>
                <a:lnTo>
                  <a:pt x="2409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1" name="Google Shape;341;p6"/>
          <p:cNvSpPr/>
          <p:nvPr/>
        </p:nvSpPr>
        <p:spPr>
          <a:xfrm>
            <a:off x="8048625" y="7496175"/>
            <a:ext cx="447675" cy="647700"/>
          </a:xfrm>
          <a:custGeom>
            <a:rect b="b" l="l" r="r" t="t"/>
            <a:pathLst>
              <a:path extrusionOk="0"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2" name="Google Shape;342;p6"/>
          <p:cNvSpPr/>
          <p:nvPr/>
        </p:nvSpPr>
        <p:spPr>
          <a:xfrm>
            <a:off x="8486775" y="7496175"/>
            <a:ext cx="447675" cy="647700"/>
          </a:xfrm>
          <a:custGeom>
            <a:rect b="b" l="l" r="r" t="t"/>
            <a:pathLst>
              <a:path extrusionOk="0"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3" name="Google Shape;343;p6"/>
          <p:cNvSpPr/>
          <p:nvPr/>
        </p:nvSpPr>
        <p:spPr>
          <a:xfrm>
            <a:off x="10229850" y="2571750"/>
            <a:ext cx="2619375" cy="5791200"/>
          </a:xfrm>
          <a:custGeom>
            <a:rect b="b" l="l" r="r" t="t"/>
            <a:pathLst>
              <a:path extrusionOk="0" h="5791200" w="2619375">
                <a:moveTo>
                  <a:pt x="0" y="0"/>
                </a:moveTo>
                <a:lnTo>
                  <a:pt x="2619375" y="0"/>
                </a:lnTo>
                <a:lnTo>
                  <a:pt x="2619375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4" name="Google Shape;344;p6"/>
          <p:cNvSpPr/>
          <p:nvPr/>
        </p:nvSpPr>
        <p:spPr>
          <a:xfrm>
            <a:off x="11096625" y="2143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5" name="Google Shape;345;p6"/>
          <p:cNvSpPr txBox="1"/>
          <p:nvPr/>
        </p:nvSpPr>
        <p:spPr>
          <a:xfrm>
            <a:off x="11438201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05</a:t>
            </a:r>
            <a:endParaRPr/>
          </a:p>
        </p:txBody>
      </p:sp>
      <p:sp>
        <p:nvSpPr>
          <p:cNvPr id="346" name="Google Shape;346;p6"/>
          <p:cNvSpPr/>
          <p:nvPr/>
        </p:nvSpPr>
        <p:spPr>
          <a:xfrm>
            <a:off x="10668000" y="3429000"/>
            <a:ext cx="1743075" cy="1504950"/>
          </a:xfrm>
          <a:custGeom>
            <a:rect b="b" l="l" r="r" t="t"/>
            <a:pathLst>
              <a:path extrusionOk="0" h="1504950" w="1743075">
                <a:moveTo>
                  <a:pt x="0" y="0"/>
                </a:moveTo>
                <a:lnTo>
                  <a:pt x="1743075" y="0"/>
                </a:lnTo>
                <a:lnTo>
                  <a:pt x="17430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7" name="Google Shape;347;p6"/>
          <p:cNvSpPr txBox="1"/>
          <p:nvPr/>
        </p:nvSpPr>
        <p:spPr>
          <a:xfrm>
            <a:off x="10818012" y="5204296"/>
            <a:ext cx="1601345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Gói mô phỏng</a:t>
            </a:r>
            <a:endParaRPr/>
          </a:p>
        </p:txBody>
      </p:sp>
      <p:sp>
        <p:nvSpPr>
          <p:cNvPr id="348" name="Google Shape;348;p6"/>
          <p:cNvSpPr txBox="1"/>
          <p:nvPr/>
        </p:nvSpPr>
        <p:spPr>
          <a:xfrm>
            <a:off x="10561090" y="5808874"/>
            <a:ext cx="2115189" cy="1298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Tự động gắn collider, chạy 6/6 luật kiểm tra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kỹ thuật, xuất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scene.usda.</a:t>
            </a:r>
            <a:endParaRPr/>
          </a:p>
        </p:txBody>
      </p:sp>
      <p:sp>
        <p:nvSpPr>
          <p:cNvPr id="349" name="Google Shape;349;p6"/>
          <p:cNvSpPr/>
          <p:nvPr/>
        </p:nvSpPr>
        <p:spPr>
          <a:xfrm>
            <a:off x="10668000" y="7286625"/>
            <a:ext cx="1962150" cy="857250"/>
          </a:xfrm>
          <a:custGeom>
            <a:rect b="b" l="l" r="r" t="t"/>
            <a:pathLst>
              <a:path extrusionOk="0" h="857250" w="1962150">
                <a:moveTo>
                  <a:pt x="0" y="0"/>
                </a:moveTo>
                <a:lnTo>
                  <a:pt x="1962150" y="0"/>
                </a:lnTo>
                <a:lnTo>
                  <a:pt x="19621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0" name="Google Shape;350;p6"/>
          <p:cNvSpPr/>
          <p:nvPr/>
        </p:nvSpPr>
        <p:spPr>
          <a:xfrm>
            <a:off x="10877550" y="749617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1" name="Google Shape;351;p6"/>
          <p:cNvSpPr/>
          <p:nvPr/>
        </p:nvSpPr>
        <p:spPr>
          <a:xfrm>
            <a:off x="12839700" y="2571750"/>
            <a:ext cx="2619375" cy="5791200"/>
          </a:xfrm>
          <a:custGeom>
            <a:rect b="b" l="l" r="r" t="t"/>
            <a:pathLst>
              <a:path extrusionOk="0" h="5791200" w="2619375">
                <a:moveTo>
                  <a:pt x="0" y="0"/>
                </a:moveTo>
                <a:lnTo>
                  <a:pt x="2619375" y="0"/>
                </a:lnTo>
                <a:lnTo>
                  <a:pt x="2619375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2" name="Google Shape;352;p6"/>
          <p:cNvSpPr/>
          <p:nvPr/>
        </p:nvSpPr>
        <p:spPr>
          <a:xfrm>
            <a:off x="13716000" y="2143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3" name="Google Shape;353;p6"/>
          <p:cNvSpPr txBox="1"/>
          <p:nvPr/>
        </p:nvSpPr>
        <p:spPr>
          <a:xfrm>
            <a:off x="13983162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06</a:t>
            </a:r>
            <a:endParaRPr/>
          </a:p>
        </p:txBody>
      </p:sp>
      <p:sp>
        <p:nvSpPr>
          <p:cNvPr id="354" name="Google Shape;354;p6"/>
          <p:cNvSpPr/>
          <p:nvPr/>
        </p:nvSpPr>
        <p:spPr>
          <a:xfrm>
            <a:off x="13058775" y="3209925"/>
            <a:ext cx="2181225" cy="1724025"/>
          </a:xfrm>
          <a:custGeom>
            <a:rect b="b" l="l" r="r" t="t"/>
            <a:pathLst>
              <a:path extrusionOk="0" h="1724025" w="2181225">
                <a:moveTo>
                  <a:pt x="0" y="0"/>
                </a:moveTo>
                <a:lnTo>
                  <a:pt x="2181225" y="0"/>
                </a:lnTo>
                <a:lnTo>
                  <a:pt x="2181225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5" name="Google Shape;355;p6"/>
          <p:cNvSpPr txBox="1"/>
          <p:nvPr/>
        </p:nvSpPr>
        <p:spPr>
          <a:xfrm>
            <a:off x="13079229" y="5204297"/>
            <a:ext cx="2115254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Kiểm tra Isaac Sim</a:t>
            </a:r>
            <a:endParaRPr/>
          </a:p>
        </p:txBody>
      </p:sp>
      <p:sp>
        <p:nvSpPr>
          <p:cNvPr id="356" name="Google Shape;356;p6"/>
          <p:cNvSpPr txBox="1"/>
          <p:nvPr/>
        </p:nvSpPr>
        <p:spPr>
          <a:xfrm>
            <a:off x="13160779" y="5808811"/>
            <a:ext cx="1981623" cy="1298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Chạy thử robot ảo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giữa các điểm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Start-Goal xem có</a:t>
            </a:r>
            <a:endParaRPr/>
          </a:p>
          <a:p>
            <a:pPr indent="0" lvl="0" marL="0" marR="0" rtl="0" algn="ctr">
              <a:lnSpc>
                <a:spcPct val="12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thông đường không.</a:t>
            </a:r>
            <a:endParaRPr/>
          </a:p>
        </p:txBody>
      </p:sp>
      <p:sp>
        <p:nvSpPr>
          <p:cNvPr id="357" name="Google Shape;357;p6"/>
          <p:cNvSpPr/>
          <p:nvPr/>
        </p:nvSpPr>
        <p:spPr>
          <a:xfrm>
            <a:off x="13058775" y="7286625"/>
            <a:ext cx="2181225" cy="857250"/>
          </a:xfrm>
          <a:custGeom>
            <a:rect b="b" l="l" r="r" t="t"/>
            <a:pathLst>
              <a:path extrusionOk="0" h="857250" w="2181225">
                <a:moveTo>
                  <a:pt x="0" y="0"/>
                </a:moveTo>
                <a:lnTo>
                  <a:pt x="2181225" y="0"/>
                </a:lnTo>
                <a:lnTo>
                  <a:pt x="2181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8" name="Google Shape;358;p6"/>
          <p:cNvSpPr/>
          <p:nvPr/>
        </p:nvSpPr>
        <p:spPr>
          <a:xfrm>
            <a:off x="13496925" y="749617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9" name="Google Shape;359;p6"/>
          <p:cNvSpPr/>
          <p:nvPr/>
        </p:nvSpPr>
        <p:spPr>
          <a:xfrm>
            <a:off x="15449550" y="2571750"/>
            <a:ext cx="2628900" cy="5791200"/>
          </a:xfrm>
          <a:custGeom>
            <a:rect b="b" l="l" r="r" t="t"/>
            <a:pathLst>
              <a:path extrusionOk="0" h="5791200" w="2628900">
                <a:moveTo>
                  <a:pt x="0" y="0"/>
                </a:moveTo>
                <a:lnTo>
                  <a:pt x="2628900" y="0"/>
                </a:lnTo>
                <a:lnTo>
                  <a:pt x="2628900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0" name="Google Shape;360;p6"/>
          <p:cNvSpPr/>
          <p:nvPr/>
        </p:nvSpPr>
        <p:spPr>
          <a:xfrm>
            <a:off x="16106775" y="1924050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1" name="Google Shape;361;p6"/>
          <p:cNvSpPr txBox="1"/>
          <p:nvPr/>
        </p:nvSpPr>
        <p:spPr>
          <a:xfrm>
            <a:off x="16501334" y="2341215"/>
            <a:ext cx="412938" cy="491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64" sz="3234" u="none" cap="none" strike="noStrik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07</a:t>
            </a:r>
            <a:endParaRPr/>
          </a:p>
        </p:txBody>
      </p:sp>
      <p:sp>
        <p:nvSpPr>
          <p:cNvPr id="362" name="Google Shape;362;p6"/>
          <p:cNvSpPr/>
          <p:nvPr/>
        </p:nvSpPr>
        <p:spPr>
          <a:xfrm>
            <a:off x="15668625" y="3209925"/>
            <a:ext cx="2190750" cy="1724025"/>
          </a:xfrm>
          <a:custGeom>
            <a:rect b="b" l="l" r="r" t="t"/>
            <a:pathLst>
              <a:path extrusionOk="0" h="1724025" w="2190750">
                <a:moveTo>
                  <a:pt x="0" y="0"/>
                </a:moveTo>
                <a:lnTo>
                  <a:pt x="2190750" y="0"/>
                </a:lnTo>
                <a:lnTo>
                  <a:pt x="219075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3" name="Google Shape;363;p6"/>
          <p:cNvSpPr txBox="1"/>
          <p:nvPr/>
        </p:nvSpPr>
        <p:spPr>
          <a:xfrm>
            <a:off x="15651046" y="5194771"/>
            <a:ext cx="2115121" cy="322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0" sz="2047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Duyệt &amp; Niêm phong</a:t>
            </a:r>
            <a:endParaRPr/>
          </a:p>
        </p:txBody>
      </p:sp>
      <p:sp>
        <p:nvSpPr>
          <p:cNvPr id="364" name="Google Shape;364;p6"/>
          <p:cNvSpPr txBox="1"/>
          <p:nvPr/>
        </p:nvSpPr>
        <p:spPr>
          <a:xfrm>
            <a:off x="15650930" y="5853629"/>
            <a:ext cx="2115352" cy="12187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8" sz="191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Tech lead duyệt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8" sz="191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bằng chừng, đóng dấu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8" sz="191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hash manifest</a:t>
            </a:r>
            <a:endParaRPr/>
          </a:p>
          <a:p>
            <a:pPr indent="0" lvl="0" marL="0" marR="0" rtl="0" algn="ctr">
              <a:lnSpc>
                <a:spcPct val="12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8" sz="1916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chống sửa đổi.</a:t>
            </a:r>
            <a:endParaRPr/>
          </a:p>
        </p:txBody>
      </p:sp>
      <p:sp>
        <p:nvSpPr>
          <p:cNvPr id="365" name="Google Shape;365;p6"/>
          <p:cNvSpPr/>
          <p:nvPr/>
        </p:nvSpPr>
        <p:spPr>
          <a:xfrm>
            <a:off x="15668625" y="7286625"/>
            <a:ext cx="2190750" cy="857250"/>
          </a:xfrm>
          <a:custGeom>
            <a:rect b="b" l="l" r="r" t="t"/>
            <a:pathLst>
              <a:path extrusionOk="0" h="857250" w="2190750">
                <a:moveTo>
                  <a:pt x="0" y="0"/>
                </a:moveTo>
                <a:lnTo>
                  <a:pt x="2190750" y="0"/>
                </a:lnTo>
                <a:lnTo>
                  <a:pt x="2190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6" name="Google Shape;366;p6"/>
          <p:cNvSpPr/>
          <p:nvPr/>
        </p:nvSpPr>
        <p:spPr>
          <a:xfrm>
            <a:off x="15887700" y="7496175"/>
            <a:ext cx="447675" cy="647700"/>
          </a:xfrm>
          <a:custGeom>
            <a:rect b="b" l="l" r="r" t="t"/>
            <a:pathLst>
              <a:path extrusionOk="0"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7" name="Google Shape;367;p6"/>
          <p:cNvSpPr txBox="1"/>
          <p:nvPr/>
        </p:nvSpPr>
        <p:spPr>
          <a:xfrm>
            <a:off x="16574476" y="7670043"/>
            <a:ext cx="795410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F0853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Reviewer</a:t>
            </a:r>
            <a:endParaRPr/>
          </a:p>
        </p:txBody>
      </p:sp>
      <p:sp>
        <p:nvSpPr>
          <p:cNvPr id="368" name="Google Shape;368;p6"/>
          <p:cNvSpPr/>
          <p:nvPr/>
        </p:nvSpPr>
        <p:spPr>
          <a:xfrm>
            <a:off x="1085850" y="8353425"/>
            <a:ext cx="15897225" cy="1724025"/>
          </a:xfrm>
          <a:custGeom>
            <a:rect b="b" l="l" r="r" t="t"/>
            <a:pathLst>
              <a:path extrusionOk="0" h="1724025" w="15897225">
                <a:moveTo>
                  <a:pt x="0" y="0"/>
                </a:moveTo>
                <a:lnTo>
                  <a:pt x="15897225" y="0"/>
                </a:lnTo>
                <a:lnTo>
                  <a:pt x="15897225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9" name="Google Shape;369;p6"/>
          <p:cNvSpPr/>
          <p:nvPr/>
        </p:nvSpPr>
        <p:spPr>
          <a:xfrm>
            <a:off x="1304925" y="8782050"/>
            <a:ext cx="1533525" cy="1295400"/>
          </a:xfrm>
          <a:custGeom>
            <a:rect b="b" l="l" r="r" t="t"/>
            <a:pathLst>
              <a:path extrusionOk="0" h="1295400" w="1533525">
                <a:moveTo>
                  <a:pt x="0" y="0"/>
                </a:moveTo>
                <a:lnTo>
                  <a:pt x="1533525" y="0"/>
                </a:lnTo>
                <a:lnTo>
                  <a:pt x="153352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0" name="Google Shape;370;p6"/>
          <p:cNvSpPr/>
          <p:nvPr/>
        </p:nvSpPr>
        <p:spPr>
          <a:xfrm>
            <a:off x="4781550" y="8572500"/>
            <a:ext cx="885825" cy="857250"/>
          </a:xfrm>
          <a:custGeom>
            <a:rect b="b" l="l" r="r" t="t"/>
            <a:pathLst>
              <a:path extrusionOk="0" h="857250" w="885825">
                <a:moveTo>
                  <a:pt x="0" y="0"/>
                </a:moveTo>
                <a:lnTo>
                  <a:pt x="885825" y="0"/>
                </a:lnTo>
                <a:lnTo>
                  <a:pt x="885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1" name="Google Shape;371;p6"/>
          <p:cNvSpPr/>
          <p:nvPr/>
        </p:nvSpPr>
        <p:spPr>
          <a:xfrm>
            <a:off x="6743700" y="8782050"/>
            <a:ext cx="447675" cy="438150"/>
          </a:xfrm>
          <a:custGeom>
            <a:rect b="b" l="l" r="r" t="t"/>
            <a:pathLst>
              <a:path extrusionOk="0"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2" name="Google Shape;372;p6"/>
          <p:cNvSpPr/>
          <p:nvPr/>
        </p:nvSpPr>
        <p:spPr>
          <a:xfrm>
            <a:off x="8267700" y="8572500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3" name="Google Shape;373;p6"/>
          <p:cNvSpPr/>
          <p:nvPr/>
        </p:nvSpPr>
        <p:spPr>
          <a:xfrm>
            <a:off x="10448925" y="8782050"/>
            <a:ext cx="438150" cy="438150"/>
          </a:xfrm>
          <a:custGeom>
            <a:rect b="b" l="l" r="r" t="t"/>
            <a:pathLst>
              <a:path extrusionOk="0"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4" name="Google Shape;374;p6"/>
          <p:cNvSpPr/>
          <p:nvPr/>
        </p:nvSpPr>
        <p:spPr>
          <a:xfrm>
            <a:off x="11972925" y="8572500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5" name="Google Shape;375;p6"/>
          <p:cNvSpPr txBox="1"/>
          <p:nvPr/>
        </p:nvSpPr>
        <p:spPr>
          <a:xfrm>
            <a:off x="3058661" y="9519530"/>
            <a:ext cx="11824386" cy="376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8" sz="2443" u="none" cap="none" strike="noStrike">
                <a:solidFill>
                  <a:srgbClr val="2F1A0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Máy xử lý các tác vụ nặng; kỹ sư xác nhận 3 chốt chặn: ti lệ mét, vật thể và phê duyệt niêm phong.</a:t>
            </a:r>
            <a:endParaRPr/>
          </a:p>
        </p:txBody>
      </p:sp>
      <p:sp>
        <p:nvSpPr>
          <p:cNvPr id="376" name="Google Shape;376;p6"/>
          <p:cNvSpPr txBox="1"/>
          <p:nvPr/>
        </p:nvSpPr>
        <p:spPr>
          <a:xfrm>
            <a:off x="6067723" y="7670043"/>
            <a:ext cx="1339385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F0853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Người xác nhận</a:t>
            </a:r>
            <a:endParaRPr/>
          </a:p>
        </p:txBody>
      </p:sp>
      <p:sp>
        <p:nvSpPr>
          <p:cNvPr id="377" name="Google Shape;377;p6"/>
          <p:cNvSpPr txBox="1"/>
          <p:nvPr/>
        </p:nvSpPr>
        <p:spPr>
          <a:xfrm>
            <a:off x="8963383" y="7670043"/>
            <a:ext cx="1095259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F0853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Máy + Người</a:t>
            </a:r>
            <a:endParaRPr/>
          </a:p>
        </p:txBody>
      </p:sp>
      <p:sp>
        <p:nvSpPr>
          <p:cNvPr id="378" name="Google Shape;378;p6"/>
          <p:cNvSpPr txBox="1"/>
          <p:nvPr/>
        </p:nvSpPr>
        <p:spPr>
          <a:xfrm>
            <a:off x="1414538" y="7670043"/>
            <a:ext cx="528237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F0853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Người</a:t>
            </a:r>
            <a:endParaRPr/>
          </a:p>
        </p:txBody>
      </p:sp>
      <p:sp>
        <p:nvSpPr>
          <p:cNvPr id="379" name="Google Shape;379;p6"/>
          <p:cNvSpPr txBox="1"/>
          <p:nvPr/>
        </p:nvSpPr>
        <p:spPr>
          <a:xfrm>
            <a:off x="11703144" y="7670043"/>
            <a:ext cx="367644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3F799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Máy</a:t>
            </a:r>
            <a:endParaRPr/>
          </a:p>
        </p:txBody>
      </p:sp>
      <p:sp>
        <p:nvSpPr>
          <p:cNvPr id="380" name="Google Shape;380;p6"/>
          <p:cNvSpPr txBox="1"/>
          <p:nvPr/>
        </p:nvSpPr>
        <p:spPr>
          <a:xfrm>
            <a:off x="4014683" y="7670043"/>
            <a:ext cx="367644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3F799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Máy</a:t>
            </a:r>
            <a:endParaRPr/>
          </a:p>
        </p:txBody>
      </p:sp>
      <p:sp>
        <p:nvSpPr>
          <p:cNvPr id="381" name="Google Shape;381;p6"/>
          <p:cNvSpPr txBox="1"/>
          <p:nvPr/>
        </p:nvSpPr>
        <p:spPr>
          <a:xfrm>
            <a:off x="14248105" y="7670043"/>
            <a:ext cx="367644" cy="249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34" sz="1740" u="none" cap="none" strike="noStrike">
                <a:solidFill>
                  <a:srgbClr val="3F799D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Máy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7" name="Google Shape;387;p7"/>
          <p:cNvSpPr txBox="1"/>
          <p:nvPr/>
        </p:nvSpPr>
        <p:spPr>
          <a:xfrm>
            <a:off x="560673" y="352127"/>
            <a:ext cx="15667360" cy="902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969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Đã chạy thật trên phần cứng &amp; Cam kết nghiệm thu</a:t>
            </a:r>
            <a:endParaRPr/>
          </a:p>
        </p:txBody>
      </p:sp>
      <p:sp>
        <p:nvSpPr>
          <p:cNvPr id="388" name="Google Shape;388;p7"/>
          <p:cNvSpPr/>
          <p:nvPr/>
        </p:nvSpPr>
        <p:spPr>
          <a:xfrm>
            <a:off x="647700" y="1285875"/>
            <a:ext cx="1533525" cy="219075"/>
          </a:xfrm>
          <a:custGeom>
            <a:rect b="b" l="l" r="r" t="t"/>
            <a:pathLst>
              <a:path extrusionOk="0" h="219075" w="1533525">
                <a:moveTo>
                  <a:pt x="0" y="0"/>
                </a:moveTo>
                <a:lnTo>
                  <a:pt x="1533525" y="0"/>
                </a:lnTo>
                <a:lnTo>
                  <a:pt x="15335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9" name="Google Shape;389;p7"/>
          <p:cNvSpPr/>
          <p:nvPr/>
        </p:nvSpPr>
        <p:spPr>
          <a:xfrm>
            <a:off x="3914775" y="1495425"/>
            <a:ext cx="10239375" cy="1076325"/>
          </a:xfrm>
          <a:custGeom>
            <a:rect b="b" l="l" r="r" t="t"/>
            <a:pathLst>
              <a:path extrusionOk="0" h="1076325" w="10239375">
                <a:moveTo>
                  <a:pt x="0" y="0"/>
                </a:moveTo>
                <a:lnTo>
                  <a:pt x="10239375" y="0"/>
                </a:lnTo>
                <a:lnTo>
                  <a:pt x="10239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0" name="Google Shape;390;p7"/>
          <p:cNvSpPr/>
          <p:nvPr/>
        </p:nvSpPr>
        <p:spPr>
          <a:xfrm>
            <a:off x="6305550" y="1495425"/>
            <a:ext cx="885825" cy="866775"/>
          </a:xfrm>
          <a:custGeom>
            <a:rect b="b" l="l" r="r" t="t"/>
            <a:pathLst>
              <a:path extrusionOk="0" h="866775" w="885825">
                <a:moveTo>
                  <a:pt x="0" y="0"/>
                </a:moveTo>
                <a:lnTo>
                  <a:pt x="885825" y="0"/>
                </a:lnTo>
                <a:lnTo>
                  <a:pt x="8858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1" name="Google Shape;391;p7"/>
          <p:cNvSpPr txBox="1"/>
          <p:nvPr/>
        </p:nvSpPr>
        <p:spPr>
          <a:xfrm>
            <a:off x="7196104" y="1753530"/>
            <a:ext cx="4408356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96" u="none" cap="none" strike="noStrike">
                <a:solidFill>
                  <a:srgbClr val="E8762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Đã chạy thật trên GPU cục bộ</a:t>
            </a:r>
            <a:endParaRPr/>
          </a:p>
        </p:txBody>
      </p:sp>
      <p:sp>
        <p:nvSpPr>
          <p:cNvPr id="392" name="Google Shape;392;p7"/>
          <p:cNvSpPr/>
          <p:nvPr/>
        </p:nvSpPr>
        <p:spPr>
          <a:xfrm>
            <a:off x="866775" y="2571750"/>
            <a:ext cx="8067675" cy="6648450"/>
          </a:xfrm>
          <a:custGeom>
            <a:rect b="b" l="l" r="r" t="t"/>
            <a:pathLst>
              <a:path extrusionOk="0" h="6648450" w="8067675">
                <a:moveTo>
                  <a:pt x="0" y="0"/>
                </a:moveTo>
                <a:lnTo>
                  <a:pt x="8067675" y="0"/>
                </a:lnTo>
                <a:lnTo>
                  <a:pt x="8067675" y="6648450"/>
                </a:lnTo>
                <a:lnTo>
                  <a:pt x="0" y="6648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3" name="Google Shape;393;p7"/>
          <p:cNvSpPr/>
          <p:nvPr/>
        </p:nvSpPr>
        <p:spPr>
          <a:xfrm>
            <a:off x="1085850" y="2352675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4" name="Google Shape;394;p7"/>
          <p:cNvSpPr/>
          <p:nvPr/>
        </p:nvSpPr>
        <p:spPr>
          <a:xfrm>
            <a:off x="1085850" y="2571750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5" name="Google Shape;395;p7"/>
          <p:cNvSpPr/>
          <p:nvPr/>
        </p:nvSpPr>
        <p:spPr>
          <a:xfrm>
            <a:off x="1733550" y="2571750"/>
            <a:ext cx="7200900" cy="857250"/>
          </a:xfrm>
          <a:custGeom>
            <a:rect b="b" l="l" r="r" t="t"/>
            <a:pathLst>
              <a:path extrusionOk="0" h="857250" w="7200900">
                <a:moveTo>
                  <a:pt x="0" y="0"/>
                </a:moveTo>
                <a:lnTo>
                  <a:pt x="7200900" y="0"/>
                </a:lnTo>
                <a:lnTo>
                  <a:pt x="72009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6" name="Google Shape;396;p7"/>
          <p:cNvSpPr txBox="1"/>
          <p:nvPr/>
        </p:nvSpPr>
        <p:spPr>
          <a:xfrm>
            <a:off x="2645223" y="2823418"/>
            <a:ext cx="5566626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96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Đã chạy thật trên GPU Quadro T2000</a:t>
            </a:r>
            <a:endParaRPr/>
          </a:p>
        </p:txBody>
      </p:sp>
      <p:sp>
        <p:nvSpPr>
          <p:cNvPr id="397" name="Google Shape;397;p7"/>
          <p:cNvSpPr/>
          <p:nvPr/>
        </p:nvSpPr>
        <p:spPr>
          <a:xfrm>
            <a:off x="3695700" y="3638550"/>
            <a:ext cx="2400300" cy="647700"/>
          </a:xfrm>
          <a:custGeom>
            <a:rect b="b" l="l" r="r" t="t"/>
            <a:pathLst>
              <a:path extrusionOk="0" h="647700" w="2400300">
                <a:moveTo>
                  <a:pt x="0" y="0"/>
                </a:moveTo>
                <a:lnTo>
                  <a:pt x="2400300" y="0"/>
                </a:lnTo>
                <a:lnTo>
                  <a:pt x="2400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8" name="Google Shape;398;p7"/>
          <p:cNvSpPr txBox="1"/>
          <p:nvPr/>
        </p:nvSpPr>
        <p:spPr>
          <a:xfrm>
            <a:off x="4088898" y="3682343"/>
            <a:ext cx="1572352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MVP Status</a:t>
            </a:r>
            <a:endParaRPr/>
          </a:p>
        </p:txBody>
      </p:sp>
      <p:sp>
        <p:nvSpPr>
          <p:cNvPr id="399" name="Google Shape;399;p7"/>
          <p:cNvSpPr/>
          <p:nvPr/>
        </p:nvSpPr>
        <p:spPr>
          <a:xfrm>
            <a:off x="1304925" y="4286250"/>
            <a:ext cx="1962150" cy="1285875"/>
          </a:xfrm>
          <a:custGeom>
            <a:rect b="b" l="l" r="r" t="t"/>
            <a:pathLst>
              <a:path extrusionOk="0" h="1285875" w="1962150">
                <a:moveTo>
                  <a:pt x="0" y="0"/>
                </a:moveTo>
                <a:lnTo>
                  <a:pt x="1962150" y="0"/>
                </a:lnTo>
                <a:lnTo>
                  <a:pt x="19621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0" name="Google Shape;400;p7"/>
          <p:cNvSpPr txBox="1"/>
          <p:nvPr/>
        </p:nvSpPr>
        <p:spPr>
          <a:xfrm>
            <a:off x="1734797" y="4504525"/>
            <a:ext cx="1081867" cy="602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51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QUADRO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51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T200</a:t>
            </a:r>
            <a:endParaRPr/>
          </a:p>
        </p:txBody>
      </p:sp>
      <p:sp>
        <p:nvSpPr>
          <p:cNvPr id="401" name="Google Shape;401;p7"/>
          <p:cNvSpPr/>
          <p:nvPr/>
        </p:nvSpPr>
        <p:spPr>
          <a:xfrm>
            <a:off x="3476625" y="428625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2" name="Google Shape;402;p7"/>
          <p:cNvSpPr txBox="1"/>
          <p:nvPr/>
        </p:nvSpPr>
        <p:spPr>
          <a:xfrm>
            <a:off x="4112780" y="4381053"/>
            <a:ext cx="3952441" cy="10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Đã chạy end-to-end luồng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Video → 3DGS trên GPU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cục bộ (NVIDIA Quadro T2000).</a:t>
            </a:r>
            <a:endParaRPr/>
          </a:p>
        </p:txBody>
      </p:sp>
      <p:sp>
        <p:nvSpPr>
          <p:cNvPr id="403" name="Google Shape;403;p7"/>
          <p:cNvSpPr/>
          <p:nvPr/>
        </p:nvSpPr>
        <p:spPr>
          <a:xfrm>
            <a:off x="1304925" y="5781675"/>
            <a:ext cx="1095375" cy="1295400"/>
          </a:xfrm>
          <a:custGeom>
            <a:rect b="b" l="l" r="r" t="t"/>
            <a:pathLst>
              <a:path extrusionOk="0" h="1295400" w="1095375">
                <a:moveTo>
                  <a:pt x="0" y="0"/>
                </a:moveTo>
                <a:lnTo>
                  <a:pt x="1095375" y="0"/>
                </a:lnTo>
                <a:lnTo>
                  <a:pt x="1095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4" name="Google Shape;404;p7"/>
          <p:cNvSpPr/>
          <p:nvPr/>
        </p:nvSpPr>
        <p:spPr>
          <a:xfrm>
            <a:off x="2390775" y="5781675"/>
            <a:ext cx="876300" cy="1295400"/>
          </a:xfrm>
          <a:custGeom>
            <a:rect b="b" l="l" r="r" t="t"/>
            <a:pathLst>
              <a:path extrusionOk="0" h="1295400" w="876300">
                <a:moveTo>
                  <a:pt x="0" y="0"/>
                </a:moveTo>
                <a:lnTo>
                  <a:pt x="876300" y="0"/>
                </a:lnTo>
                <a:lnTo>
                  <a:pt x="8763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5" name="Google Shape;405;p7"/>
          <p:cNvSpPr/>
          <p:nvPr/>
        </p:nvSpPr>
        <p:spPr>
          <a:xfrm>
            <a:off x="3476625" y="578167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6" name="Google Shape;406;p7"/>
          <p:cNvSpPr txBox="1"/>
          <p:nvPr/>
        </p:nvSpPr>
        <p:spPr>
          <a:xfrm>
            <a:off x="4120911" y="5903007"/>
            <a:ext cx="3139417" cy="10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Gói mô phỏng đạt 6/6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luật kiểm tra kỹ thuật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trên dữ liệu nhà kho thật.</a:t>
            </a:r>
            <a:endParaRPr/>
          </a:p>
        </p:txBody>
      </p:sp>
      <p:sp>
        <p:nvSpPr>
          <p:cNvPr id="407" name="Google Shape;407;p7"/>
          <p:cNvSpPr/>
          <p:nvPr/>
        </p:nvSpPr>
        <p:spPr>
          <a:xfrm>
            <a:off x="1524000" y="7286625"/>
            <a:ext cx="1314450" cy="1076325"/>
          </a:xfrm>
          <a:custGeom>
            <a:rect b="b" l="l" r="r" t="t"/>
            <a:pathLst>
              <a:path extrusionOk="0" h="1076325" w="1314450">
                <a:moveTo>
                  <a:pt x="0" y="0"/>
                </a:moveTo>
                <a:lnTo>
                  <a:pt x="1314450" y="0"/>
                </a:lnTo>
                <a:lnTo>
                  <a:pt x="13144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8" name="Google Shape;408;p7"/>
          <p:cNvSpPr/>
          <p:nvPr/>
        </p:nvSpPr>
        <p:spPr>
          <a:xfrm>
            <a:off x="3476625" y="728662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9" name="Google Shape;409;p7"/>
          <p:cNvSpPr txBox="1"/>
          <p:nvPr/>
        </p:nvSpPr>
        <p:spPr>
          <a:xfrm>
            <a:off x="4121052" y="7470167"/>
            <a:ext cx="3125254" cy="10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Tách vật thể và gán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collider tự động, xuất gói</a:t>
            </a:r>
            <a:endParaRPr/>
          </a:p>
          <a:p>
            <a:pPr indent="0" lvl="0" marL="0" marR="0" rtl="0" algn="l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43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OpenUSD chuẩn.</a:t>
            </a:r>
            <a:endParaRPr/>
          </a:p>
        </p:txBody>
      </p:sp>
      <p:sp>
        <p:nvSpPr>
          <p:cNvPr id="410" name="Google Shape;410;p7"/>
          <p:cNvSpPr/>
          <p:nvPr/>
        </p:nvSpPr>
        <p:spPr>
          <a:xfrm>
            <a:off x="9144000" y="2571750"/>
            <a:ext cx="8058150" cy="6648450"/>
          </a:xfrm>
          <a:custGeom>
            <a:rect b="b" l="l" r="r" t="t"/>
            <a:pathLst>
              <a:path extrusionOk="0" h="6648450" w="8058150">
                <a:moveTo>
                  <a:pt x="0" y="0"/>
                </a:moveTo>
                <a:lnTo>
                  <a:pt x="8058150" y="0"/>
                </a:lnTo>
                <a:lnTo>
                  <a:pt x="8058150" y="6648450"/>
                </a:lnTo>
                <a:lnTo>
                  <a:pt x="0" y="66484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1" name="Google Shape;411;p7"/>
          <p:cNvSpPr/>
          <p:nvPr/>
        </p:nvSpPr>
        <p:spPr>
          <a:xfrm>
            <a:off x="9144000" y="2571750"/>
            <a:ext cx="7839075" cy="1076325"/>
          </a:xfrm>
          <a:custGeom>
            <a:rect b="b" l="l" r="r" t="t"/>
            <a:pathLst>
              <a:path extrusionOk="0" h="1076325" w="7839075">
                <a:moveTo>
                  <a:pt x="0" y="0"/>
                </a:moveTo>
                <a:lnTo>
                  <a:pt x="7839075" y="0"/>
                </a:lnTo>
                <a:lnTo>
                  <a:pt x="78390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2" name="Google Shape;412;p7"/>
          <p:cNvSpPr/>
          <p:nvPr/>
        </p:nvSpPr>
        <p:spPr>
          <a:xfrm>
            <a:off x="9572625" y="2571750"/>
            <a:ext cx="666750" cy="857250"/>
          </a:xfrm>
          <a:custGeom>
            <a:rect b="b" l="l" r="r" t="t"/>
            <a:pathLst>
              <a:path extrusionOk="0" h="857250" w="6667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3" name="Google Shape;413;p7"/>
          <p:cNvSpPr txBox="1"/>
          <p:nvPr/>
        </p:nvSpPr>
        <p:spPr>
          <a:xfrm>
            <a:off x="10726344" y="2823418"/>
            <a:ext cx="4211234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96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Cam kết đo đạc khách quan</a:t>
            </a:r>
            <a:endParaRPr/>
          </a:p>
        </p:txBody>
      </p:sp>
      <p:sp>
        <p:nvSpPr>
          <p:cNvPr id="414" name="Google Shape;414;p7"/>
          <p:cNvSpPr txBox="1"/>
          <p:nvPr/>
        </p:nvSpPr>
        <p:spPr>
          <a:xfrm>
            <a:off x="9644062" y="3694928"/>
            <a:ext cx="6965156" cy="3309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88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Hệ chỉ số nghiệm thu độc lập, không phải kết quả đã đạt được.</a:t>
            </a:r>
            <a:endParaRPr/>
          </a:p>
        </p:txBody>
      </p:sp>
      <p:sp>
        <p:nvSpPr>
          <p:cNvPr id="415" name="Google Shape;415;p7"/>
          <p:cNvSpPr/>
          <p:nvPr/>
        </p:nvSpPr>
        <p:spPr>
          <a:xfrm>
            <a:off x="9572625" y="449580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6" name="Google Shape;416;p7"/>
          <p:cNvSpPr/>
          <p:nvPr/>
        </p:nvSpPr>
        <p:spPr>
          <a:xfrm>
            <a:off x="10448925" y="4286250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7" name="Google Shape;417;p7"/>
          <p:cNvSpPr txBox="1"/>
          <p:nvPr/>
        </p:nvSpPr>
        <p:spPr>
          <a:xfrm>
            <a:off x="11735282" y="4797437"/>
            <a:ext cx="2511597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11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PSNR / SSIM / LPIPS</a:t>
            </a:r>
            <a:endParaRPr/>
          </a:p>
        </p:txBody>
      </p:sp>
      <p:sp>
        <p:nvSpPr>
          <p:cNvPr id="418" name="Google Shape;418;p7"/>
          <p:cNvSpPr/>
          <p:nvPr/>
        </p:nvSpPr>
        <p:spPr>
          <a:xfrm>
            <a:off x="9572625" y="5572125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9" name="Google Shape;419;p7"/>
          <p:cNvSpPr/>
          <p:nvPr/>
        </p:nvSpPr>
        <p:spPr>
          <a:xfrm>
            <a:off x="10448925" y="5353050"/>
            <a:ext cx="876300" cy="1076325"/>
          </a:xfrm>
          <a:custGeom>
            <a:rect b="b" l="l" r="r" t="t"/>
            <a:pathLst>
              <a:path extrusionOk="0" h="1076325" w="876300">
                <a:moveTo>
                  <a:pt x="0" y="0"/>
                </a:moveTo>
                <a:lnTo>
                  <a:pt x="876300" y="0"/>
                </a:lnTo>
                <a:lnTo>
                  <a:pt x="8763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0" name="Google Shape;420;p7"/>
          <p:cNvSpPr txBox="1"/>
          <p:nvPr/>
        </p:nvSpPr>
        <p:spPr>
          <a:xfrm>
            <a:off x="11739198" y="5550880"/>
            <a:ext cx="2120065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394B6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Hình học &amp; Tỉ lệ</a:t>
            </a:r>
            <a:endParaRPr/>
          </a:p>
        </p:txBody>
      </p:sp>
      <p:sp>
        <p:nvSpPr>
          <p:cNvPr id="421" name="Google Shape;421;p7"/>
          <p:cNvSpPr txBox="1"/>
          <p:nvPr/>
        </p:nvSpPr>
        <p:spPr>
          <a:xfrm>
            <a:off x="11716531" y="5942669"/>
            <a:ext cx="4386770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11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Sai lệch mét &amp; khoảng cách Chamfer</a:t>
            </a: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9572625" y="6858000"/>
            <a:ext cx="666750" cy="428625"/>
          </a:xfrm>
          <a:custGeom>
            <a:rect b="b" l="l" r="r" t="t"/>
            <a:pathLst>
              <a:path extrusionOk="0" h="428625" w="666750">
                <a:moveTo>
                  <a:pt x="0" y="0"/>
                </a:moveTo>
                <a:lnTo>
                  <a:pt x="666750" y="0"/>
                </a:lnTo>
                <a:lnTo>
                  <a:pt x="666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3" name="Google Shape;423;p7"/>
          <p:cNvSpPr/>
          <p:nvPr/>
        </p:nvSpPr>
        <p:spPr>
          <a:xfrm>
            <a:off x="10448925" y="6638925"/>
            <a:ext cx="876300" cy="866775"/>
          </a:xfrm>
          <a:custGeom>
            <a:rect b="b" l="l" r="r" t="t"/>
            <a:pathLst>
              <a:path extrusionOk="0"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4" name="Google Shape;424;p7"/>
          <p:cNvSpPr txBox="1"/>
          <p:nvPr/>
        </p:nvSpPr>
        <p:spPr>
          <a:xfrm>
            <a:off x="11741439" y="6711181"/>
            <a:ext cx="1895956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394B6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Vật lý &amp; Robot</a:t>
            </a:r>
            <a:endParaRPr/>
          </a:p>
        </p:txBody>
      </p:sp>
      <p:sp>
        <p:nvSpPr>
          <p:cNvPr id="425" name="Google Shape;425;p7"/>
          <p:cNvSpPr txBox="1"/>
          <p:nvPr/>
        </p:nvSpPr>
        <p:spPr>
          <a:xfrm>
            <a:off x="11746343" y="7102971"/>
            <a:ext cx="1405528" cy="3487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11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Collision F1</a:t>
            </a:r>
            <a:endParaRPr/>
          </a:p>
        </p:txBody>
      </p:sp>
      <p:sp>
        <p:nvSpPr>
          <p:cNvPr id="426" name="Google Shape;426;p7"/>
          <p:cNvSpPr/>
          <p:nvPr/>
        </p:nvSpPr>
        <p:spPr>
          <a:xfrm>
            <a:off x="9572625" y="7924800"/>
            <a:ext cx="666750" cy="647700"/>
          </a:xfrm>
          <a:custGeom>
            <a:rect b="b" l="l" r="r" t="t"/>
            <a:pathLst>
              <a:path extrusionOk="0"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7" name="Google Shape;427;p7"/>
          <p:cNvSpPr/>
          <p:nvPr/>
        </p:nvSpPr>
        <p:spPr>
          <a:xfrm>
            <a:off x="10229850" y="7715250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8" name="Google Shape;428;p7"/>
          <p:cNvSpPr txBox="1"/>
          <p:nvPr/>
        </p:nvSpPr>
        <p:spPr>
          <a:xfrm>
            <a:off x="11741010" y="7826276"/>
            <a:ext cx="1938853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394B6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Khả năng chạy</a:t>
            </a:r>
            <a:endParaRPr/>
          </a:p>
        </p:txBody>
      </p:sp>
      <p:sp>
        <p:nvSpPr>
          <p:cNvPr id="429" name="Google Shape;429;p7"/>
          <p:cNvSpPr txBox="1"/>
          <p:nvPr/>
        </p:nvSpPr>
        <p:spPr>
          <a:xfrm>
            <a:off x="11718812" y="8202997"/>
            <a:ext cx="4158618" cy="6881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11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Tỉ lệ thông đường (Path feasibility)</a:t>
            </a:r>
            <a:endParaRPr/>
          </a:p>
          <a:p>
            <a:pPr indent="0" lvl="0" marL="0" marR="0" rtl="0" algn="l">
              <a:lnSpc>
                <a:spcPct val="1200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11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trong Isaac Sim</a:t>
            </a:r>
            <a:endParaRPr/>
          </a:p>
        </p:txBody>
      </p:sp>
      <p:sp>
        <p:nvSpPr>
          <p:cNvPr id="430" name="Google Shape;430;p7"/>
          <p:cNvSpPr/>
          <p:nvPr/>
        </p:nvSpPr>
        <p:spPr>
          <a:xfrm>
            <a:off x="3257550" y="9210675"/>
            <a:ext cx="11334750" cy="1076325"/>
          </a:xfrm>
          <a:custGeom>
            <a:rect b="b" l="l" r="r" t="t"/>
            <a:pathLst>
              <a:path extrusionOk="0" h="1076325" w="11334750">
                <a:moveTo>
                  <a:pt x="0" y="0"/>
                </a:moveTo>
                <a:lnTo>
                  <a:pt x="11334750" y="0"/>
                </a:lnTo>
                <a:lnTo>
                  <a:pt x="11334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1" name="Google Shape;431;p7"/>
          <p:cNvSpPr/>
          <p:nvPr/>
        </p:nvSpPr>
        <p:spPr>
          <a:xfrm>
            <a:off x="3476625" y="9210675"/>
            <a:ext cx="885825" cy="866775"/>
          </a:xfrm>
          <a:custGeom>
            <a:rect b="b" l="l" r="r" t="t"/>
            <a:pathLst>
              <a:path extrusionOk="0" h="866775" w="885825">
                <a:moveTo>
                  <a:pt x="0" y="0"/>
                </a:moveTo>
                <a:lnTo>
                  <a:pt x="885825" y="0"/>
                </a:lnTo>
                <a:lnTo>
                  <a:pt x="8858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2" name="Google Shape;432;p7"/>
          <p:cNvSpPr txBox="1"/>
          <p:nvPr/>
        </p:nvSpPr>
        <p:spPr>
          <a:xfrm>
            <a:off x="4461303" y="9453711"/>
            <a:ext cx="8793001" cy="4380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96" u="none" cap="none" strike="noStrike">
                <a:solidFill>
                  <a:srgbClr val="321F15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Không tuyên bố sáo rỗng  — đo bằng bằng chứng kỹ thuật.</a:t>
            </a:r>
            <a:endParaRPr/>
          </a:p>
        </p:txBody>
      </p:sp>
      <p:sp>
        <p:nvSpPr>
          <p:cNvPr id="433" name="Google Shape;433;p7"/>
          <p:cNvSpPr/>
          <p:nvPr/>
        </p:nvSpPr>
        <p:spPr>
          <a:xfrm>
            <a:off x="16325850" y="8353425"/>
            <a:ext cx="1533525" cy="1504950"/>
          </a:xfrm>
          <a:custGeom>
            <a:rect b="b" l="l" r="r" t="t"/>
            <a:pathLst>
              <a:path extrusionOk="0" h="1504950" w="1533525">
                <a:moveTo>
                  <a:pt x="0" y="0"/>
                </a:moveTo>
                <a:lnTo>
                  <a:pt x="1533525" y="0"/>
                </a:lnTo>
                <a:lnTo>
                  <a:pt x="1533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4" name="Google Shape;434;p7"/>
          <p:cNvSpPr/>
          <p:nvPr/>
        </p:nvSpPr>
        <p:spPr>
          <a:xfrm>
            <a:off x="0" y="7715250"/>
            <a:ext cx="3267075" cy="2362200"/>
          </a:xfrm>
          <a:custGeom>
            <a:rect b="b" l="l" r="r" t="t"/>
            <a:pathLst>
              <a:path extrusionOk="0" h="2362200" w="3267075">
                <a:moveTo>
                  <a:pt x="0" y="0"/>
                </a:moveTo>
                <a:lnTo>
                  <a:pt x="3267075" y="0"/>
                </a:lnTo>
                <a:lnTo>
                  <a:pt x="3267075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5" name="Google Shape;435;p7"/>
          <p:cNvSpPr/>
          <p:nvPr/>
        </p:nvSpPr>
        <p:spPr>
          <a:xfrm>
            <a:off x="15668625" y="0"/>
            <a:ext cx="2619375" cy="1504950"/>
          </a:xfrm>
          <a:custGeom>
            <a:rect b="b" l="l" r="r" t="t"/>
            <a:pathLst>
              <a:path extrusionOk="0" h="1504950" w="2619375">
                <a:moveTo>
                  <a:pt x="0" y="0"/>
                </a:moveTo>
                <a:lnTo>
                  <a:pt x="2619375" y="0"/>
                </a:lnTo>
                <a:lnTo>
                  <a:pt x="2619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36" name="Google Shape;436;p7"/>
          <p:cNvSpPr txBox="1"/>
          <p:nvPr/>
        </p:nvSpPr>
        <p:spPr>
          <a:xfrm>
            <a:off x="11748554" y="4420716"/>
            <a:ext cx="1184483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394B6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Hình ảnh</a:t>
            </a:r>
            <a:endParaRPr/>
          </a:p>
        </p:txBody>
      </p:sp>
      <p:sp>
        <p:nvSpPr>
          <p:cNvPr id="437" name="Google Shape;437;p7"/>
          <p:cNvSpPr txBox="1"/>
          <p:nvPr/>
        </p:nvSpPr>
        <p:spPr>
          <a:xfrm>
            <a:off x="9795853" y="4571405"/>
            <a:ext cx="168979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1</a:t>
            </a:r>
            <a:endParaRPr/>
          </a:p>
        </p:txBody>
      </p:sp>
      <p:sp>
        <p:nvSpPr>
          <p:cNvPr id="438" name="Google Shape;438;p7"/>
          <p:cNvSpPr txBox="1"/>
          <p:nvPr/>
        </p:nvSpPr>
        <p:spPr>
          <a:xfrm>
            <a:off x="9795853" y="5746775"/>
            <a:ext cx="168979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</a:t>
            </a:r>
            <a:endParaRPr/>
          </a:p>
        </p:txBody>
      </p:sp>
      <p:sp>
        <p:nvSpPr>
          <p:cNvPr id="439" name="Google Shape;439;p7"/>
          <p:cNvSpPr txBox="1"/>
          <p:nvPr/>
        </p:nvSpPr>
        <p:spPr>
          <a:xfrm>
            <a:off x="9795853" y="6876938"/>
            <a:ext cx="168979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3</a:t>
            </a:r>
            <a:endParaRPr/>
          </a:p>
        </p:txBody>
      </p:sp>
      <p:sp>
        <p:nvSpPr>
          <p:cNvPr id="440" name="Google Shape;440;p7"/>
          <p:cNvSpPr txBox="1"/>
          <p:nvPr/>
        </p:nvSpPr>
        <p:spPr>
          <a:xfrm>
            <a:off x="9795853" y="8022171"/>
            <a:ext cx="168979" cy="384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75" u="none" cap="none" strike="noStrike">
                <a:solidFill>
                  <a:srgbClr val="FAF8F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8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46" name="Google Shape;446;p8"/>
          <p:cNvSpPr/>
          <p:nvPr/>
        </p:nvSpPr>
        <p:spPr>
          <a:xfrm>
            <a:off x="0" y="1066800"/>
            <a:ext cx="1524000" cy="2790825"/>
          </a:xfrm>
          <a:custGeom>
            <a:rect b="b" l="l" r="r" t="t"/>
            <a:pathLst>
              <a:path extrusionOk="0" h="2790825" w="1524000">
                <a:moveTo>
                  <a:pt x="0" y="0"/>
                </a:moveTo>
                <a:lnTo>
                  <a:pt x="1524000" y="0"/>
                </a:lnTo>
                <a:lnTo>
                  <a:pt x="15240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47" name="Google Shape;447;p8"/>
          <p:cNvSpPr/>
          <p:nvPr/>
        </p:nvSpPr>
        <p:spPr>
          <a:xfrm>
            <a:off x="16544925" y="1285875"/>
            <a:ext cx="1743075" cy="2571750"/>
          </a:xfrm>
          <a:custGeom>
            <a:rect b="b" l="l" r="r" t="t"/>
            <a:pathLst>
              <a:path extrusionOk="0" h="2571750" w="1743075">
                <a:moveTo>
                  <a:pt x="0" y="0"/>
                </a:moveTo>
                <a:lnTo>
                  <a:pt x="1743075" y="0"/>
                </a:lnTo>
                <a:lnTo>
                  <a:pt x="1743075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48" name="Google Shape;448;p8"/>
          <p:cNvSpPr txBox="1"/>
          <p:nvPr/>
        </p:nvSpPr>
        <p:spPr>
          <a:xfrm>
            <a:off x="2325004" y="545161"/>
            <a:ext cx="13650672" cy="927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29" sz="6480" u="none" cap="none" strike="noStrike">
                <a:solidFill>
                  <a:srgbClr val="33221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Một lõi </a:t>
            </a:r>
            <a:r>
              <a:rPr b="1" i="0" lang="en-US" spc="-129" sz="6480" u="none" cap="none" strike="noStrike">
                <a:solidFill>
                  <a:srgbClr val="86462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Real</a:t>
            </a:r>
            <a:r>
              <a:rPr b="1" i="0" lang="en-US" spc="-129" sz="6480" u="none" cap="none" strike="noStrike">
                <a:solidFill>
                  <a:srgbClr val="E06E2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2Sim</a:t>
            </a:r>
            <a:r>
              <a:rPr b="1" i="0" lang="en-US" spc="-129" sz="6480" u="none" cap="none" strike="noStrike">
                <a:solidFill>
                  <a:srgbClr val="33221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—  Nhiều bài toán thực tế</a:t>
            </a:r>
            <a:endParaRPr/>
          </a:p>
        </p:txBody>
      </p:sp>
      <p:sp>
        <p:nvSpPr>
          <p:cNvPr id="449" name="Google Shape;449;p8"/>
          <p:cNvSpPr/>
          <p:nvPr/>
        </p:nvSpPr>
        <p:spPr>
          <a:xfrm>
            <a:off x="8486775" y="1495425"/>
            <a:ext cx="1095375" cy="219075"/>
          </a:xfrm>
          <a:custGeom>
            <a:rect b="b" l="l" r="r" t="t"/>
            <a:pathLst>
              <a:path extrusionOk="0" h="219075" w="1095375">
                <a:moveTo>
                  <a:pt x="0" y="0"/>
                </a:moveTo>
                <a:lnTo>
                  <a:pt x="1095375" y="0"/>
                </a:lnTo>
                <a:lnTo>
                  <a:pt x="10953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0" name="Google Shape;450;p8"/>
          <p:cNvSpPr/>
          <p:nvPr/>
        </p:nvSpPr>
        <p:spPr>
          <a:xfrm>
            <a:off x="1304925" y="2143125"/>
            <a:ext cx="3924300" cy="857250"/>
          </a:xfrm>
          <a:custGeom>
            <a:rect b="b" l="l" r="r" t="t"/>
            <a:pathLst>
              <a:path extrusionOk="0" h="857250" w="3924300">
                <a:moveTo>
                  <a:pt x="0" y="0"/>
                </a:moveTo>
                <a:lnTo>
                  <a:pt x="3924300" y="0"/>
                </a:lnTo>
                <a:lnTo>
                  <a:pt x="3924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1" name="Google Shape;451;p8"/>
          <p:cNvSpPr/>
          <p:nvPr/>
        </p:nvSpPr>
        <p:spPr>
          <a:xfrm>
            <a:off x="1304925" y="2352675"/>
            <a:ext cx="657225" cy="438150"/>
          </a:xfrm>
          <a:custGeom>
            <a:rect b="b" l="l" r="r" t="t"/>
            <a:pathLst>
              <a:path extrusionOk="0" h="438150" w="657225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2" name="Google Shape;452;p8"/>
          <p:cNvSpPr txBox="1"/>
          <p:nvPr/>
        </p:nvSpPr>
        <p:spPr>
          <a:xfrm>
            <a:off x="2330648" y="2403231"/>
            <a:ext cx="3027164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F0F0E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DOMAIN ADAPTERS</a:t>
            </a:r>
            <a:endParaRPr/>
          </a:p>
        </p:txBody>
      </p:sp>
      <p:sp>
        <p:nvSpPr>
          <p:cNvPr id="453" name="Google Shape;453;p8"/>
          <p:cNvSpPr/>
          <p:nvPr/>
        </p:nvSpPr>
        <p:spPr>
          <a:xfrm>
            <a:off x="1304925" y="3000375"/>
            <a:ext cx="3924300" cy="3000375"/>
          </a:xfrm>
          <a:custGeom>
            <a:rect b="b" l="l" r="r" t="t"/>
            <a:pathLst>
              <a:path extrusionOk="0" h="3000375" w="3924300">
                <a:moveTo>
                  <a:pt x="0" y="0"/>
                </a:moveTo>
                <a:lnTo>
                  <a:pt x="3924300" y="0"/>
                </a:lnTo>
                <a:lnTo>
                  <a:pt x="39243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4" name="Google Shape;454;p8"/>
          <p:cNvSpPr/>
          <p:nvPr/>
        </p:nvSpPr>
        <p:spPr>
          <a:xfrm>
            <a:off x="1304925" y="3000375"/>
            <a:ext cx="3924300" cy="647700"/>
          </a:xfrm>
          <a:custGeom>
            <a:rect b="b" l="l" r="r" t="t"/>
            <a:pathLst>
              <a:path extrusionOk="0" h="647700" w="3924300">
                <a:moveTo>
                  <a:pt x="0" y="0"/>
                </a:moveTo>
                <a:lnTo>
                  <a:pt x="3924300" y="0"/>
                </a:lnTo>
                <a:lnTo>
                  <a:pt x="3924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5" name="Google Shape;455;p8"/>
          <p:cNvSpPr/>
          <p:nvPr/>
        </p:nvSpPr>
        <p:spPr>
          <a:xfrm>
            <a:off x="1524000" y="3638550"/>
            <a:ext cx="1524000" cy="1504950"/>
          </a:xfrm>
          <a:custGeom>
            <a:rect b="b" l="l" r="r" t="t"/>
            <a:pathLst>
              <a:path extrusionOk="0" h="1504950" w="1524000">
                <a:moveTo>
                  <a:pt x="0" y="0"/>
                </a:moveTo>
                <a:lnTo>
                  <a:pt x="1524000" y="0"/>
                </a:lnTo>
                <a:lnTo>
                  <a:pt x="15240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6" name="Google Shape;456;p8"/>
          <p:cNvSpPr txBox="1"/>
          <p:nvPr/>
        </p:nvSpPr>
        <p:spPr>
          <a:xfrm>
            <a:off x="3308565" y="4093382"/>
            <a:ext cx="1327872" cy="738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54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Nhà kho trong nhà</a:t>
            </a:r>
            <a:endParaRPr/>
          </a:p>
        </p:txBody>
      </p:sp>
      <p:sp>
        <p:nvSpPr>
          <p:cNvPr id="457" name="Google Shape;457;p8"/>
          <p:cNvSpPr txBox="1"/>
          <p:nvPr/>
        </p:nvSpPr>
        <p:spPr>
          <a:xfrm>
            <a:off x="1739285" y="5374416"/>
            <a:ext cx="2879310" cy="28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Pallet • Kệ hàng • Lối di hẹp</a:t>
            </a:r>
            <a:endParaRPr/>
          </a:p>
        </p:txBody>
      </p:sp>
      <p:sp>
        <p:nvSpPr>
          <p:cNvPr id="458" name="Google Shape;458;p8"/>
          <p:cNvSpPr/>
          <p:nvPr/>
        </p:nvSpPr>
        <p:spPr>
          <a:xfrm>
            <a:off x="5000625" y="4495800"/>
            <a:ext cx="1314450" cy="438150"/>
          </a:xfrm>
          <a:custGeom>
            <a:rect b="b" l="l" r="r" t="t"/>
            <a:pathLst>
              <a:path extrusionOk="0"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59" name="Google Shape;459;p8"/>
          <p:cNvSpPr/>
          <p:nvPr/>
        </p:nvSpPr>
        <p:spPr>
          <a:xfrm>
            <a:off x="1304925" y="6000750"/>
            <a:ext cx="3924300" cy="2571750"/>
          </a:xfrm>
          <a:custGeom>
            <a:rect b="b" l="l" r="r" t="t"/>
            <a:pathLst>
              <a:path extrusionOk="0" h="2571750" w="3924300">
                <a:moveTo>
                  <a:pt x="0" y="0"/>
                </a:moveTo>
                <a:lnTo>
                  <a:pt x="3924300" y="0"/>
                </a:lnTo>
                <a:lnTo>
                  <a:pt x="3924300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0" name="Google Shape;460;p8"/>
          <p:cNvSpPr/>
          <p:nvPr/>
        </p:nvSpPr>
        <p:spPr>
          <a:xfrm>
            <a:off x="1304925" y="6000750"/>
            <a:ext cx="3924300" cy="857250"/>
          </a:xfrm>
          <a:custGeom>
            <a:rect b="b" l="l" r="r" t="t"/>
            <a:pathLst>
              <a:path extrusionOk="0" h="857250" w="3924300">
                <a:moveTo>
                  <a:pt x="0" y="0"/>
                </a:moveTo>
                <a:lnTo>
                  <a:pt x="3924300" y="0"/>
                </a:lnTo>
                <a:lnTo>
                  <a:pt x="3924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1" name="Google Shape;461;p8"/>
          <p:cNvSpPr txBox="1"/>
          <p:nvPr/>
        </p:nvSpPr>
        <p:spPr>
          <a:xfrm>
            <a:off x="2314756" y="6293616"/>
            <a:ext cx="1589259" cy="28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86" u="none" cap="none" strike="noStrike">
                <a:solidFill>
                  <a:srgbClr val="E06E2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GIAI ĐOẠN TỚI</a:t>
            </a:r>
            <a:endParaRPr/>
          </a:p>
        </p:txBody>
      </p:sp>
      <p:sp>
        <p:nvSpPr>
          <p:cNvPr id="462" name="Google Shape;462;p8"/>
          <p:cNvSpPr/>
          <p:nvPr/>
        </p:nvSpPr>
        <p:spPr>
          <a:xfrm>
            <a:off x="1524000" y="6858000"/>
            <a:ext cx="1524000" cy="1285875"/>
          </a:xfrm>
          <a:custGeom>
            <a:rect b="b" l="l" r="r" t="t"/>
            <a:pathLst>
              <a:path extrusionOk="0" h="1285875" w="1524000">
                <a:moveTo>
                  <a:pt x="0" y="0"/>
                </a:moveTo>
                <a:lnTo>
                  <a:pt x="1524000" y="0"/>
                </a:lnTo>
                <a:lnTo>
                  <a:pt x="15240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3" name="Google Shape;463;p8"/>
          <p:cNvSpPr txBox="1"/>
          <p:nvPr/>
        </p:nvSpPr>
        <p:spPr>
          <a:xfrm>
            <a:off x="3308575" y="6804700"/>
            <a:ext cx="1500300" cy="15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87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Đường bộ</a:t>
            </a:r>
            <a:endParaRPr/>
          </a:p>
          <a:p>
            <a:pPr indent="0" lvl="0" marL="0" marR="0" rtl="0" algn="l">
              <a:lnSpc>
                <a:spcPct val="10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87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độ thị,</a:t>
            </a:r>
            <a:endParaRPr/>
          </a:p>
          <a:p>
            <a:pPr indent="0" lvl="0" marL="0" marR="0" rtl="0" algn="l">
              <a:lnSpc>
                <a:spcPct val="109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87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công trường ngoài trời</a:t>
            </a:r>
            <a:endParaRPr/>
          </a:p>
        </p:txBody>
      </p:sp>
      <p:sp>
        <p:nvSpPr>
          <p:cNvPr id="464" name="Google Shape;464;p8"/>
          <p:cNvSpPr/>
          <p:nvPr/>
        </p:nvSpPr>
        <p:spPr>
          <a:xfrm>
            <a:off x="5000625" y="7067550"/>
            <a:ext cx="1095375" cy="438150"/>
          </a:xfrm>
          <a:custGeom>
            <a:rect b="b" l="l" r="r" t="t"/>
            <a:pathLst>
              <a:path extrusionOk="0" h="438150" w="1095375">
                <a:moveTo>
                  <a:pt x="0" y="0"/>
                </a:moveTo>
                <a:lnTo>
                  <a:pt x="1095375" y="0"/>
                </a:lnTo>
                <a:lnTo>
                  <a:pt x="10953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5" name="Google Shape;465;p8"/>
          <p:cNvSpPr/>
          <p:nvPr/>
        </p:nvSpPr>
        <p:spPr>
          <a:xfrm>
            <a:off x="5876925" y="2352675"/>
            <a:ext cx="6315075" cy="5791200"/>
          </a:xfrm>
          <a:custGeom>
            <a:rect b="b" l="l" r="r" t="t"/>
            <a:pathLst>
              <a:path extrusionOk="0" h="5791200" w="6315075">
                <a:moveTo>
                  <a:pt x="0" y="0"/>
                </a:moveTo>
                <a:lnTo>
                  <a:pt x="6315075" y="0"/>
                </a:lnTo>
                <a:lnTo>
                  <a:pt x="6315075" y="5791200"/>
                </a:lnTo>
                <a:lnTo>
                  <a:pt x="0" y="57912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6" name="Google Shape;466;p8"/>
          <p:cNvSpPr txBox="1"/>
          <p:nvPr/>
        </p:nvSpPr>
        <p:spPr>
          <a:xfrm>
            <a:off x="7044622" y="3097170"/>
            <a:ext cx="4206078" cy="15320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84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Universal Real2Sim Core</a:t>
            </a:r>
            <a:endParaRPr/>
          </a:p>
        </p:txBody>
      </p:sp>
      <p:sp>
        <p:nvSpPr>
          <p:cNvPr id="467" name="Google Shape;467;p8"/>
          <p:cNvSpPr/>
          <p:nvPr/>
        </p:nvSpPr>
        <p:spPr>
          <a:xfrm>
            <a:off x="6524625" y="4714875"/>
            <a:ext cx="5019675" cy="428625"/>
          </a:xfrm>
          <a:custGeom>
            <a:rect b="b" l="l" r="r" t="t"/>
            <a:pathLst>
              <a:path extrusionOk="0" h="428625" w="5019675">
                <a:moveTo>
                  <a:pt x="0" y="0"/>
                </a:moveTo>
                <a:lnTo>
                  <a:pt x="5019675" y="0"/>
                </a:lnTo>
                <a:lnTo>
                  <a:pt x="5019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8" name="Google Shape;468;p8"/>
          <p:cNvSpPr/>
          <p:nvPr/>
        </p:nvSpPr>
        <p:spPr>
          <a:xfrm>
            <a:off x="8705850" y="4714875"/>
            <a:ext cx="657225" cy="428625"/>
          </a:xfrm>
          <a:custGeom>
            <a:rect b="b" l="l" r="r" t="t"/>
            <a:pathLst>
              <a:path extrusionOk="0"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69" name="Google Shape;469;p8"/>
          <p:cNvSpPr/>
          <p:nvPr/>
        </p:nvSpPr>
        <p:spPr>
          <a:xfrm>
            <a:off x="6524625" y="5353050"/>
            <a:ext cx="1314450" cy="1295400"/>
          </a:xfrm>
          <a:custGeom>
            <a:rect b="b" l="l" r="r" t="t"/>
            <a:pathLst>
              <a:path extrusionOk="0" h="1295400" w="131445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0" name="Google Shape;470;p8"/>
          <p:cNvSpPr/>
          <p:nvPr/>
        </p:nvSpPr>
        <p:spPr>
          <a:xfrm>
            <a:off x="8486775" y="5353050"/>
            <a:ext cx="1314450" cy="1295400"/>
          </a:xfrm>
          <a:custGeom>
            <a:rect b="b" l="l" r="r" t="t"/>
            <a:pathLst>
              <a:path extrusionOk="0" h="1295400" w="131445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1" name="Google Shape;471;p8"/>
          <p:cNvSpPr txBox="1"/>
          <p:nvPr/>
        </p:nvSpPr>
        <p:spPr>
          <a:xfrm>
            <a:off x="8358188" y="6773899"/>
            <a:ext cx="1500188" cy="626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4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Phân đoạn vật thể</a:t>
            </a:r>
            <a:endParaRPr/>
          </a:p>
        </p:txBody>
      </p:sp>
      <p:sp>
        <p:nvSpPr>
          <p:cNvPr id="472" name="Google Shape;472;p8"/>
          <p:cNvSpPr/>
          <p:nvPr/>
        </p:nvSpPr>
        <p:spPr>
          <a:xfrm>
            <a:off x="10229850" y="5353050"/>
            <a:ext cx="1314450" cy="1295400"/>
          </a:xfrm>
          <a:custGeom>
            <a:rect b="b" l="l" r="r" t="t"/>
            <a:pathLst>
              <a:path extrusionOk="0" h="1295400" w="1314450">
                <a:moveTo>
                  <a:pt x="0" y="0"/>
                </a:moveTo>
                <a:lnTo>
                  <a:pt x="1314450" y="0"/>
                </a:lnTo>
                <a:lnTo>
                  <a:pt x="13144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3" name="Google Shape;473;p8"/>
          <p:cNvSpPr/>
          <p:nvPr/>
        </p:nvSpPr>
        <p:spPr>
          <a:xfrm>
            <a:off x="6962775" y="7715250"/>
            <a:ext cx="4143375" cy="647700"/>
          </a:xfrm>
          <a:custGeom>
            <a:rect b="b" l="l" r="r" t="t"/>
            <a:pathLst>
              <a:path extrusionOk="0" h="647700" w="4143375">
                <a:moveTo>
                  <a:pt x="0" y="0"/>
                </a:moveTo>
                <a:lnTo>
                  <a:pt x="4143375" y="0"/>
                </a:lnTo>
                <a:lnTo>
                  <a:pt x="41433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4" name="Google Shape;474;p8"/>
          <p:cNvSpPr/>
          <p:nvPr/>
        </p:nvSpPr>
        <p:spPr>
          <a:xfrm>
            <a:off x="7181850" y="7715250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5" name="Google Shape;475;p8"/>
          <p:cNvSpPr txBox="1"/>
          <p:nvPr/>
        </p:nvSpPr>
        <p:spPr>
          <a:xfrm>
            <a:off x="7956352" y="7843085"/>
            <a:ext cx="2920008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F0F0E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Unified 3D Data Layer</a:t>
            </a:r>
            <a:endParaRPr/>
          </a:p>
        </p:txBody>
      </p:sp>
      <p:sp>
        <p:nvSpPr>
          <p:cNvPr id="476" name="Google Shape;476;p8"/>
          <p:cNvSpPr/>
          <p:nvPr/>
        </p:nvSpPr>
        <p:spPr>
          <a:xfrm>
            <a:off x="11753850" y="4495800"/>
            <a:ext cx="1533525" cy="438150"/>
          </a:xfrm>
          <a:custGeom>
            <a:rect b="b" l="l" r="r" t="t"/>
            <a:pathLst>
              <a:path extrusionOk="0" h="438150" w="1533525">
                <a:moveTo>
                  <a:pt x="0" y="0"/>
                </a:moveTo>
                <a:lnTo>
                  <a:pt x="1533525" y="0"/>
                </a:lnTo>
                <a:lnTo>
                  <a:pt x="15335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7" name="Google Shape;477;p8"/>
          <p:cNvSpPr/>
          <p:nvPr/>
        </p:nvSpPr>
        <p:spPr>
          <a:xfrm>
            <a:off x="12839700" y="2143125"/>
            <a:ext cx="3924300" cy="857250"/>
          </a:xfrm>
          <a:custGeom>
            <a:rect b="b" l="l" r="r" t="t"/>
            <a:pathLst>
              <a:path extrusionOk="0" h="857250" w="3924300">
                <a:moveTo>
                  <a:pt x="0" y="0"/>
                </a:moveTo>
                <a:lnTo>
                  <a:pt x="3924300" y="0"/>
                </a:lnTo>
                <a:lnTo>
                  <a:pt x="3924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8" name="Google Shape;478;p8"/>
          <p:cNvSpPr/>
          <p:nvPr/>
        </p:nvSpPr>
        <p:spPr>
          <a:xfrm>
            <a:off x="12839700" y="2352675"/>
            <a:ext cx="666750" cy="438150"/>
          </a:xfrm>
          <a:custGeom>
            <a:rect b="b" l="l" r="r" t="t"/>
            <a:pathLst>
              <a:path extrusionOk="0" h="438150" w="6667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79" name="Google Shape;479;p8"/>
          <p:cNvSpPr txBox="1"/>
          <p:nvPr/>
        </p:nvSpPr>
        <p:spPr>
          <a:xfrm>
            <a:off x="13662422" y="2403231"/>
            <a:ext cx="3027164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F0F0E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SIMULATOR ADAPTERS</a:t>
            </a:r>
            <a:endParaRPr/>
          </a:p>
        </p:txBody>
      </p:sp>
      <p:sp>
        <p:nvSpPr>
          <p:cNvPr id="480" name="Google Shape;480;p8"/>
          <p:cNvSpPr/>
          <p:nvPr/>
        </p:nvSpPr>
        <p:spPr>
          <a:xfrm>
            <a:off x="13058775" y="3000375"/>
            <a:ext cx="3705225" cy="3000375"/>
          </a:xfrm>
          <a:custGeom>
            <a:rect b="b" l="l" r="r" t="t"/>
            <a:pathLst>
              <a:path extrusionOk="0" h="3000375" w="3705225">
                <a:moveTo>
                  <a:pt x="0" y="0"/>
                </a:moveTo>
                <a:lnTo>
                  <a:pt x="3705225" y="0"/>
                </a:lnTo>
                <a:lnTo>
                  <a:pt x="3705225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1" name="Google Shape;481;p8"/>
          <p:cNvSpPr/>
          <p:nvPr/>
        </p:nvSpPr>
        <p:spPr>
          <a:xfrm>
            <a:off x="13058775" y="3000375"/>
            <a:ext cx="3705225" cy="647700"/>
          </a:xfrm>
          <a:custGeom>
            <a:rect b="b" l="l" r="r" t="t"/>
            <a:pathLst>
              <a:path extrusionOk="0" h="647700" w="3705225">
                <a:moveTo>
                  <a:pt x="0" y="0"/>
                </a:moveTo>
                <a:lnTo>
                  <a:pt x="3705225" y="0"/>
                </a:lnTo>
                <a:lnTo>
                  <a:pt x="3705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2" name="Google Shape;482;p8"/>
          <p:cNvSpPr/>
          <p:nvPr/>
        </p:nvSpPr>
        <p:spPr>
          <a:xfrm>
            <a:off x="13496925" y="38576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3" name="Google Shape;483;p8"/>
          <p:cNvSpPr txBox="1"/>
          <p:nvPr/>
        </p:nvSpPr>
        <p:spPr>
          <a:xfrm>
            <a:off x="14636873" y="3982446"/>
            <a:ext cx="1674397" cy="80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96" u="none" cap="none" strike="noStrike">
                <a:solidFill>
                  <a:srgbClr val="0B111B"/>
                </a:solidFill>
                <a:latin typeface="Roboto"/>
                <a:ea typeface="Roboto"/>
                <a:cs typeface="Roboto"/>
                <a:sym typeface="Roboto"/>
              </a:rPr>
              <a:t>NVIDIA Isaac Sim</a:t>
            </a:r>
            <a:endParaRPr/>
          </a:p>
        </p:txBody>
      </p:sp>
      <p:sp>
        <p:nvSpPr>
          <p:cNvPr id="484" name="Google Shape;484;p8"/>
          <p:cNvSpPr txBox="1"/>
          <p:nvPr/>
        </p:nvSpPr>
        <p:spPr>
          <a:xfrm>
            <a:off x="13499265" y="5374416"/>
            <a:ext cx="2921130" cy="28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Chuẩn công nghiệp robotics</a:t>
            </a:r>
            <a:endParaRPr/>
          </a:p>
        </p:txBody>
      </p:sp>
      <p:sp>
        <p:nvSpPr>
          <p:cNvPr id="485" name="Google Shape;485;p8"/>
          <p:cNvSpPr/>
          <p:nvPr/>
        </p:nvSpPr>
        <p:spPr>
          <a:xfrm>
            <a:off x="11972925" y="7067550"/>
            <a:ext cx="1314450" cy="438150"/>
          </a:xfrm>
          <a:custGeom>
            <a:rect b="b" l="l" r="r" t="t"/>
            <a:pathLst>
              <a:path extrusionOk="0" h="438150" w="1314450">
                <a:moveTo>
                  <a:pt x="0" y="0"/>
                </a:moveTo>
                <a:lnTo>
                  <a:pt x="1314450" y="0"/>
                </a:lnTo>
                <a:lnTo>
                  <a:pt x="1314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6" name="Google Shape;486;p8"/>
          <p:cNvSpPr/>
          <p:nvPr/>
        </p:nvSpPr>
        <p:spPr>
          <a:xfrm>
            <a:off x="13058775" y="6000750"/>
            <a:ext cx="3705225" cy="2571750"/>
          </a:xfrm>
          <a:custGeom>
            <a:rect b="b" l="l" r="r" t="t"/>
            <a:pathLst>
              <a:path extrusionOk="0" h="2571750" w="3705225">
                <a:moveTo>
                  <a:pt x="0" y="0"/>
                </a:moveTo>
                <a:lnTo>
                  <a:pt x="3705225" y="0"/>
                </a:lnTo>
                <a:lnTo>
                  <a:pt x="3705225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7" name="Google Shape;487;p8"/>
          <p:cNvSpPr/>
          <p:nvPr/>
        </p:nvSpPr>
        <p:spPr>
          <a:xfrm>
            <a:off x="13058775" y="6000750"/>
            <a:ext cx="3705225" cy="857250"/>
          </a:xfrm>
          <a:custGeom>
            <a:rect b="b" l="l" r="r" t="t"/>
            <a:pathLst>
              <a:path extrusionOk="0" h="857250" w="3705225">
                <a:moveTo>
                  <a:pt x="0" y="0"/>
                </a:moveTo>
                <a:lnTo>
                  <a:pt x="3705225" y="0"/>
                </a:lnTo>
                <a:lnTo>
                  <a:pt x="3705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88" name="Google Shape;488;p8"/>
          <p:cNvSpPr txBox="1"/>
          <p:nvPr/>
        </p:nvSpPr>
        <p:spPr>
          <a:xfrm>
            <a:off x="14101932" y="6293616"/>
            <a:ext cx="1590424" cy="28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86" u="none" cap="none" strike="noStrike">
                <a:solidFill>
                  <a:srgbClr val="1963A8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GIAI ĐOẠN TỚI</a:t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3496925" y="6858000"/>
            <a:ext cx="876300" cy="647700"/>
          </a:xfrm>
          <a:custGeom>
            <a:rect b="b" l="l" r="r" t="t"/>
            <a:pathLst>
              <a:path extrusionOk="0"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0" name="Google Shape;490;p8"/>
          <p:cNvSpPr/>
          <p:nvPr/>
        </p:nvSpPr>
        <p:spPr>
          <a:xfrm>
            <a:off x="13716000" y="7715250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1" name="Google Shape;491;p8"/>
          <p:cNvSpPr txBox="1"/>
          <p:nvPr/>
        </p:nvSpPr>
        <p:spPr>
          <a:xfrm>
            <a:off x="14637857" y="7875845"/>
            <a:ext cx="1576053" cy="28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86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Gazebo / ROS2</a:t>
            </a:r>
            <a:endParaRPr/>
          </a:p>
        </p:txBody>
      </p:sp>
      <p:sp>
        <p:nvSpPr>
          <p:cNvPr id="492" name="Google Shape;492;p8"/>
          <p:cNvSpPr/>
          <p:nvPr/>
        </p:nvSpPr>
        <p:spPr>
          <a:xfrm>
            <a:off x="1952625" y="8782050"/>
            <a:ext cx="13725525" cy="1295400"/>
          </a:xfrm>
          <a:custGeom>
            <a:rect b="b" l="l" r="r" t="t"/>
            <a:pathLst>
              <a:path extrusionOk="0" h="1295400" w="13725525">
                <a:moveTo>
                  <a:pt x="0" y="0"/>
                </a:moveTo>
                <a:lnTo>
                  <a:pt x="13725525" y="0"/>
                </a:lnTo>
                <a:lnTo>
                  <a:pt x="1372552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3" name="Google Shape;493;p8"/>
          <p:cNvSpPr/>
          <p:nvPr/>
        </p:nvSpPr>
        <p:spPr>
          <a:xfrm>
            <a:off x="2390775" y="9001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94" name="Google Shape;494;p8"/>
          <p:cNvSpPr txBox="1"/>
          <p:nvPr/>
        </p:nvSpPr>
        <p:spPr>
          <a:xfrm>
            <a:off x="3613244" y="8985197"/>
            <a:ext cx="8364657" cy="4499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68" u="none" cap="none" strike="noStrike">
                <a:solidFill>
                  <a:srgbClr val="33221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Một lõi xử lý, nhiều adapter mở rộng theo bài toán.</a:t>
            </a:r>
            <a:endParaRPr/>
          </a:p>
        </p:txBody>
      </p:sp>
      <p:sp>
        <p:nvSpPr>
          <p:cNvPr id="495" name="Google Shape;495;p8"/>
          <p:cNvSpPr txBox="1"/>
          <p:nvPr/>
        </p:nvSpPr>
        <p:spPr>
          <a:xfrm>
            <a:off x="3696891" y="9530796"/>
            <a:ext cx="10876359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21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MVP tập trung vào nhà kho + Isaac Sim; kiến trúc mở cho các miền và simulator tiếp theo.</a:t>
            </a:r>
            <a:endParaRPr/>
          </a:p>
        </p:txBody>
      </p:sp>
      <p:sp>
        <p:nvSpPr>
          <p:cNvPr id="496" name="Google Shape;496;p8"/>
          <p:cNvSpPr txBox="1"/>
          <p:nvPr/>
        </p:nvSpPr>
        <p:spPr>
          <a:xfrm>
            <a:off x="2277070" y="3186811"/>
            <a:ext cx="3027164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F0F0E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HIỆN TẠI (MVP)</a:t>
            </a:r>
            <a:endParaRPr/>
          </a:p>
        </p:txBody>
      </p:sp>
      <p:sp>
        <p:nvSpPr>
          <p:cNvPr id="497" name="Google Shape;497;p8"/>
          <p:cNvSpPr txBox="1"/>
          <p:nvPr/>
        </p:nvSpPr>
        <p:spPr>
          <a:xfrm>
            <a:off x="14037469" y="3186811"/>
            <a:ext cx="3027164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F0F0E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HIỆN TẠI (MVP)</a:t>
            </a:r>
            <a:endParaRPr/>
          </a:p>
        </p:txBody>
      </p:sp>
      <p:sp>
        <p:nvSpPr>
          <p:cNvPr id="498" name="Google Shape;498;p8"/>
          <p:cNvSpPr txBox="1"/>
          <p:nvPr/>
        </p:nvSpPr>
        <p:spPr>
          <a:xfrm>
            <a:off x="14653617" y="6999229"/>
            <a:ext cx="1955602" cy="341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21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CARLA</a:t>
            </a:r>
            <a:endParaRPr/>
          </a:p>
        </p:txBody>
      </p:sp>
      <p:sp>
        <p:nvSpPr>
          <p:cNvPr id="499" name="Google Shape;499;p8"/>
          <p:cNvSpPr txBox="1"/>
          <p:nvPr/>
        </p:nvSpPr>
        <p:spPr>
          <a:xfrm>
            <a:off x="10501312" y="6775015"/>
            <a:ext cx="1500188" cy="3228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4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Collider</a:t>
            </a:r>
            <a:endParaRPr/>
          </a:p>
        </p:txBody>
      </p:sp>
      <p:sp>
        <p:nvSpPr>
          <p:cNvPr id="500" name="Google Shape;500;p8"/>
          <p:cNvSpPr txBox="1"/>
          <p:nvPr/>
        </p:nvSpPr>
        <p:spPr>
          <a:xfrm>
            <a:off x="6884789" y="6775015"/>
            <a:ext cx="1500188" cy="3228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4" u="none" cap="none" strike="noStrike">
                <a:solidFill>
                  <a:srgbClr val="0B111B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Tái tạo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9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6" name="Google Shape;506;p9"/>
          <p:cNvSpPr/>
          <p:nvPr/>
        </p:nvSpPr>
        <p:spPr>
          <a:xfrm>
            <a:off x="0" y="0"/>
            <a:ext cx="1095375" cy="647700"/>
          </a:xfrm>
          <a:custGeom>
            <a:rect b="b" l="l" r="r" t="t"/>
            <a:pathLst>
              <a:path extrusionOk="0" h="647700" w="1095375">
                <a:moveTo>
                  <a:pt x="0" y="0"/>
                </a:moveTo>
                <a:lnTo>
                  <a:pt x="1095375" y="0"/>
                </a:lnTo>
                <a:lnTo>
                  <a:pt x="10953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7" name="Google Shape;507;p9"/>
          <p:cNvSpPr/>
          <p:nvPr/>
        </p:nvSpPr>
        <p:spPr>
          <a:xfrm>
            <a:off x="0" y="8353425"/>
            <a:ext cx="3486150" cy="1933575"/>
          </a:xfrm>
          <a:custGeom>
            <a:rect b="b" l="l" r="r" t="t"/>
            <a:pathLst>
              <a:path extrusionOk="0" h="1933575" w="3486150">
                <a:moveTo>
                  <a:pt x="0" y="0"/>
                </a:moveTo>
                <a:lnTo>
                  <a:pt x="3486150" y="0"/>
                </a:lnTo>
                <a:lnTo>
                  <a:pt x="34861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8" name="Google Shape;508;p9"/>
          <p:cNvSpPr/>
          <p:nvPr/>
        </p:nvSpPr>
        <p:spPr>
          <a:xfrm>
            <a:off x="13496925" y="7715250"/>
            <a:ext cx="4791075" cy="2571750"/>
          </a:xfrm>
          <a:custGeom>
            <a:rect b="b" l="l" r="r" t="t"/>
            <a:pathLst>
              <a:path extrusionOk="0" h="2571750" w="4791075">
                <a:moveTo>
                  <a:pt x="0" y="0"/>
                </a:moveTo>
                <a:lnTo>
                  <a:pt x="4791075" y="0"/>
                </a:lnTo>
                <a:lnTo>
                  <a:pt x="4791075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09" name="Google Shape;509;p9"/>
          <p:cNvSpPr txBox="1"/>
          <p:nvPr/>
        </p:nvSpPr>
        <p:spPr>
          <a:xfrm>
            <a:off x="2149815" y="400410"/>
            <a:ext cx="13659756" cy="831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251" sz="6287" u="none" cap="none" strike="noStrike">
                <a:solidFill>
                  <a:srgbClr val="2E1F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Bắt đầu nhỏ: Trải nghiệm ngay trên trình duyệt</a:t>
            </a:r>
            <a:endParaRPr/>
          </a:p>
        </p:txBody>
      </p:sp>
      <p:sp>
        <p:nvSpPr>
          <p:cNvPr id="510" name="Google Shape;510;p9"/>
          <p:cNvSpPr/>
          <p:nvPr/>
        </p:nvSpPr>
        <p:spPr>
          <a:xfrm>
            <a:off x="3257550" y="1495425"/>
            <a:ext cx="885825" cy="219075"/>
          </a:xfrm>
          <a:custGeom>
            <a:rect b="b" l="l" r="r" t="t"/>
            <a:pathLst>
              <a:path extrusionOk="0" h="219075" w="885825">
                <a:moveTo>
                  <a:pt x="0" y="0"/>
                </a:moveTo>
                <a:lnTo>
                  <a:pt x="885825" y="0"/>
                </a:lnTo>
                <a:lnTo>
                  <a:pt x="885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1" name="Google Shape;511;p9"/>
          <p:cNvSpPr txBox="1"/>
          <p:nvPr/>
        </p:nvSpPr>
        <p:spPr>
          <a:xfrm>
            <a:off x="2946797" y="1394387"/>
            <a:ext cx="12376547" cy="3083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7" sz="2387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Xem – Tạo – Nhận. Toàn bộ quy trình mô phỏng trong vài bước, ngay trên web.</a:t>
            </a:r>
            <a:endParaRPr/>
          </a:p>
        </p:txBody>
      </p:sp>
      <p:sp>
        <p:nvSpPr>
          <p:cNvPr id="512" name="Google Shape;512;p9"/>
          <p:cNvSpPr/>
          <p:nvPr/>
        </p:nvSpPr>
        <p:spPr>
          <a:xfrm>
            <a:off x="14144625" y="1495425"/>
            <a:ext cx="666750" cy="219075"/>
          </a:xfrm>
          <a:custGeom>
            <a:rect b="b" l="l" r="r" t="t"/>
            <a:pathLst>
              <a:path extrusionOk="0" h="219075" w="666750">
                <a:moveTo>
                  <a:pt x="0" y="0"/>
                </a:moveTo>
                <a:lnTo>
                  <a:pt x="666750" y="0"/>
                </a:lnTo>
                <a:lnTo>
                  <a:pt x="666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3" name="Google Shape;513;p9"/>
          <p:cNvSpPr/>
          <p:nvPr/>
        </p:nvSpPr>
        <p:spPr>
          <a:xfrm>
            <a:off x="2390775" y="1924050"/>
            <a:ext cx="13506450" cy="4076700"/>
          </a:xfrm>
          <a:custGeom>
            <a:rect b="b" l="l" r="r" t="t"/>
            <a:pathLst>
              <a:path extrusionOk="0" h="4076700" w="13506450">
                <a:moveTo>
                  <a:pt x="0" y="0"/>
                </a:moveTo>
                <a:lnTo>
                  <a:pt x="13506450" y="0"/>
                </a:lnTo>
                <a:lnTo>
                  <a:pt x="1350645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4" name="Google Shape;514;p9"/>
          <p:cNvSpPr/>
          <p:nvPr/>
        </p:nvSpPr>
        <p:spPr>
          <a:xfrm>
            <a:off x="647700" y="6000750"/>
            <a:ext cx="5667375" cy="2143125"/>
          </a:xfrm>
          <a:custGeom>
            <a:rect b="b" l="l" r="r" t="t"/>
            <a:pathLst>
              <a:path extrusionOk="0" h="2143125" w="5667375">
                <a:moveTo>
                  <a:pt x="0" y="0"/>
                </a:moveTo>
                <a:lnTo>
                  <a:pt x="5667375" y="0"/>
                </a:lnTo>
                <a:lnTo>
                  <a:pt x="5667375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5" name="Google Shape;515;p9"/>
          <p:cNvSpPr txBox="1"/>
          <p:nvPr/>
        </p:nvSpPr>
        <p:spPr>
          <a:xfrm>
            <a:off x="1114014" y="6450066"/>
            <a:ext cx="592324" cy="633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4" sz="4724" u="none" cap="none" strike="noStrike">
                <a:solidFill>
                  <a:srgbClr val="E46718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01</a:t>
            </a:r>
            <a:endParaRPr/>
          </a:p>
        </p:txBody>
      </p:sp>
      <p:sp>
        <p:nvSpPr>
          <p:cNvPr id="516" name="Google Shape;516;p9"/>
          <p:cNvSpPr/>
          <p:nvPr/>
        </p:nvSpPr>
        <p:spPr>
          <a:xfrm>
            <a:off x="1733550" y="6429375"/>
            <a:ext cx="1314450" cy="1285875"/>
          </a:xfrm>
          <a:custGeom>
            <a:rect b="b" l="l" r="r" t="t"/>
            <a:pathLst>
              <a:path extrusionOk="0" h="1285875" w="1314450">
                <a:moveTo>
                  <a:pt x="0" y="0"/>
                </a:moveTo>
                <a:lnTo>
                  <a:pt x="1314450" y="0"/>
                </a:lnTo>
                <a:lnTo>
                  <a:pt x="13144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7" name="Google Shape;517;p9"/>
          <p:cNvSpPr txBox="1"/>
          <p:nvPr/>
        </p:nvSpPr>
        <p:spPr>
          <a:xfrm>
            <a:off x="3248824" y="6422306"/>
            <a:ext cx="1944144" cy="31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2E1F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Thử Scene mẫu</a:t>
            </a:r>
            <a:endParaRPr/>
          </a:p>
        </p:txBody>
      </p:sp>
      <p:sp>
        <p:nvSpPr>
          <p:cNvPr id="518" name="Google Shape;518;p9"/>
          <p:cNvSpPr txBox="1"/>
          <p:nvPr/>
        </p:nvSpPr>
        <p:spPr>
          <a:xfrm>
            <a:off x="3241489" y="6857860"/>
            <a:ext cx="2677626" cy="863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5" sz="1784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Mở xem tương tác 3DGS ngay trên web, không cần đăng nhập, không tốn GPU.</a:t>
            </a:r>
            <a:endParaRPr/>
          </a:p>
        </p:txBody>
      </p:sp>
      <p:sp>
        <p:nvSpPr>
          <p:cNvPr id="519" name="Google Shape;519;p9"/>
          <p:cNvSpPr/>
          <p:nvPr/>
        </p:nvSpPr>
        <p:spPr>
          <a:xfrm>
            <a:off x="6305550" y="6000750"/>
            <a:ext cx="5676900" cy="2143125"/>
          </a:xfrm>
          <a:custGeom>
            <a:rect b="b" l="l" r="r" t="t"/>
            <a:pathLst>
              <a:path extrusionOk="0" h="2143125" w="5676900">
                <a:moveTo>
                  <a:pt x="0" y="0"/>
                </a:moveTo>
                <a:lnTo>
                  <a:pt x="5676900" y="0"/>
                </a:lnTo>
                <a:lnTo>
                  <a:pt x="567690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0" name="Google Shape;520;p9"/>
          <p:cNvSpPr txBox="1"/>
          <p:nvPr/>
        </p:nvSpPr>
        <p:spPr>
          <a:xfrm>
            <a:off x="6793295" y="6450066"/>
            <a:ext cx="592324" cy="633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4" sz="4724" u="none" cap="none" strike="noStrike">
                <a:solidFill>
                  <a:srgbClr val="E46718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02</a:t>
            </a:r>
            <a:endParaRPr/>
          </a:p>
        </p:txBody>
      </p:sp>
      <p:sp>
        <p:nvSpPr>
          <p:cNvPr id="521" name="Google Shape;521;p9"/>
          <p:cNvSpPr/>
          <p:nvPr/>
        </p:nvSpPr>
        <p:spPr>
          <a:xfrm>
            <a:off x="7400925" y="6429375"/>
            <a:ext cx="1533525" cy="1285875"/>
          </a:xfrm>
          <a:custGeom>
            <a:rect b="b" l="l" r="r" t="t"/>
            <a:pathLst>
              <a:path extrusionOk="0" h="1285875" w="1533525">
                <a:moveTo>
                  <a:pt x="0" y="0"/>
                </a:moveTo>
                <a:lnTo>
                  <a:pt x="1533525" y="0"/>
                </a:lnTo>
                <a:lnTo>
                  <a:pt x="153352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2" name="Google Shape;522;p9"/>
          <p:cNvSpPr txBox="1"/>
          <p:nvPr/>
        </p:nvSpPr>
        <p:spPr>
          <a:xfrm>
            <a:off x="8955754" y="6422306"/>
            <a:ext cx="1858180" cy="31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2E1F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Tạo Scene mới</a:t>
            </a:r>
            <a:endParaRPr/>
          </a:p>
        </p:txBody>
      </p:sp>
      <p:sp>
        <p:nvSpPr>
          <p:cNvPr id="523" name="Google Shape;523;p9"/>
          <p:cNvSpPr txBox="1"/>
          <p:nvPr/>
        </p:nvSpPr>
        <p:spPr>
          <a:xfrm>
            <a:off x="8948588" y="6857707"/>
            <a:ext cx="2574842" cy="862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6" sz="1810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Đăng nhập, tải video MP4 lên và xác nhận các bước trên giao diện trực quan.</a:t>
            </a:r>
            <a:endParaRPr/>
          </a:p>
        </p:txBody>
      </p:sp>
      <p:sp>
        <p:nvSpPr>
          <p:cNvPr id="524" name="Google Shape;524;p9"/>
          <p:cNvSpPr/>
          <p:nvPr/>
        </p:nvSpPr>
        <p:spPr>
          <a:xfrm>
            <a:off x="11972925" y="6000750"/>
            <a:ext cx="5448300" cy="2143125"/>
          </a:xfrm>
          <a:custGeom>
            <a:rect b="b" l="l" r="r" t="t"/>
            <a:pathLst>
              <a:path extrusionOk="0" h="2143125" w="5448300">
                <a:moveTo>
                  <a:pt x="0" y="0"/>
                </a:moveTo>
                <a:lnTo>
                  <a:pt x="5448300" y="0"/>
                </a:lnTo>
                <a:lnTo>
                  <a:pt x="544830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5" name="Google Shape;525;p9"/>
          <p:cNvSpPr txBox="1"/>
          <p:nvPr/>
        </p:nvSpPr>
        <p:spPr>
          <a:xfrm>
            <a:off x="12472577" y="6450066"/>
            <a:ext cx="592324" cy="633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4" sz="4724" u="none" cap="none" strike="noStrike">
                <a:solidFill>
                  <a:srgbClr val="E46718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03</a:t>
            </a:r>
            <a:endParaRPr/>
          </a:p>
        </p:txBody>
      </p:sp>
      <p:sp>
        <p:nvSpPr>
          <p:cNvPr id="526" name="Google Shape;526;p9"/>
          <p:cNvSpPr/>
          <p:nvPr/>
        </p:nvSpPr>
        <p:spPr>
          <a:xfrm>
            <a:off x="13058775" y="6429375"/>
            <a:ext cx="1533525" cy="1285875"/>
          </a:xfrm>
          <a:custGeom>
            <a:rect b="b" l="l" r="r" t="t"/>
            <a:pathLst>
              <a:path extrusionOk="0" h="1285875" w="1533525">
                <a:moveTo>
                  <a:pt x="0" y="0"/>
                </a:moveTo>
                <a:lnTo>
                  <a:pt x="1533525" y="0"/>
                </a:lnTo>
                <a:lnTo>
                  <a:pt x="153352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7" name="Google Shape;527;p9"/>
          <p:cNvSpPr txBox="1"/>
          <p:nvPr/>
        </p:nvSpPr>
        <p:spPr>
          <a:xfrm>
            <a:off x="14605163" y="6422306"/>
            <a:ext cx="2166486" cy="31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2E1F0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Tải gói mô phỏng</a:t>
            </a:r>
            <a:endParaRPr/>
          </a:p>
        </p:txBody>
      </p:sp>
      <p:sp>
        <p:nvSpPr>
          <p:cNvPr id="528" name="Google Shape;528;p9"/>
          <p:cNvSpPr txBox="1"/>
          <p:nvPr/>
        </p:nvSpPr>
        <p:spPr>
          <a:xfrm>
            <a:off x="14601313" y="6857707"/>
            <a:ext cx="2551464" cy="862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6" sz="1810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Nhận ngay file .usda kèm báo cáo kiểm tra đã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6" sz="1810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niêm phong số.</a:t>
            </a:r>
            <a:endParaRPr/>
          </a:p>
        </p:txBody>
      </p:sp>
      <p:sp>
        <p:nvSpPr>
          <p:cNvPr id="529" name="Google Shape;529;p9"/>
          <p:cNvSpPr/>
          <p:nvPr/>
        </p:nvSpPr>
        <p:spPr>
          <a:xfrm>
            <a:off x="3257550" y="8143875"/>
            <a:ext cx="2628900" cy="428625"/>
          </a:xfrm>
          <a:custGeom>
            <a:rect b="b" l="l" r="r" t="t"/>
            <a:pathLst>
              <a:path extrusionOk="0" h="428625" w="2628900">
                <a:moveTo>
                  <a:pt x="0" y="0"/>
                </a:moveTo>
                <a:lnTo>
                  <a:pt x="2628900" y="0"/>
                </a:lnTo>
                <a:lnTo>
                  <a:pt x="26289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0" name="Google Shape;530;p9"/>
          <p:cNvSpPr/>
          <p:nvPr/>
        </p:nvSpPr>
        <p:spPr>
          <a:xfrm>
            <a:off x="5876925" y="8143875"/>
            <a:ext cx="657225" cy="647700"/>
          </a:xfrm>
          <a:custGeom>
            <a:rect b="b" l="l" r="r" t="t"/>
            <a:pathLst>
              <a:path extrusionOk="0"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1" name="Google Shape;531;p9"/>
          <p:cNvSpPr txBox="1"/>
          <p:nvPr/>
        </p:nvSpPr>
        <p:spPr>
          <a:xfrm>
            <a:off x="6566549" y="8292343"/>
            <a:ext cx="5034894" cy="2829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40" sz="2047" u="none" cap="none" strike="noStrike">
                <a:solidFill>
                  <a:srgbClr val="2E1F0F"/>
                </a:solidFill>
                <a:latin typeface="Roboto"/>
                <a:ea typeface="Roboto"/>
                <a:cs typeface="Roboto"/>
                <a:sym typeface="Roboto"/>
              </a:rPr>
              <a:t>GitHub repo mã nguồn mở &amp; Demo trực tiếp</a:t>
            </a:r>
            <a:endParaRPr/>
          </a:p>
        </p:txBody>
      </p:sp>
      <p:sp>
        <p:nvSpPr>
          <p:cNvPr id="532" name="Google Shape;532;p9"/>
          <p:cNvSpPr/>
          <p:nvPr/>
        </p:nvSpPr>
        <p:spPr>
          <a:xfrm>
            <a:off x="11753850" y="8143875"/>
            <a:ext cx="3057525" cy="428625"/>
          </a:xfrm>
          <a:custGeom>
            <a:rect b="b" l="l" r="r" t="t"/>
            <a:pathLst>
              <a:path extrusionOk="0" h="428625" w="3057525">
                <a:moveTo>
                  <a:pt x="0" y="0"/>
                </a:moveTo>
                <a:lnTo>
                  <a:pt x="3057525" y="0"/>
                </a:lnTo>
                <a:lnTo>
                  <a:pt x="30575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3" name="Google Shape;533;p9"/>
          <p:cNvSpPr/>
          <p:nvPr/>
        </p:nvSpPr>
        <p:spPr>
          <a:xfrm>
            <a:off x="6305550" y="8782050"/>
            <a:ext cx="5457825" cy="1076325"/>
          </a:xfrm>
          <a:custGeom>
            <a:rect b="b" l="l" r="r" t="t"/>
            <a:pathLst>
              <a:path extrusionOk="0" h="1076325" w="5457825">
                <a:moveTo>
                  <a:pt x="0" y="0"/>
                </a:moveTo>
                <a:lnTo>
                  <a:pt x="5457825" y="0"/>
                </a:lnTo>
                <a:lnTo>
                  <a:pt x="54578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4" name="Google Shape;534;p9"/>
          <p:cNvSpPr txBox="1"/>
          <p:nvPr/>
        </p:nvSpPr>
        <p:spPr>
          <a:xfrm>
            <a:off x="7507555" y="8961842"/>
            <a:ext cx="3105000" cy="5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16" u="none" cap="none" strike="noStrike">
                <a:solidFill>
                  <a:srgbClr val="F8F3EC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Xem Demo Ngay</a:t>
            </a:r>
            <a:endParaRPr/>
          </a:p>
        </p:txBody>
      </p:sp>
      <p:sp>
        <p:nvSpPr>
          <p:cNvPr id="535" name="Google Shape;535;p9"/>
          <p:cNvSpPr/>
          <p:nvPr/>
        </p:nvSpPr>
        <p:spPr>
          <a:xfrm>
            <a:off x="10877550" y="9001125"/>
            <a:ext cx="447675" cy="428625"/>
          </a:xfrm>
          <a:custGeom>
            <a:rect b="b" l="l" r="r" t="t"/>
            <a:pathLst>
              <a:path extrusionOk="0"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36" name="Google Shape;536;p9"/>
          <p:cNvSpPr txBox="1"/>
          <p:nvPr/>
        </p:nvSpPr>
        <p:spPr>
          <a:xfrm>
            <a:off x="6961130" y="9829540"/>
            <a:ext cx="4197862" cy="2617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-38" sz="1916" u="none" cap="none" strike="noStrike">
                <a:solidFill>
                  <a:srgbClr val="897B63"/>
                </a:solidFill>
                <a:latin typeface="Roboto"/>
                <a:ea typeface="Roboto"/>
                <a:cs typeface="Roboto"/>
                <a:sym typeface="Roboto"/>
              </a:rPr>
              <a:t>Không cần cài đặt phần mềm phức tạp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0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2" name="Google Shape;542;p10"/>
          <p:cNvSpPr/>
          <p:nvPr/>
        </p:nvSpPr>
        <p:spPr>
          <a:xfrm>
            <a:off x="647700" y="428625"/>
            <a:ext cx="2400300" cy="2790825"/>
          </a:xfrm>
          <a:custGeom>
            <a:rect b="b" l="l" r="r" t="t"/>
            <a:pathLst>
              <a:path extrusionOk="0" h="2790825" w="2400300">
                <a:moveTo>
                  <a:pt x="0" y="0"/>
                </a:moveTo>
                <a:lnTo>
                  <a:pt x="2400300" y="0"/>
                </a:lnTo>
                <a:lnTo>
                  <a:pt x="2400300" y="2790825"/>
                </a:lnTo>
                <a:lnTo>
                  <a:pt x="0" y="27908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3" name="Google Shape;543;p10"/>
          <p:cNvSpPr txBox="1"/>
          <p:nvPr/>
        </p:nvSpPr>
        <p:spPr>
          <a:xfrm>
            <a:off x="3419263" y="929725"/>
            <a:ext cx="9010386" cy="12686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192" sz="9636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Real2Sim Studio</a:t>
            </a:r>
            <a:endParaRPr/>
          </a:p>
        </p:txBody>
      </p:sp>
      <p:sp>
        <p:nvSpPr>
          <p:cNvPr id="544" name="Google Shape;544;p10"/>
          <p:cNvSpPr/>
          <p:nvPr/>
        </p:nvSpPr>
        <p:spPr>
          <a:xfrm>
            <a:off x="3476625" y="2143125"/>
            <a:ext cx="1095375" cy="428625"/>
          </a:xfrm>
          <a:custGeom>
            <a:rect b="b" l="l" r="r" t="t"/>
            <a:pathLst>
              <a:path extrusionOk="0" h="428625" w="1095375">
                <a:moveTo>
                  <a:pt x="0" y="0"/>
                </a:moveTo>
                <a:lnTo>
                  <a:pt x="1095375" y="0"/>
                </a:lnTo>
                <a:lnTo>
                  <a:pt x="10953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5" name="Google Shape;545;p10"/>
          <p:cNvSpPr txBox="1"/>
          <p:nvPr/>
        </p:nvSpPr>
        <p:spPr>
          <a:xfrm>
            <a:off x="3476617" y="2288086"/>
            <a:ext cx="9295800" cy="33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328" sz="2188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DIGITAL TWIN • ROBOTICS • SIMULATION</a:t>
            </a:r>
            <a:endParaRPr/>
          </a:p>
        </p:txBody>
      </p:sp>
      <p:sp>
        <p:nvSpPr>
          <p:cNvPr id="546" name="Google Shape;546;p10"/>
          <p:cNvSpPr/>
          <p:nvPr/>
        </p:nvSpPr>
        <p:spPr>
          <a:xfrm>
            <a:off x="11534775" y="2143125"/>
            <a:ext cx="1314450" cy="428625"/>
          </a:xfrm>
          <a:custGeom>
            <a:rect b="b" l="l" r="r" t="t"/>
            <a:pathLst>
              <a:path extrusionOk="0" h="428625" w="1314450">
                <a:moveTo>
                  <a:pt x="0" y="0"/>
                </a:moveTo>
                <a:lnTo>
                  <a:pt x="1314450" y="0"/>
                </a:lnTo>
                <a:lnTo>
                  <a:pt x="13144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7" name="Google Shape;547;p10"/>
          <p:cNvSpPr txBox="1"/>
          <p:nvPr/>
        </p:nvSpPr>
        <p:spPr>
          <a:xfrm>
            <a:off x="665208" y="3598801"/>
            <a:ext cx="11167465" cy="23960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99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8" sz="4939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Chuyển dữ liệu từ môi trường thật thành </a:t>
            </a:r>
            <a:r>
              <a:rPr b="1" i="0" lang="en-US" spc="-48" sz="4939" u="none" cap="none" strike="noStrike">
                <a:solidFill>
                  <a:srgbClr val="D46F36"/>
                </a:solidFill>
                <a:latin typeface="Arial"/>
                <a:ea typeface="Arial"/>
                <a:cs typeface="Arial"/>
                <a:sym typeface="Arial"/>
              </a:rPr>
              <a:t>scene mô phỏng có cấu trúc,</a:t>
            </a:r>
            <a:r>
              <a:rPr b="1" i="0" lang="en-US" spc="-48" sz="4939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 có vật lý và </a:t>
            </a:r>
            <a:r>
              <a:rPr b="1" i="0" lang="en-US" spc="-48" sz="4939" u="none" cap="none" strike="noStrike">
                <a:solidFill>
                  <a:srgbClr val="D46F36"/>
                </a:solidFill>
                <a:latin typeface="Arial"/>
                <a:ea typeface="Arial"/>
                <a:cs typeface="Arial"/>
                <a:sym typeface="Arial"/>
              </a:rPr>
              <a:t>có người kiểm duyệt</a:t>
            </a:r>
            <a:r>
              <a:rPr b="1" i="0" lang="en-US" spc="-48" sz="4939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  <p:sp>
        <p:nvSpPr>
          <p:cNvPr id="548" name="Google Shape;548;p10"/>
          <p:cNvSpPr/>
          <p:nvPr/>
        </p:nvSpPr>
        <p:spPr>
          <a:xfrm>
            <a:off x="866775" y="6429375"/>
            <a:ext cx="876300" cy="857250"/>
          </a:xfrm>
          <a:custGeom>
            <a:rect b="b" l="l" r="r" t="t"/>
            <a:pathLst>
              <a:path extrusionOk="0"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49" name="Google Shape;549;p10"/>
          <p:cNvSpPr/>
          <p:nvPr/>
        </p:nvSpPr>
        <p:spPr>
          <a:xfrm>
            <a:off x="1952625" y="6429375"/>
            <a:ext cx="228600" cy="647700"/>
          </a:xfrm>
          <a:custGeom>
            <a:rect b="b" l="l" r="r" t="t"/>
            <a:pathLst>
              <a:path extrusionOk="0" h="647700" w="2286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0" name="Google Shape;550;p10"/>
          <p:cNvSpPr/>
          <p:nvPr/>
        </p:nvSpPr>
        <p:spPr>
          <a:xfrm>
            <a:off x="647700" y="7067550"/>
            <a:ext cx="9591675" cy="219075"/>
          </a:xfrm>
          <a:custGeom>
            <a:rect b="b" l="l" r="r" t="t"/>
            <a:pathLst>
              <a:path extrusionOk="0" h="219075" w="9591675">
                <a:moveTo>
                  <a:pt x="0" y="0"/>
                </a:moveTo>
                <a:lnTo>
                  <a:pt x="9591675" y="0"/>
                </a:lnTo>
                <a:lnTo>
                  <a:pt x="959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1" name="Google Shape;551;p10"/>
          <p:cNvSpPr/>
          <p:nvPr/>
        </p:nvSpPr>
        <p:spPr>
          <a:xfrm>
            <a:off x="866775" y="7067550"/>
            <a:ext cx="876300" cy="866775"/>
          </a:xfrm>
          <a:custGeom>
            <a:rect b="b" l="l" r="r" t="t"/>
            <a:pathLst>
              <a:path extrusionOk="0"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2" name="Google Shape;552;p10"/>
          <p:cNvSpPr/>
          <p:nvPr/>
        </p:nvSpPr>
        <p:spPr>
          <a:xfrm>
            <a:off x="1952625" y="7286625"/>
            <a:ext cx="228600" cy="647700"/>
          </a:xfrm>
          <a:custGeom>
            <a:rect b="b" l="l" r="r" t="t"/>
            <a:pathLst>
              <a:path extrusionOk="0" h="647700" w="228600">
                <a:moveTo>
                  <a:pt x="0" y="0"/>
                </a:moveTo>
                <a:lnTo>
                  <a:pt x="228600" y="0"/>
                </a:lnTo>
                <a:lnTo>
                  <a:pt x="2286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3" name="Google Shape;553;p10"/>
          <p:cNvSpPr txBox="1"/>
          <p:nvPr/>
        </p:nvSpPr>
        <p:spPr>
          <a:xfrm>
            <a:off x="2257401" y="7276550"/>
            <a:ext cx="83046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Chương trình: VinUni AI20K Build Phase – Cohort 4</a:t>
            </a:r>
            <a:endParaRPr/>
          </a:p>
        </p:txBody>
      </p:sp>
      <p:sp>
        <p:nvSpPr>
          <p:cNvPr id="554" name="Google Shape;554;p10"/>
          <p:cNvSpPr/>
          <p:nvPr/>
        </p:nvSpPr>
        <p:spPr>
          <a:xfrm>
            <a:off x="647700" y="7924800"/>
            <a:ext cx="9591675" cy="219075"/>
          </a:xfrm>
          <a:custGeom>
            <a:rect b="b" l="l" r="r" t="t"/>
            <a:pathLst>
              <a:path extrusionOk="0" h="219075" w="9591675">
                <a:moveTo>
                  <a:pt x="0" y="0"/>
                </a:moveTo>
                <a:lnTo>
                  <a:pt x="9591675" y="0"/>
                </a:lnTo>
                <a:lnTo>
                  <a:pt x="959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5" name="Google Shape;555;p10"/>
          <p:cNvSpPr/>
          <p:nvPr/>
        </p:nvSpPr>
        <p:spPr>
          <a:xfrm>
            <a:off x="866775" y="7924800"/>
            <a:ext cx="876300" cy="866775"/>
          </a:xfrm>
          <a:custGeom>
            <a:rect b="b" l="l" r="r" t="t"/>
            <a:pathLst>
              <a:path extrusionOk="0"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6" name="Google Shape;556;p10"/>
          <p:cNvSpPr/>
          <p:nvPr/>
        </p:nvSpPr>
        <p:spPr>
          <a:xfrm>
            <a:off x="1952625" y="7924800"/>
            <a:ext cx="228600" cy="866775"/>
          </a:xfrm>
          <a:custGeom>
            <a:rect b="b" l="l" r="r" t="t"/>
            <a:pathLst>
              <a:path extrusionOk="0" h="866775" w="228600">
                <a:moveTo>
                  <a:pt x="0" y="0"/>
                </a:moveTo>
                <a:lnTo>
                  <a:pt x="228600" y="0"/>
                </a:lnTo>
                <a:lnTo>
                  <a:pt x="228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7" name="Google Shape;557;p10"/>
          <p:cNvSpPr txBox="1"/>
          <p:nvPr/>
        </p:nvSpPr>
        <p:spPr>
          <a:xfrm>
            <a:off x="2281147" y="8150554"/>
            <a:ext cx="9551526" cy="4324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GitHub:https://github.com/AI20K-Build-Phase-Cohort-4/P-087</a:t>
            </a:r>
            <a:endParaRPr/>
          </a:p>
        </p:txBody>
      </p:sp>
      <p:sp>
        <p:nvSpPr>
          <p:cNvPr id="558" name="Google Shape;558;p10"/>
          <p:cNvSpPr/>
          <p:nvPr/>
        </p:nvSpPr>
        <p:spPr>
          <a:xfrm>
            <a:off x="647700" y="8782050"/>
            <a:ext cx="12201525" cy="1504950"/>
          </a:xfrm>
          <a:custGeom>
            <a:rect b="b" l="l" r="r" t="t"/>
            <a:pathLst>
              <a:path extrusionOk="0" h="1504950" w="12201525">
                <a:moveTo>
                  <a:pt x="0" y="0"/>
                </a:moveTo>
                <a:lnTo>
                  <a:pt x="12201525" y="0"/>
                </a:lnTo>
                <a:lnTo>
                  <a:pt x="12201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59" name="Google Shape;559;p10"/>
          <p:cNvSpPr/>
          <p:nvPr/>
        </p:nvSpPr>
        <p:spPr>
          <a:xfrm>
            <a:off x="866775" y="9001125"/>
            <a:ext cx="1095375" cy="1076325"/>
          </a:xfrm>
          <a:custGeom>
            <a:rect b="b" l="l" r="r" t="t"/>
            <a:pathLst>
              <a:path extrusionOk="0"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0" name="Google Shape;560;p10"/>
          <p:cNvSpPr txBox="1"/>
          <p:nvPr/>
        </p:nvSpPr>
        <p:spPr>
          <a:xfrm>
            <a:off x="2050287" y="9074175"/>
            <a:ext cx="107013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91" sz="4585" u="none" cap="none" strike="noStrike">
                <a:solidFill>
                  <a:srgbClr val="F8F3EC"/>
                </a:solidFill>
                <a:latin typeface="Arial"/>
                <a:ea typeface="Arial"/>
                <a:cs typeface="Arial"/>
                <a:sym typeface="Arial"/>
              </a:rPr>
              <a:t>Q&amp;A – Cảm ơn hội đồng đã lắng nghe!</a:t>
            </a:r>
            <a:endParaRPr/>
          </a:p>
        </p:txBody>
      </p:sp>
      <p:sp>
        <p:nvSpPr>
          <p:cNvPr id="561" name="Google Shape;561;p10"/>
          <p:cNvSpPr/>
          <p:nvPr/>
        </p:nvSpPr>
        <p:spPr>
          <a:xfrm>
            <a:off x="12839700" y="8782050"/>
            <a:ext cx="4800600" cy="1504950"/>
          </a:xfrm>
          <a:custGeom>
            <a:rect b="b" l="l" r="r" t="t"/>
            <a:pathLst>
              <a:path extrusionOk="0" h="1504950" w="4800600">
                <a:moveTo>
                  <a:pt x="0" y="0"/>
                </a:moveTo>
                <a:lnTo>
                  <a:pt x="4800600" y="0"/>
                </a:lnTo>
                <a:lnTo>
                  <a:pt x="48006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2" name="Google Shape;562;p10"/>
          <p:cNvSpPr/>
          <p:nvPr/>
        </p:nvSpPr>
        <p:spPr>
          <a:xfrm>
            <a:off x="13058775" y="9001125"/>
            <a:ext cx="1095375" cy="857250"/>
          </a:xfrm>
          <a:custGeom>
            <a:rect b="b" l="l" r="r" t="t"/>
            <a:pathLst>
              <a:path extrusionOk="0" h="857250" w="1095375">
                <a:moveTo>
                  <a:pt x="0" y="0"/>
                </a:moveTo>
                <a:lnTo>
                  <a:pt x="1095375" y="0"/>
                </a:lnTo>
                <a:lnTo>
                  <a:pt x="1095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3" name="Google Shape;563;p10"/>
          <p:cNvSpPr/>
          <p:nvPr/>
        </p:nvSpPr>
        <p:spPr>
          <a:xfrm>
            <a:off x="14144625" y="9001125"/>
            <a:ext cx="228600" cy="857250"/>
          </a:xfrm>
          <a:custGeom>
            <a:rect b="b" l="l" r="r" t="t"/>
            <a:pathLst>
              <a:path extrusionOk="0" h="857250" w="228600">
                <a:moveTo>
                  <a:pt x="0" y="0"/>
                </a:moveTo>
                <a:lnTo>
                  <a:pt x="228600" y="0"/>
                </a:lnTo>
                <a:lnTo>
                  <a:pt x="228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4" name="Google Shape;564;p10"/>
          <p:cNvSpPr txBox="1"/>
          <p:nvPr/>
        </p:nvSpPr>
        <p:spPr>
          <a:xfrm>
            <a:off x="14577101" y="8974025"/>
            <a:ext cx="2625000" cy="88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Bổ sung liên kết</a:t>
            </a:r>
            <a:endParaRPr/>
          </a:p>
          <a:p>
            <a:pPr indent="0" lvl="0" marL="0" marR="0" rtl="0" algn="ctr">
              <a:lnSpc>
                <a:spcPct val="15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6" sz="2311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hoặc liên hệ</a:t>
            </a:r>
            <a:endParaRPr/>
          </a:p>
        </p:txBody>
      </p:sp>
      <p:sp>
        <p:nvSpPr>
          <p:cNvPr id="565" name="Google Shape;565;p10"/>
          <p:cNvSpPr/>
          <p:nvPr/>
        </p:nvSpPr>
        <p:spPr>
          <a:xfrm>
            <a:off x="12839700" y="3000375"/>
            <a:ext cx="4362450" cy="4933950"/>
          </a:xfrm>
          <a:custGeom>
            <a:rect b="b" l="l" r="r" t="t"/>
            <a:pathLst>
              <a:path extrusionOk="0" h="4933950" w="4362450">
                <a:moveTo>
                  <a:pt x="0" y="0"/>
                </a:moveTo>
                <a:lnTo>
                  <a:pt x="4362450" y="0"/>
                </a:lnTo>
                <a:lnTo>
                  <a:pt x="4362450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66" name="Google Shape;566;p10"/>
          <p:cNvSpPr txBox="1"/>
          <p:nvPr/>
        </p:nvSpPr>
        <p:spPr>
          <a:xfrm>
            <a:off x="2300479" y="6462843"/>
            <a:ext cx="3016986" cy="445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-49" sz="2487" u="none" cap="none" strike="noStrike">
                <a:solidFill>
                  <a:srgbClr val="493927"/>
                </a:solidFill>
                <a:latin typeface="Arial"/>
                <a:ea typeface="Arial"/>
                <a:cs typeface="Arial"/>
                <a:sym typeface="Arial"/>
              </a:rPr>
              <a:t>Đội ngũ: Team P-087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