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12192000"/>
  <p:embeddedFontLst>
    <p:embeddedFont>
      <p:font typeface="Inter"/>
      <p:regular r:id="rId17"/>
      <p:bold r:id="rId18"/>
      <p:italic r:id="rId19"/>
      <p:boldItalic r:id="rId20"/>
    </p:embeddedFont>
    <p:embeddedFont>
      <p:font typeface="Roboto Mon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gVgklMChKjIuuxWZGQDZUNzIny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Inter-boldItalic.fntdata"/><Relationship Id="rId22" Type="http://schemas.openxmlformats.org/officeDocument/2006/relationships/font" Target="fonts/RobotoMono-bold.fntdata"/><Relationship Id="rId21" Type="http://schemas.openxmlformats.org/officeDocument/2006/relationships/font" Target="fonts/RobotoMono-regular.fntdata"/><Relationship Id="rId24" Type="http://schemas.openxmlformats.org/officeDocument/2006/relationships/font" Target="fonts/RobotoMono-boldItalic.fntdata"/><Relationship Id="rId23" Type="http://schemas.openxmlformats.org/officeDocument/2006/relationships/font" Target="fonts/RobotoMono-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customschemas.google.com/relationships/presentationmetadata" Target="meta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font" Target="fonts/Inter-regular.fntdata"/><Relationship Id="rId16" Type="http://schemas.openxmlformats.org/officeDocument/2006/relationships/slide" Target="slides/slide12.xml"/><Relationship Id="rId19" Type="http://schemas.openxmlformats.org/officeDocument/2006/relationships/font" Target="fonts/Inter-italic.fntdata"/><Relationship Id="rId18" Type="http://schemas.openxmlformats.org/officeDocument/2006/relationships/font" Target="fonts/Inter-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1pPr>
            <a:lvl2pPr lvl="1" marR="0" rtl="0" algn="l">
              <a:spcBef>
                <a:spcPts val="0"/>
              </a:spcBef>
              <a:spcAft>
                <a:spcPts val="0"/>
              </a:spcAft>
              <a:buSzPts val="1400"/>
              <a:buNone/>
              <a:defRPr b="0" i="0" sz="1800" u="none" cap="none" strike="noStrike">
                <a:solidFill>
                  <a:schemeClr val="dk1"/>
                </a:solidFill>
                <a:latin typeface="Inter"/>
                <a:ea typeface="Inter"/>
                <a:cs typeface="Inter"/>
                <a:sym typeface="Inter"/>
              </a:defRPr>
            </a:lvl2pPr>
            <a:lvl3pPr lvl="2" marR="0" rtl="0" algn="l">
              <a:spcBef>
                <a:spcPts val="0"/>
              </a:spcBef>
              <a:spcAft>
                <a:spcPts val="0"/>
              </a:spcAft>
              <a:buSzPts val="1400"/>
              <a:buNone/>
              <a:defRPr b="0" i="0" sz="1800" u="none" cap="none" strike="noStrike">
                <a:solidFill>
                  <a:schemeClr val="dk1"/>
                </a:solidFill>
                <a:latin typeface="Inter"/>
                <a:ea typeface="Inter"/>
                <a:cs typeface="Inter"/>
                <a:sym typeface="Inter"/>
              </a:defRPr>
            </a:lvl3pPr>
            <a:lvl4pPr lvl="3" marR="0" rtl="0" algn="l">
              <a:spcBef>
                <a:spcPts val="0"/>
              </a:spcBef>
              <a:spcAft>
                <a:spcPts val="0"/>
              </a:spcAft>
              <a:buSzPts val="1400"/>
              <a:buNone/>
              <a:defRPr b="0" i="0" sz="1800" u="none" cap="none" strike="noStrike">
                <a:solidFill>
                  <a:schemeClr val="dk1"/>
                </a:solidFill>
                <a:latin typeface="Inter"/>
                <a:ea typeface="Inter"/>
                <a:cs typeface="Inter"/>
                <a:sym typeface="Inter"/>
              </a:defRPr>
            </a:lvl4pPr>
            <a:lvl5pPr lvl="4" marR="0" rtl="0" algn="l">
              <a:spcBef>
                <a:spcPts val="0"/>
              </a:spcBef>
              <a:spcAft>
                <a:spcPts val="0"/>
              </a:spcAft>
              <a:buSzPts val="1400"/>
              <a:buNone/>
              <a:defRPr b="0" i="0" sz="1800" u="none" cap="none" strike="noStrike">
                <a:solidFill>
                  <a:schemeClr val="dk1"/>
                </a:solidFill>
                <a:latin typeface="Inter"/>
                <a:ea typeface="Inter"/>
                <a:cs typeface="Inter"/>
                <a:sym typeface="Inter"/>
              </a:defRPr>
            </a:lvl5pPr>
            <a:lvl6pPr lvl="5" marR="0" rtl="0" algn="l">
              <a:spcBef>
                <a:spcPts val="0"/>
              </a:spcBef>
              <a:spcAft>
                <a:spcPts val="0"/>
              </a:spcAft>
              <a:buSzPts val="1400"/>
              <a:buNone/>
              <a:defRPr b="0" i="0" sz="1800" u="none" cap="none" strike="noStrike">
                <a:solidFill>
                  <a:schemeClr val="dk1"/>
                </a:solidFill>
                <a:latin typeface="Inter"/>
                <a:ea typeface="Inter"/>
                <a:cs typeface="Inter"/>
                <a:sym typeface="Inter"/>
              </a:defRPr>
            </a:lvl6pPr>
            <a:lvl7pPr lvl="6" marR="0" rtl="0" algn="l">
              <a:spcBef>
                <a:spcPts val="0"/>
              </a:spcBef>
              <a:spcAft>
                <a:spcPts val="0"/>
              </a:spcAft>
              <a:buSzPts val="1400"/>
              <a:buNone/>
              <a:defRPr b="0" i="0" sz="1800" u="none" cap="none" strike="noStrike">
                <a:solidFill>
                  <a:schemeClr val="dk1"/>
                </a:solidFill>
                <a:latin typeface="Inter"/>
                <a:ea typeface="Inter"/>
                <a:cs typeface="Inter"/>
                <a:sym typeface="Inter"/>
              </a:defRPr>
            </a:lvl7pPr>
            <a:lvl8pPr lvl="7" marR="0" rtl="0" algn="l">
              <a:spcBef>
                <a:spcPts val="0"/>
              </a:spcBef>
              <a:spcAft>
                <a:spcPts val="0"/>
              </a:spcAft>
              <a:buSzPts val="1400"/>
              <a:buNone/>
              <a:defRPr b="0" i="0" sz="1800" u="none" cap="none" strike="noStrike">
                <a:solidFill>
                  <a:schemeClr val="dk1"/>
                </a:solidFill>
                <a:latin typeface="Inter"/>
                <a:ea typeface="Inter"/>
                <a:cs typeface="Inter"/>
                <a:sym typeface="Inter"/>
              </a:defRPr>
            </a:lvl8pPr>
            <a:lvl9pPr lvl="8" marR="0" rtl="0" algn="l">
              <a:spcBef>
                <a:spcPts val="0"/>
              </a:spcBef>
              <a:spcAft>
                <a:spcPts val="0"/>
              </a:spcAft>
              <a:buSzPts val="1400"/>
              <a:buNone/>
              <a:defRPr b="0" i="0" sz="1800" u="none" cap="none" strike="noStrike">
                <a:solidFill>
                  <a:schemeClr val="dk1"/>
                </a:solidFill>
                <a:latin typeface="Inter"/>
                <a:ea typeface="Inter"/>
                <a:cs typeface="Inter"/>
                <a:sym typeface="Inter"/>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nter"/>
                <a:ea typeface="Inter"/>
                <a:cs typeface="Inter"/>
                <a:sym typeface="Inter"/>
              </a:defRPr>
            </a:lvl1pPr>
            <a:lvl2pPr lvl="1" marR="0" rtl="0" algn="l">
              <a:spcBef>
                <a:spcPts val="0"/>
              </a:spcBef>
              <a:spcAft>
                <a:spcPts val="0"/>
              </a:spcAft>
              <a:buSzPts val="1400"/>
              <a:buNone/>
              <a:defRPr b="0" i="0" sz="1800" u="none" cap="none" strike="noStrike">
                <a:solidFill>
                  <a:schemeClr val="dk1"/>
                </a:solidFill>
                <a:latin typeface="Inter"/>
                <a:ea typeface="Inter"/>
                <a:cs typeface="Inter"/>
                <a:sym typeface="Inter"/>
              </a:defRPr>
            </a:lvl2pPr>
            <a:lvl3pPr lvl="2" marR="0" rtl="0" algn="l">
              <a:spcBef>
                <a:spcPts val="0"/>
              </a:spcBef>
              <a:spcAft>
                <a:spcPts val="0"/>
              </a:spcAft>
              <a:buSzPts val="1400"/>
              <a:buNone/>
              <a:defRPr b="0" i="0" sz="1800" u="none" cap="none" strike="noStrike">
                <a:solidFill>
                  <a:schemeClr val="dk1"/>
                </a:solidFill>
                <a:latin typeface="Inter"/>
                <a:ea typeface="Inter"/>
                <a:cs typeface="Inter"/>
                <a:sym typeface="Inter"/>
              </a:defRPr>
            </a:lvl3pPr>
            <a:lvl4pPr lvl="3" marR="0" rtl="0" algn="l">
              <a:spcBef>
                <a:spcPts val="0"/>
              </a:spcBef>
              <a:spcAft>
                <a:spcPts val="0"/>
              </a:spcAft>
              <a:buSzPts val="1400"/>
              <a:buNone/>
              <a:defRPr b="0" i="0" sz="1800" u="none" cap="none" strike="noStrike">
                <a:solidFill>
                  <a:schemeClr val="dk1"/>
                </a:solidFill>
                <a:latin typeface="Inter"/>
                <a:ea typeface="Inter"/>
                <a:cs typeface="Inter"/>
                <a:sym typeface="Inter"/>
              </a:defRPr>
            </a:lvl4pPr>
            <a:lvl5pPr lvl="4" marR="0" rtl="0" algn="l">
              <a:spcBef>
                <a:spcPts val="0"/>
              </a:spcBef>
              <a:spcAft>
                <a:spcPts val="0"/>
              </a:spcAft>
              <a:buSzPts val="1400"/>
              <a:buNone/>
              <a:defRPr b="0" i="0" sz="1800" u="none" cap="none" strike="noStrike">
                <a:solidFill>
                  <a:schemeClr val="dk1"/>
                </a:solidFill>
                <a:latin typeface="Inter"/>
                <a:ea typeface="Inter"/>
                <a:cs typeface="Inter"/>
                <a:sym typeface="Inter"/>
              </a:defRPr>
            </a:lvl5pPr>
            <a:lvl6pPr lvl="5" marR="0" rtl="0" algn="l">
              <a:spcBef>
                <a:spcPts val="0"/>
              </a:spcBef>
              <a:spcAft>
                <a:spcPts val="0"/>
              </a:spcAft>
              <a:buSzPts val="1400"/>
              <a:buNone/>
              <a:defRPr b="0" i="0" sz="1800" u="none" cap="none" strike="noStrike">
                <a:solidFill>
                  <a:schemeClr val="dk1"/>
                </a:solidFill>
                <a:latin typeface="Inter"/>
                <a:ea typeface="Inter"/>
                <a:cs typeface="Inter"/>
                <a:sym typeface="Inter"/>
              </a:defRPr>
            </a:lvl6pPr>
            <a:lvl7pPr lvl="6" marR="0" rtl="0" algn="l">
              <a:spcBef>
                <a:spcPts val="0"/>
              </a:spcBef>
              <a:spcAft>
                <a:spcPts val="0"/>
              </a:spcAft>
              <a:buSzPts val="1400"/>
              <a:buNone/>
              <a:defRPr b="0" i="0" sz="1800" u="none" cap="none" strike="noStrike">
                <a:solidFill>
                  <a:schemeClr val="dk1"/>
                </a:solidFill>
                <a:latin typeface="Inter"/>
                <a:ea typeface="Inter"/>
                <a:cs typeface="Inter"/>
                <a:sym typeface="Inter"/>
              </a:defRPr>
            </a:lvl7pPr>
            <a:lvl8pPr lvl="7" marR="0" rtl="0" algn="l">
              <a:spcBef>
                <a:spcPts val="0"/>
              </a:spcBef>
              <a:spcAft>
                <a:spcPts val="0"/>
              </a:spcAft>
              <a:buSzPts val="1400"/>
              <a:buNone/>
              <a:defRPr b="0" i="0" sz="1800" u="none" cap="none" strike="noStrike">
                <a:solidFill>
                  <a:schemeClr val="dk1"/>
                </a:solidFill>
                <a:latin typeface="Inter"/>
                <a:ea typeface="Inter"/>
                <a:cs typeface="Inter"/>
                <a:sym typeface="Inter"/>
              </a:defRPr>
            </a:lvl8pPr>
            <a:lvl9pPr lvl="8" marR="0" rtl="0" algn="l">
              <a:spcBef>
                <a:spcPts val="0"/>
              </a:spcBef>
              <a:spcAft>
                <a:spcPts val="0"/>
              </a:spcAft>
              <a:buSzPts val="1400"/>
              <a:buNone/>
              <a:defRPr b="0" i="0" sz="1800" u="none" cap="none" strike="noStrike">
                <a:solidFill>
                  <a:schemeClr val="dk1"/>
                </a:solidFill>
                <a:latin typeface="Inter"/>
                <a:ea typeface="Inter"/>
                <a:cs typeface="Inter"/>
                <a:sym typeface="Inter"/>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1pPr>
            <a:lvl2pPr indent="-228600" lvl="1" marL="9144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2pPr>
            <a:lvl3pPr indent="-228600" lvl="2" marL="13716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3pPr>
            <a:lvl4pPr indent="-228600" lvl="3" marL="18288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4pPr>
            <a:lvl5pPr indent="-228600" lvl="4" marL="22860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5pPr>
            <a:lvl6pPr indent="-228600" lvl="5" marL="27432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6pPr>
            <a:lvl7pPr indent="-228600" lvl="6" marL="32004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7pPr>
            <a:lvl8pPr indent="-228600" lvl="7" marL="36576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8pPr>
            <a:lvl9pPr indent="-228600" lvl="8" marL="411480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nter"/>
                <a:ea typeface="Inter"/>
                <a:cs typeface="Inter"/>
                <a:sym typeface="Inter"/>
              </a:defRPr>
            </a:lvl1pPr>
            <a:lvl2pPr lvl="1" marR="0" rtl="0" algn="l">
              <a:spcBef>
                <a:spcPts val="0"/>
              </a:spcBef>
              <a:spcAft>
                <a:spcPts val="0"/>
              </a:spcAft>
              <a:buSzPts val="1400"/>
              <a:buNone/>
              <a:defRPr b="0" i="0" sz="1800" u="none" cap="none" strike="noStrike">
                <a:solidFill>
                  <a:schemeClr val="dk1"/>
                </a:solidFill>
                <a:latin typeface="Inter"/>
                <a:ea typeface="Inter"/>
                <a:cs typeface="Inter"/>
                <a:sym typeface="Inter"/>
              </a:defRPr>
            </a:lvl2pPr>
            <a:lvl3pPr lvl="2" marR="0" rtl="0" algn="l">
              <a:spcBef>
                <a:spcPts val="0"/>
              </a:spcBef>
              <a:spcAft>
                <a:spcPts val="0"/>
              </a:spcAft>
              <a:buSzPts val="1400"/>
              <a:buNone/>
              <a:defRPr b="0" i="0" sz="1800" u="none" cap="none" strike="noStrike">
                <a:solidFill>
                  <a:schemeClr val="dk1"/>
                </a:solidFill>
                <a:latin typeface="Inter"/>
                <a:ea typeface="Inter"/>
                <a:cs typeface="Inter"/>
                <a:sym typeface="Inter"/>
              </a:defRPr>
            </a:lvl3pPr>
            <a:lvl4pPr lvl="3" marR="0" rtl="0" algn="l">
              <a:spcBef>
                <a:spcPts val="0"/>
              </a:spcBef>
              <a:spcAft>
                <a:spcPts val="0"/>
              </a:spcAft>
              <a:buSzPts val="1400"/>
              <a:buNone/>
              <a:defRPr b="0" i="0" sz="1800" u="none" cap="none" strike="noStrike">
                <a:solidFill>
                  <a:schemeClr val="dk1"/>
                </a:solidFill>
                <a:latin typeface="Inter"/>
                <a:ea typeface="Inter"/>
                <a:cs typeface="Inter"/>
                <a:sym typeface="Inter"/>
              </a:defRPr>
            </a:lvl4pPr>
            <a:lvl5pPr lvl="4" marR="0" rtl="0" algn="l">
              <a:spcBef>
                <a:spcPts val="0"/>
              </a:spcBef>
              <a:spcAft>
                <a:spcPts val="0"/>
              </a:spcAft>
              <a:buSzPts val="1400"/>
              <a:buNone/>
              <a:defRPr b="0" i="0" sz="1800" u="none" cap="none" strike="noStrike">
                <a:solidFill>
                  <a:schemeClr val="dk1"/>
                </a:solidFill>
                <a:latin typeface="Inter"/>
                <a:ea typeface="Inter"/>
                <a:cs typeface="Inter"/>
                <a:sym typeface="Inter"/>
              </a:defRPr>
            </a:lvl5pPr>
            <a:lvl6pPr lvl="5" marR="0" rtl="0" algn="l">
              <a:spcBef>
                <a:spcPts val="0"/>
              </a:spcBef>
              <a:spcAft>
                <a:spcPts val="0"/>
              </a:spcAft>
              <a:buSzPts val="1400"/>
              <a:buNone/>
              <a:defRPr b="0" i="0" sz="1800" u="none" cap="none" strike="noStrike">
                <a:solidFill>
                  <a:schemeClr val="dk1"/>
                </a:solidFill>
                <a:latin typeface="Inter"/>
                <a:ea typeface="Inter"/>
                <a:cs typeface="Inter"/>
                <a:sym typeface="Inter"/>
              </a:defRPr>
            </a:lvl6pPr>
            <a:lvl7pPr lvl="6" marR="0" rtl="0" algn="l">
              <a:spcBef>
                <a:spcPts val="0"/>
              </a:spcBef>
              <a:spcAft>
                <a:spcPts val="0"/>
              </a:spcAft>
              <a:buSzPts val="1400"/>
              <a:buNone/>
              <a:defRPr b="0" i="0" sz="1800" u="none" cap="none" strike="noStrike">
                <a:solidFill>
                  <a:schemeClr val="dk1"/>
                </a:solidFill>
                <a:latin typeface="Inter"/>
                <a:ea typeface="Inter"/>
                <a:cs typeface="Inter"/>
                <a:sym typeface="Inter"/>
              </a:defRPr>
            </a:lvl7pPr>
            <a:lvl8pPr lvl="7" marR="0" rtl="0" algn="l">
              <a:spcBef>
                <a:spcPts val="0"/>
              </a:spcBef>
              <a:spcAft>
                <a:spcPts val="0"/>
              </a:spcAft>
              <a:buSzPts val="1400"/>
              <a:buNone/>
              <a:defRPr b="0" i="0" sz="1800" u="none" cap="none" strike="noStrike">
                <a:solidFill>
                  <a:schemeClr val="dk1"/>
                </a:solidFill>
                <a:latin typeface="Inter"/>
                <a:ea typeface="Inter"/>
                <a:cs typeface="Inter"/>
                <a:sym typeface="Inter"/>
              </a:defRPr>
            </a:lvl8pPr>
            <a:lvl9pPr lvl="8" marR="0" rtl="0" algn="l">
              <a:spcBef>
                <a:spcPts val="0"/>
              </a:spcBef>
              <a:spcAft>
                <a:spcPts val="0"/>
              </a:spcAft>
              <a:buSzPts val="1400"/>
              <a:buNone/>
              <a:defRPr b="0" i="0" sz="1800" u="none" cap="none" strike="noStrike">
                <a:solidFill>
                  <a:schemeClr val="dk1"/>
                </a:solidFill>
                <a:latin typeface="Inter"/>
                <a:ea typeface="Inter"/>
                <a:cs typeface="Inter"/>
                <a:sym typeface="Inter"/>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nter"/>
                <a:ea typeface="Inter"/>
                <a:cs typeface="Inter"/>
                <a:sym typeface="Inter"/>
              </a:rPr>
              <a:t>‹#›</a:t>
            </a:fld>
            <a:endParaRPr b="0" i="0" sz="1200" u="none" cap="none" strike="noStrike">
              <a:solidFill>
                <a:schemeClr val="dk1"/>
              </a:solidFill>
              <a:latin typeface="Inter"/>
              <a:ea typeface="Inter"/>
              <a:cs typeface="Inter"/>
              <a:sym typeface="Inter"/>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c4-app-087.pages.dev/" TargetMode="External"/><Relationship Id="rId3" Type="http://schemas.openxmlformats.org/officeDocument/2006/relationships/hyperlink" Target="https://github.com/NVlabs/SimFoundry" TargetMode="External"/><Relationship Id="rId4" Type="http://schemas.openxmlformats.org/officeDocument/2006/relationships/hyperlink" Target="https://developer.nvidia.com/blog/simulate-robotic-environments-faster-with-nvidia-isaac-sim-and-world-labs-marble/" TargetMode="Externa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h575f3ee0b5d7ded4_14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 name="Google Shape;14;h575f3ee0b5d7ded4_143_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Xin chào ban giám khảo và mọi người. Hãy tưởng tượng một đội phát triển robot chuẩn bị đưa robot giao nhận vào một tòa nhà mới. Trước khi triển khai, đội kỹ thuật muốn biết robot có đi qua lối hẹp hay không, có va vào bàn ghế hay không, và nếu bố trí lại đồ vật thì đường đi sẽ thay đổi như thế nào. Để trả lời những câu hỏi đó một cách có kiểm soát, kỹ sư thường cần một môi trường mô phỏng phù hợp với địa điểm mà robot sắp hoạt động.</a:t>
            </a:r>
            <a:br>
              <a:rPr lang="en-US"/>
            </a:br>
            <a:br>
              <a:rPr lang="en-US"/>
            </a:br>
            <a:r>
              <a:rPr lang="en-US"/>
              <a:t>Real2Sim Studio là dự án nhóm chúng tôi xây dựng trong bốn tuần. Ý tưởng của dự án là bắt đầu từ video quay một không gian thật, tái dựng môi trường 3D, cho phép kiểm tra và chỉnh sửa các vật thể, chuẩn bị hình học va chạm rồi xuất dữ liệu sang một nền tảng mô phỏng như NVIDIA Isaac Sim.</a:t>
            </a:r>
            <a:br>
              <a:rPr lang="en-US"/>
            </a:br>
            <a:br>
              <a:rPr lang="en-US"/>
            </a:br>
            <a:r>
              <a:rPr lang="en-US"/>
              <a:t>Điều chúng tôi muốn nói rõ ngay từ đầu: Real2Sim chưa phải sản phẩm thương mại hoàn chỉnh, cũng không phải một simulator mới thay thế Isaac Sim. Đây là một prototype tập trung vào công việc chuẩn bị scene nằm giữa dữ liệu quan sát thực và bài kiểm tra robot. Trong phần trình bày, chúng tôi sẽ bắt đầu từ bối cảnh phát triển của robotics và Digital Twin, sau đó thu hẹp dần đến bài toán nhóm chọn, mô tả những gì đã thực hiện và những mục tiêu còn cần kiểm chứng.</a:t>
            </a:r>
            <a:br>
              <a:rPr lang="en-US"/>
            </a:br>
            <a:br>
              <a:rPr lang="en-US"/>
            </a:br>
            <a:r>
              <a:rPr lang="en-US"/>
              <a:t>[Sources]</a:t>
            </a:r>
            <a:br>
              <a:rPr lang="en-US"/>
            </a:br>
            <a:r>
              <a:rPr lang="en-US"/>
              <a:t>- https://c4-app-087.pages.dev/</a:t>
            </a:r>
            <a:br>
              <a:rPr lang="en-US"/>
            </a:br>
            <a:r>
              <a:rPr lang="en-US"/>
              <a:t>- Tài liệu người dùng: PIPELINE_HIEN_TAI_VA_LUONG_USER.md (đọc source branch mvp-pipeline-v2 ngày 17/10/2026).</a:t>
            </a:r>
            <a:endParaRPr/>
          </a:p>
        </p:txBody>
      </p:sp>
      <p:sp>
        <p:nvSpPr>
          <p:cNvPr id="15" name="Google Shape;15;h575f3ee0b5d7ded4_143_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h575f3ee0b5d7ded4_143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h575f3ee0b5d7ded4_143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Trước tiên, chúng tôi muốn nhìn bài toán từ góc độ của robotics, thay vì bắt đầu bằng các thuật toán tái dựng 3D. Khi một robot di động chuyển từ khu vực thử nghiệm sang một văn phòng, hành lang hay kho mới, rất nhiều yếu tố có thể thay đổi. Cùng một robot nhưng lối đi ở địa điểm này hẹp hơn, vị trí kệ hàng khác đi, hoặc người vận hành thay đổi cách sắp xếp đồ vật.</a:t>
            </a:r>
            <a:br>
              <a:rPr lang="en-US"/>
            </a:br>
            <a:br>
              <a:rPr lang="en-US"/>
            </a:br>
            <a:r>
              <a:rPr lang="en-US"/>
              <a:t>Các đội kỹ thuật có thể thử robot ngoài đời thật, và việc thử nghiệm thực địa là rất quan trọng. Tuy nhiên, khi muốn kiểm tra nhiều cách bố trí hoặc những tình huống hiếm gặp, việc chuẩn bị điều kiện và lặp lại cùng một bài thử có thể tốn công. Một môi trường mô phỏng giúp tạo ra các tình huống có thể lặp lại và có thể thay đổi có chủ đích. Ví dụ, ta có thể giữ nguyên robot và nhiệm vụ, chỉ dịch một chiếc bàn vào lối đi để quan sát bài kiểm tra thay đổi như thế nào.</a:t>
            </a:r>
            <a:br>
              <a:rPr lang="en-US"/>
            </a:br>
            <a:br>
              <a:rPr lang="en-US"/>
            </a:br>
            <a:r>
              <a:rPr lang="en-US"/>
              <a:t>Dĩ nhiên, mô phỏng chỉ có giá trị nếu scene và bài thử phù hợp với câu hỏi cần trả lời. Một bản đồ hai chiều có thể đủ cho một bài toán navigation đơn giản. Nhưng nếu bài kiểm tra cần hình học ba chiều, vị trí vật cản hoặc phản ứng va chạm, kỹ sư phải chuẩn bị thêm dữ liệu không gian và physics. Đây là điểm dẫn chúng ta đến Digital Twin và Real-to-Sim.</a:t>
            </a:r>
            <a:br>
              <a:rPr lang="en-US"/>
            </a:br>
            <a:br>
              <a:rPr lang="en-US"/>
            </a:br>
            <a:r>
              <a:rPr lang="en-US"/>
              <a:t>[Sources]</a:t>
            </a:r>
            <a:br>
              <a:rPr lang="en-US"/>
            </a:br>
            <a:r>
              <a:rPr lang="en-US"/>
              <a:t>- https://c4-app-087.pages.dev/</a:t>
            </a:r>
            <a:br>
              <a:rPr lang="en-US"/>
            </a:br>
            <a:r>
              <a:rPr lang="en-US"/>
              <a:t>- https://www.kiongroup.com/en/Press/Press-Releases/Press-Releases-Detail.html?id=1099696911</a:t>
            </a:r>
            <a:br>
              <a:rPr lang="en-US"/>
            </a:br>
            <a:r>
              <a:rPr lang="en-US"/>
              <a:t>- https://developer.nvidia.com/blog/simulate-robotic-environments-faster-with-nvidia-isaac-sim-and-world-labs-marble/</a:t>
            </a:r>
            <a:endParaRPr/>
          </a:p>
        </p:txBody>
      </p:sp>
      <p:sp>
        <p:nvSpPr>
          <p:cNvPr id="36" name="Google Shape;36;h575f3ee0b5d7ded4_143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575f3ee0b5d7ded4_143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h575f3ee0b5d7ded4_143_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Một câu hỏi quan trọng là: nếu chuẩn bị môi trường mô phỏng là một công việc có giá trị, có bằng chứng nào từ thị trường hay không? Chúng tôi sử dụng ba loại ví dụ và phân biệt rõ ý nghĩa của từng loại.</a:t>
            </a:r>
            <a:br>
              <a:rPr lang="en-US"/>
            </a:br>
            <a:br>
              <a:rPr lang="en-US"/>
            </a:br>
            <a:r>
              <a:rPr lang="en-US"/>
              <a:t>Thứ nhất là quy mô hoạt động của ngành robotics. Theo báo cáo World Robotics 2026, International Federation of Robotics ghi nhận gần 250 nghìn robot dịch vụ chuyên nghiệp được bán trên toàn cầu trong năm 2025, tăng 24 phần trăm so với năm trước. Số này cho thấy robot dịch vụ đang có hoạt động thương mại ở nhiều ứng dụng. Nhưng nó không phải là số doanh nghiệp có thể mua Real2Sim, nên chúng tôi không dùng nó để tự tính doanh thu hoặc TAM.</a:t>
            </a:r>
            <a:br>
              <a:rPr lang="en-US"/>
            </a:br>
            <a:br>
              <a:rPr lang="en-US"/>
            </a:br>
            <a:r>
              <a:rPr lang="en-US"/>
              <a:t>Thứ hai là trường hợp doanh nghiệp áp dụng Digital Twin. Tháng 3 năm 2026, KION công bố việc hợp tác với NVIDIA và Accenture để tạo bản mô phỏng số của nhà kho khách hàng. Họ sử dụng môi trường ảo để thử nhiều tình huống vận hành và thực hiện Virtual Commissioning, nghĩa là kiểm tra hệ thống trước khi lắp đặt thực tế. Điểm đáng chú ý là công ty đang nối dữ liệu không gian, robotics simulation và vận hành ngoài đời vào cùng một quy trình.</a:t>
            </a:r>
            <a:br>
              <a:rPr lang="en-US"/>
            </a:br>
            <a:br>
              <a:rPr lang="en-US"/>
            </a:br>
            <a:r>
              <a:rPr lang="en-US"/>
              <a:t>Thứ ba là các dự án công nghệ mới. NVIDIA đã công bố hướng dẫn kết hợp World Labs Marble với Isaac Sim để tạo môi trường 3D và thêm collider phục vụ robot. NVLabs SimFoundry cũng công bố một pipeline tạo scene có physics từ video, chủ yếu với bài toán tabletop manipulation và OmniGibson. Đây là những hướng nghiên cứu khác nhau, không phải tất cả đều cùng sản phẩm hay cùng phân khúc.</a:t>
            </a:r>
            <a:br>
              <a:rPr lang="en-US"/>
            </a:br>
            <a:br>
              <a:rPr lang="en-US"/>
            </a:br>
            <a:r>
              <a:rPr lang="en-US"/>
              <a:t>Từ các ví dụ này, chúng tôi rút ra rằng Real-to-Sim và Digital Twin là hướng đang được nhiều doanh nghiệp, nhóm nghiên cứu quan tâm. Nhưng để một prototype như Real2Sim trở nên hữu ích, nhóm vẫn phải chọn một công việc đủ cụ thể để tập trung giải quyết.</a:t>
            </a:r>
            <a:br>
              <a:rPr lang="en-US"/>
            </a:br>
            <a:br>
              <a:rPr lang="en-US"/>
            </a:br>
            <a:r>
              <a:rPr lang="en-US"/>
              <a:t>[Sources]</a:t>
            </a:r>
            <a:br>
              <a:rPr lang="en-US"/>
            </a:br>
            <a:r>
              <a:rPr lang="en-US"/>
              <a:t>- https://ifr.org/ifr-press-releases/global-sales-of-professional-service-robots-surge-24-percent</a:t>
            </a:r>
            <a:br>
              <a:rPr lang="en-US"/>
            </a:br>
            <a:r>
              <a:rPr lang="en-US"/>
              <a:t>- https://www.kiongroup.com/en/Press/Press-Releases/Press-Releases-Detail.html?id=1099696911</a:t>
            </a:r>
            <a:br>
              <a:rPr lang="en-US"/>
            </a:br>
            <a:r>
              <a:rPr lang="en-US"/>
              <a:t>- https://developer.nvidia.com/blog/simulate-robotic-environments-faster-with-nvidia-isaac-sim-and-world-labs-marble/</a:t>
            </a:r>
            <a:br>
              <a:rPr lang="en-US"/>
            </a:br>
            <a:r>
              <a:rPr lang="en-US"/>
              <a:t>- https://github.com/NVlabs/SimFoundry</a:t>
            </a:r>
            <a:br>
              <a:rPr lang="en-US"/>
            </a:br>
            <a:r>
              <a:rPr lang="en-US"/>
              <a:t>- Gần 250.000 robot dịch vụ chuyên nghiệp bán năm 2025 theo báo cáo IFR 30/09/2026; không phải TAM của Real2Sim.</a:t>
            </a:r>
            <a:endParaRPr/>
          </a:p>
        </p:txBody>
      </p:sp>
      <p:sp>
        <p:nvSpPr>
          <p:cNvPr id="65" name="Google Shape;65;h575f3ee0b5d7ded4_143_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575f3ee0b5d7ded4_143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h575f3ee0b5d7ded4_143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Khi nhìn vào thị trường, chúng tôi không cho rằng Real2Sim là công cụ duy nhất có thể biến dữ liệu thành scene mô phỏng. Trên thực tế, đã có nhiều cách và nhiều sản phẩm làm tốt những phần khác nhau của quy trình.</a:t>
            </a:r>
            <a:br>
              <a:rPr lang="en-US"/>
            </a:br>
            <a:br>
              <a:rPr lang="en-US"/>
            </a:br>
            <a:r>
              <a:rPr lang="en-US"/>
              <a:t>Nếu doanh nghiệp có sẵn CAD hoặc thư viện 3D assets phù hợp với địa điểm, kỹ sư có thể dựng và bố trí scene trực tiếp trong simulator. Nếu có LiDAR hoặc hệ thống SLAM, họ có thể bắt đầu từ bản đồ và point cloud để khôi phục cấu trúc không gian. Một số dự án như NVIDIA NuRec tập trung vào neural reconstruction và khả năng tích hợp với nền tảng mô phỏng. Những giải pháp như World Labs Marble hay SimFoundry tiếp tục đẩy mạnh khả năng tạo môi trường và vật thể 3D thông qua AI.</a:t>
            </a:r>
            <a:br>
              <a:rPr lang="en-US"/>
            </a:br>
            <a:br>
              <a:rPr lang="en-US"/>
            </a:br>
            <a:r>
              <a:rPr lang="en-US"/>
              <a:t>Chúng tôi cũng muốn tránh một lập luận không công bằng: chỉ vì Real2Sim có chỉnh sửa object hoặc collider thì không có nghĩa sản phẩm khác thiếu chức năng đó. SimFoundry đã có hướng chỉnh sửa scene; Marble cũng hỗ trợ các đầu ra phục vụ Isaac Sim. Hiện tại Real2Sim chưa có benchmark đối chứng để chứng minh nhanh hơn, chính xác hơn hay ít thao tác hơn.</a:t>
            </a:r>
            <a:br>
              <a:rPr lang="en-US"/>
            </a:br>
            <a:br>
              <a:rPr lang="en-US"/>
            </a:br>
            <a:r>
              <a:rPr lang="en-US"/>
              <a:t>Vì vậy, nhóm không chọn chiến lược 'làm tất cả tốt hơn mọi nền tảng'. Chúng tôi chọn một phạm vi hẹp và có thể kiểm thử được: một video quay không gian indoor, một scene có thể xem và chỉnh sửa từng vật, collider gắn với phiên bản scene, và gói dữ liệu chuẩn bị cho Isaac Sim. Câu hỏi nhóm sẽ tiếp tục kiểm chứng là liệu cách tổ chức workflow này có hữu ích cho kỹ sư mô phỏng robot hay không.</a:t>
            </a:r>
            <a:br>
              <a:rPr lang="en-US"/>
            </a:br>
            <a:br>
              <a:rPr lang="en-US"/>
            </a:br>
            <a:r>
              <a:rPr lang="en-US"/>
              <a:t>[Sources]</a:t>
            </a:r>
            <a:br>
              <a:rPr lang="en-US"/>
            </a:br>
            <a:r>
              <a:rPr lang="en-US"/>
              <a:t>- https://c4-app-087.pages.dev/</a:t>
            </a:r>
            <a:br>
              <a:rPr lang="en-US"/>
            </a:br>
            <a:r>
              <a:rPr lang="en-US"/>
              <a:t>- https://developer.nvidia.com/blog/reconstruct-a-scene-in-nvidia-isaac-sim-using-only-a-smartphone/</a:t>
            </a:r>
            <a:br>
              <a:rPr lang="en-US"/>
            </a:br>
            <a:r>
              <a:rPr lang="en-US"/>
              <a:t>- https://developer.nvidia.com/blog/simulate-robotic-environments-faster-with-nvidia-isaac-sim-and-world-labs-marble/</a:t>
            </a:r>
            <a:br>
              <a:rPr lang="en-US"/>
            </a:br>
            <a:r>
              <a:rPr lang="en-US"/>
              <a:t>- https://github.com/NVlabs/SimFoundry</a:t>
            </a:r>
            <a:endParaRPr/>
          </a:p>
        </p:txBody>
      </p:sp>
      <p:sp>
        <p:nvSpPr>
          <p:cNvPr id="92" name="Google Shape;92;h575f3ee0b5d7ded4_143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575f3ee0b5d7ded4_143_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575f3ee0b5d7ded4_143_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Sau phần bối cảnh chung, đây mới là bài toán cụ thể mà nhóm chúng tôi chọn cho bốn tuần phát triển. Hãy giả sử chúng ta đã có video của một phòng hoặc một lối đi trong kho, và hệ thống đã tạo được bản tái dựng 3D bằng Gaussian Splatting. Người xem có thể xoay camera và nhìn thấy bàn, kệ, sàn và tường. Nhưng như vậy chưa đủ để thực hiện một bài mô phỏng robot có xét va chạm.</a:t>
            </a:r>
            <a:br>
              <a:rPr lang="en-US"/>
            </a:br>
            <a:br>
              <a:rPr lang="en-US"/>
            </a:br>
            <a:r>
              <a:rPr lang="en-US"/>
              <a:t>Vấn đề đầu tiên là kích thước. Camera monocular có thể khôi phục vị trí tương đối, nhưng không tự biết một đơn vị trong cảnh tương ứng với bao nhiêu mét. Nếu khoảng cách sai, kết luận về việc robot có đi qua một lối đi hay không cũng có thể sai.</a:t>
            </a:r>
            <a:br>
              <a:rPr lang="en-US"/>
            </a:br>
            <a:br>
              <a:rPr lang="en-US"/>
            </a:br>
            <a:r>
              <a:rPr lang="en-US"/>
              <a:t>Vấn đề thứ hai là cấu trúc vật thể. Một bản Gaussian thường là biểu diễn của toàn cảnh. Muốn di chuyển riêng chiếc bàn, hệ thống cần xác định tập Gaussian nào thuộc chiếc bàn, phần nào thuộc nền và cho phép người dùng kiểm tra cách phân tách đó.</a:t>
            </a:r>
            <a:br>
              <a:rPr lang="en-US"/>
            </a:br>
            <a:br>
              <a:rPr lang="en-US"/>
            </a:br>
            <a:r>
              <a:rPr lang="en-US"/>
              <a:t>Vấn đề thứ ba là collision. Gaussian chủ yếu biểu diễn hình ảnh, không thay thế trực tiếp collider phục vụ mô phỏng vật lý. Nếu thiếu collider, robot có thể đi xuyên vật; nếu collider ở vị trí sai hoặc quá lớn, robot có thể bị chặn ở vùng không có vật cản.</a:t>
            </a:r>
            <a:br>
              <a:rPr lang="en-US"/>
            </a:br>
            <a:br>
              <a:rPr lang="en-US"/>
            </a:br>
            <a:r>
              <a:rPr lang="en-US"/>
              <a:t>Cuối cùng, khi sửa bố trí, chúng ta phải giữ các thành phần liên quan nhất quán. Một vật thể được Move hoặc Rotate không chỉ làm hình ảnh thay đổi: collider và trạng thái scene cũng phải cập nhật theo đúng revision. Đây là bốn nhiệm vụ kỹ thuật mà nhóm tập trung hỗ trợ. Chúng tôi không nói rằng sau bốn tuần tất cả đã được giải quyết hoàn toàn; nhiều khâu vẫn cần người dùng kiểm tra và cải thiện độ ổn định.</a:t>
            </a:r>
            <a:br>
              <a:rPr lang="en-US"/>
            </a:br>
            <a:br>
              <a:rPr lang="en-US"/>
            </a:br>
            <a:r>
              <a:rPr lang="en-US"/>
              <a:t>[Sources]</a:t>
            </a:r>
            <a:br>
              <a:rPr lang="en-US"/>
            </a:br>
            <a:r>
              <a:rPr lang="en-US"/>
              <a:t>- https://c4-app-087.pages.dev/</a:t>
            </a:r>
            <a:br>
              <a:rPr lang="en-US"/>
            </a:br>
            <a:r>
              <a:rPr lang="en-US"/>
              <a:t>- Tài liệu người dùng: PIPELINE_HIEN_TAI_VA_LUONG_USER.md (đọc source branch mvp-pipeline-v2 ngày 17/10/2026).</a:t>
            </a:r>
            <a:endParaRPr/>
          </a:p>
        </p:txBody>
      </p:sp>
      <p:sp>
        <p:nvSpPr>
          <p:cNvPr id="140" name="Google Shape;140;h575f3ee0b5d7ded4_143_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h575f3ee0b5d7ded4_143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h575f3ee0b5d7ded4_143_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Real2Sim Studio được thiết kế như một workspace hỗ trợ kỹ sư chuẩn bị scene, chứ không phải một hệ thống tự động hoàn toàn. Hướng tiếp cận của nhóm là tận dụng công nghệ AI và reconstruction cho những công đoạn nặng, nhưng vẫn để người dùng quyết định ở những điểm quan trọng.</a:t>
            </a:r>
            <a:br>
              <a:rPr lang="en-US"/>
            </a:br>
            <a:br>
              <a:rPr lang="en-US"/>
            </a:br>
            <a:r>
              <a:rPr lang="en-US"/>
              <a:t>Đầu tiên, hệ thống nhận video, xử lý các frame, sử dụng COLMAP để ước lượng camera pose và Brush để dựng hình ảnh 3D Gaussian Splatting. Tuy nhiên, hình dựng từ một camera RGB chưa mặc nhiên có kích thước thật. Vì vậy người dùng phải xác nhận hệ mét, dựa trên các đoạn đo hoặc bằng chứng sensor phù hợp.</a:t>
            </a:r>
            <a:br>
              <a:rPr lang="en-US"/>
            </a:br>
            <a:br>
              <a:rPr lang="en-US"/>
            </a:br>
            <a:r>
              <a:rPr lang="en-US"/>
              <a:t>Tiếp theo, AI hỗ trợ đề xuất các object từ nhiều góc nhìn. Kết quả ban đầu được đưa vào một bản Draft để người dùng xem lại. Nếu vùng object chưa đúng, họ có thể sử dụng các box cộng hoặc trừ để điều chỉnh membership của Gaussian. Nhóm chủ động đưa điểm kiểm tra này vào trước bước tạo mesh và collider, vì một lỗi segmentation ở đầu sẽ ảnh hưởng tới các bước hình học tiếp theo.</a:t>
            </a:r>
            <a:br>
              <a:rPr lang="en-US"/>
            </a:br>
            <a:br>
              <a:rPr lang="en-US"/>
            </a:br>
            <a:r>
              <a:rPr lang="en-US"/>
              <a:t>Sau khi có kết quả được chấp nhận, pipeline dựng surface, kiểm tra chất lượng và tạo collider; người dùng có thể chỉnh bố trí, xem Walk trong trình duyệt rồi chuẩn bị gói OpenUSD. Những bước này vẫn có giới hạn về độ ổn định và chất lượng. Chúng tôi không dùng việc có Human-in-the-Loop làm bằng chứng rằng đã tiết kiệm công sức.</a:t>
            </a:r>
            <a:br>
              <a:rPr lang="en-US"/>
            </a:br>
            <a:br>
              <a:rPr lang="en-US"/>
            </a:br>
            <a:r>
              <a:rPr lang="en-US"/>
              <a:t>Ở giai đoạn phát triển tiếp theo, nhóm muốn đo xem workflow này có thể giảm các thao tác lặp lại và giúp người dùng giữ scene nhất quán hơn trong thực tế hay không. Đó là định hướng, không phải một lợi thế cạnh tranh đã xác thực.</a:t>
            </a:r>
            <a:br>
              <a:rPr lang="en-US"/>
            </a:br>
            <a:br>
              <a:rPr lang="en-US"/>
            </a:br>
            <a:r>
              <a:rPr lang="en-US"/>
              <a:t>[Sources]</a:t>
            </a:r>
            <a:br>
              <a:rPr lang="en-US"/>
            </a:br>
            <a:r>
              <a:rPr lang="en-US"/>
              <a:t>- https://c4-app-087.pages.dev/</a:t>
            </a:r>
            <a:br>
              <a:rPr lang="en-US"/>
            </a:br>
            <a:r>
              <a:rPr lang="en-US"/>
              <a:t>- Tài liệu người dùng: PIPELINE_HIEN_TAI_VA_LUONG_USER.md (đọc source branch mvp-pipeline-v2 ngày 17/10/2026).</a:t>
            </a:r>
            <a:br>
              <a:rPr lang="en-US"/>
            </a:br>
            <a:r>
              <a:rPr lang="en-US"/>
              <a:t>- Số liệu người dùng cung cấp từ database/manifest/artifact, snapshot ngày 18/10/2026.</a:t>
            </a:r>
            <a:endParaRPr/>
          </a:p>
        </p:txBody>
      </p:sp>
      <p:sp>
        <p:nvSpPr>
          <p:cNvPr id="174" name="Google Shape;174;h575f3ee0b5d7ded4_143_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h575f3ee0b5d7ded4_143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h575f3ee0b5d7ded4_143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Đầu tiên, khách truy cập có thể xem một scene mẫu để hình dung sản phẩm. Khi muốn xử lý dữ liệu riêng, họ đăng nhập Studio, tải video lên, khai báo nguồn và quyền sử dụng dữ liệu, đặt tên scene rồi chọn cấu hình. Hệ thống kiểm tra định dạng, điều kiện runtime, tài nguyên và mới xếp job vào hàng đợi.</a:t>
            </a:r>
            <a:br>
              <a:rPr lang="en-US"/>
            </a:br>
            <a:br>
              <a:rPr lang="en-US"/>
            </a:br>
            <a:r>
              <a:rPr lang="en-US"/>
              <a:t>Sau đó worker xử lý video và tạo frame. Nếu bật che mặt hoặc biển số và có vùng cần kiểm tra, người dùng còn có bước duyệt dữ liệu đã che. Với nhánh RGB chính, COLMAP ước lượng camera pose, Brush huấn luyện 3DGS và hệ thống tạo preview để xem trên web. Đây mới là hình ảnh tái dựng.</a:t>
            </a:r>
            <a:br>
              <a:rPr lang="en-US"/>
            </a:br>
            <a:br>
              <a:rPr lang="en-US"/>
            </a:br>
            <a:r>
              <a:rPr lang="en-US"/>
              <a:t>Bước quan trọng thứ nhất là xác nhận hệ mét và mặt sàn. Người dùng chọn các cặp điểm, nhập khoảng cách tham chiếu và xác nhận kết quả để hệ thống chuẩn hóa scene. Bước quan trọng thứ hai là duyệt object. Pipeline dùng SAMPro3D/SAM2 và các góc nhìn để tạo Draft; người dùng xem từng vật và có thể thêm hoặc trừ vùng bằng các box chỉnh membership Gaussian.</a:t>
            </a:r>
            <a:br>
              <a:rPr lang="en-US"/>
            </a:br>
            <a:br>
              <a:rPr lang="en-US"/>
            </a:br>
            <a:r>
              <a:rPr lang="en-US"/>
              <a:t>Sau khi phần Draft đạt yêu cầu cho bước tiếp theo, người dùng bấm Tạo mesh. Với cấu hình mặc định hiện tại, backend tạo Gaussian shell, kiểm tra surface rồi chạy CoACD để tạo collider. Đây là bước có thể thất bại và cần xử lý lại nếu hình học không đạt yêu cầu.</a:t>
            </a:r>
            <a:br>
              <a:rPr lang="en-US"/>
            </a:br>
            <a:br>
              <a:rPr lang="en-US"/>
            </a:br>
            <a:r>
              <a:rPr lang="en-US"/>
              <a:t>Khi scene ở trạng thái phù hợp, người dùng xác nhận hoặc thay đổi vật thể, di chuyển, xoay, thay đổi bố trí rồi sử dụng Walk của browser để xem trước collision. Cuối cùng là preflight và đóng gói OpenUSD. Việc import scene, chạy robot và xác minh physics trong Isaac Sim là công đoạn nghiệm thu riêng, chưa được coi là hoàn tất chỉ vì gói ZIP đã xuất thành công.</a:t>
            </a:r>
            <a:br>
              <a:rPr lang="en-US"/>
            </a:br>
            <a:br>
              <a:rPr lang="en-US"/>
            </a:br>
            <a:r>
              <a:rPr lang="en-US"/>
              <a:t>[Sources]</a:t>
            </a:r>
            <a:br>
              <a:rPr lang="en-US"/>
            </a:br>
            <a:r>
              <a:rPr lang="en-US"/>
              <a:t>- https://c4-app-087.pages.dev/</a:t>
            </a:r>
            <a:br>
              <a:rPr lang="en-US"/>
            </a:br>
            <a:r>
              <a:rPr lang="en-US"/>
              <a:t>- Tài liệu người dùng: PIPELINE_HIEN_TAI_VA_LUONG_USER.md (đọc source branch mvp-pipeline-v2 ngày 17/10/2026).</a:t>
            </a:r>
            <a:endParaRPr/>
          </a:p>
        </p:txBody>
      </p:sp>
      <p:sp>
        <p:nvSpPr>
          <p:cNvPr id="203" name="Google Shape;203;h575f3ee0b5d7ded4_143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575f3ee0b5d7ded4_143_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h575f3ee0b5d7ded4_143_2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Slide này giải thích kiến trúc mà nhóm đã kết nối trong phiên bản code được khảo sát ngày 17 tháng 10. Tôi chia hệ thống thành hai lớp để người không chuyên dễ theo dõi, sau đó mới đi vào tên công nghệ.</a:t>
            </a:r>
            <a:br>
              <a:rPr lang="en-US"/>
            </a:br>
            <a:br>
              <a:rPr lang="en-US"/>
            </a:br>
            <a:r>
              <a:rPr lang="en-US"/>
              <a:t>Lớp đầu tiên là thu nhận và tái dựng. Người dùng đưa vào video RGB từ camera di chuyển. Hệ thống kiểm tra dữ liệu và tách frame bằng FFmpeg. COLMAP ước lượng các vị trí và hướng camera cùng một sparse reconstruction. Brush dùng ảnh và camera pose để train 3D Gaussian Splatting, tạo biểu diễn hình ảnh có thể xem lại. Trước khi chuyển sang các bước geometry, người dùng xác nhận tỷ lệ mét và mặt sàn; hệ thống chuẩn hóa scene cùng camera pose về hệ tọa độ nhất quán. Ngoài luồng RGB chính, code còn có một số recipe LiDAR, nhưng không nên hiểu tất cả nhánh LiDAR đã được kiểm chứng trên mọi loại dữ liệu.</a:t>
            </a:r>
            <a:br>
              <a:rPr lang="en-US"/>
            </a:br>
            <a:br>
              <a:rPr lang="en-US"/>
            </a:br>
            <a:r>
              <a:rPr lang="en-US"/>
              <a:t>Lớp thứ hai là biến bản tái dựng thành scene có cấu trúc. SAMPro3D và SAM2 hỗ trợ phân đoạn qua nhiều góc nhìn, sau đó render lift và membership xác định Gaussian thuộc object nào. Hệ thống phát hành Draft để người dùng duyệt và có thể sửa các vùng bằng box. Chỉ sau bước này người dùng mới yêu cầu Tạo mesh. Preset mặc định hiện tại sử dụng Gaussian shell để có surface, qua kiểm tra chất lượng rồi CoACD tạo các phần collider lồi. ObjectGS còn là tùy chọn, không phải mặc định phải chạy cho mọi object.</a:t>
            </a:r>
            <a:br>
              <a:rPr lang="en-US"/>
            </a:br>
            <a:br>
              <a:rPr lang="en-US"/>
            </a:br>
            <a:r>
              <a:rPr lang="en-US"/>
              <a:t>Bên cạnh collider của từng vật, pipeline còn có xử lý nền để giảm xung đột giữa vật di chuyển và collision môi trường, với các giới hạn cần đo lại trên dữ liệu thực. SceneIR giữ object state, transform, phiên bản và liên kết đến visual, mesh, collider và physics. Phía browser dùng PlayCanvas/SuperSplat để xem và Ammo.js cho Walk. Cuối cùng, hệ thống preflight và đóng gói OpenUSD. Đây là gói ứng viên cho simulator, chưa đồng nghĩa Isaac Sim đã import và chạy robot đạt các bài thử.</a:t>
            </a:r>
            <a:br>
              <a:rPr lang="en-US"/>
            </a:br>
            <a:br>
              <a:rPr lang="en-US"/>
            </a:br>
            <a:r>
              <a:rPr lang="en-US"/>
              <a:t>Các thành phần này chủ yếu dựa trên công nghệ có sẵn; đóng góp mà nhóm đang xây dựng là workflow, mô hình dữ liệu và cách chúng phối hợp, chứ không phải tuyên bố đã tự nghiên cứu một foundation model mới.</a:t>
            </a:r>
            <a:br>
              <a:rPr lang="en-US"/>
            </a:br>
            <a:br>
              <a:rPr lang="en-US"/>
            </a:br>
            <a:r>
              <a:rPr lang="en-US"/>
              <a:t>[Sources]</a:t>
            </a:r>
            <a:br>
              <a:rPr lang="en-US"/>
            </a:br>
            <a:r>
              <a:rPr lang="en-US"/>
              <a:t>- Tài liệu người dùng: PIPELINE_HIEN_TAI_VA_LUONG_USER.md (đọc source branch mvp-pipeline-v2 ngày 17/10/2026).</a:t>
            </a:r>
            <a:br>
              <a:rPr lang="en-US"/>
            </a:br>
            <a:r>
              <a:rPr lang="en-US"/>
              <a:t>- https://c4-app-087.pages.dev/</a:t>
            </a:r>
            <a:endParaRPr/>
          </a:p>
        </p:txBody>
      </p:sp>
      <p:sp>
        <p:nvSpPr>
          <p:cNvPr id="267" name="Google Shape;267;h575f3ee0b5d7ded4_143_2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h575f3ee0b5d7ded4_23_1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4" name="Google Shape;314;h575f3ee0b5d7ded4_23_1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sz="1400"/>
              <a:t>SLIDE 10A — KẾT QUẢ THỰC NGHIỆM: CHẤT LƯỢNG TÁI DỰNG VÀ CẤU HÌNH TRAINING</a:t>
            </a:r>
            <a:endParaRPr/>
          </a:p>
          <a:p>
            <a:pPr indent="-228600" lvl="0" marL="457200" marR="0" rtl="0" algn="l">
              <a:lnSpc>
                <a:spcPct val="100000"/>
              </a:lnSpc>
              <a:spcBef>
                <a:spcPts val="0"/>
              </a:spcBef>
              <a:spcAft>
                <a:spcPts val="0"/>
              </a:spcAft>
              <a:buSzPts val="1400"/>
              <a:buNone/>
            </a:pPr>
            <a:r>
              <a:rPr lang="en-US" sz="1400"/>
              <a:t>Sau giai đoạn xây dựng prototype, nhóm đã lưu được kết quả từ ba bộ scene trong nhà: Room, playroom và drjohnson. Room được thử nghiệm hai lần với những cấu hình huấn luyện khác nhau, nên tổng cộng có bốn lượt chạy được đưa vào bảng. Kết quả này đo chất lượng hình ảnh dựng lại, chưa chứng minh độ chính xác về hệ mét, geometry hoặc collider.</a:t>
            </a:r>
            <a:endParaRPr/>
          </a:p>
          <a:p>
            <a:pPr indent="-228600" lvl="0" marL="457200" marR="0" rtl="0" algn="l">
              <a:lnSpc>
                <a:spcPct val="100000"/>
              </a:lnSpc>
              <a:spcBef>
                <a:spcPts val="0"/>
              </a:spcBef>
              <a:spcAft>
                <a:spcPts val="0"/>
              </a:spcAft>
              <a:buSzPts val="1400"/>
              <a:buNone/>
            </a:pPr>
            <a:r>
              <a:rPr lang="en-US" sz="1400"/>
              <a:t>Cấu hình runtime ghi nhận là COLMAP 4.3.0.dev0 và Brush CLI 0.3.0. Với các job được trình bày, Brush sử dụng 30.000 hoặc 40.000 training iterations; max_resolution lần lượt 1280, 800 hoặc 1920 tùy job. Số lượng Gaussian tối đa cũng khác nhau giữa các lượt chạy, nên đây chưa phải thí nghiệm đối chứng chỉ thay đổi một tham số.</a:t>
            </a:r>
            <a:endParaRPr/>
          </a:p>
          <a:p>
            <a:pPr indent="-228600" lvl="0" marL="457200" marR="0" rtl="0" algn="l">
              <a:lnSpc>
                <a:spcPct val="100000"/>
              </a:lnSpc>
              <a:spcBef>
                <a:spcPts val="0"/>
              </a:spcBef>
              <a:spcAft>
                <a:spcPts val="0"/>
              </a:spcAft>
              <a:buSzPts val="1400"/>
              <a:buNone/>
            </a:pPr>
            <a:r>
              <a:rPr lang="en-US" sz="1400"/>
              <a:t>Room 1280px: 311/311 frame đăng ký camera pose, 272 ảnh training và 39 ảnh evaluation, 30.000 iterations, giới hạn 1.000.000 splats, kết quả 830.376 Gaussians. PSNR đạt 33,09 dB, SSIM đạt 0,9505 và LPIPS VGG đạt 0,2154.</a:t>
            </a:r>
            <a:endParaRPr/>
          </a:p>
          <a:p>
            <a:pPr indent="-228600" lvl="0" marL="457200" marR="0" rtl="0" algn="l">
              <a:lnSpc>
                <a:spcPct val="100000"/>
              </a:lnSpc>
              <a:spcBef>
                <a:spcPts val="0"/>
              </a:spcBef>
              <a:spcAft>
                <a:spcPts val="0"/>
              </a:spcAft>
              <a:buSzPts val="1400"/>
              <a:buNone/>
            </a:pPr>
            <a:r>
              <a:rPr lang="en-US" sz="1400"/>
              <a:t>Room 800px: 311/311 frame đăng ký, 40.000 iterations, max_resolution 800px, giới hạn 1.200.000 splats, kết quả 541.064 Gaussians. PSNR đạt 33,88 dB, SSIM đạt 0,9606 và LPIPS VGG đạt 0,1303. Job này dùng chính tập dữ liệu Room nhưng các cấu hình khác nhau, do đó không được kết luận việc giảm resolution đơn lẻ đã cải thiện chất lượng.</a:t>
            </a:r>
            <a:endParaRPr/>
          </a:p>
          <a:p>
            <a:pPr indent="-228600" lvl="0" marL="457200" marR="0" rtl="0" algn="l">
              <a:lnSpc>
                <a:spcPct val="100000"/>
              </a:lnSpc>
              <a:spcBef>
                <a:spcPts val="0"/>
              </a:spcBef>
              <a:spcAft>
                <a:spcPts val="0"/>
              </a:spcAft>
              <a:buSzPts val="1400"/>
              <a:buNone/>
            </a:pPr>
            <a:r>
              <a:rPr lang="en-US" sz="1400"/>
              <a:t>playroom: 149/225 frame đăng ký, tương đương 66,22%; 130 ảnh training và 19 ảnh evaluation; 40.000 iterations; max_resolution 1920px; giới hạn 2.000.000 splats; kết quả 959.925 Gaussians. PSNR đạt 28,63 dB và SSIM 0,9004. LPIPS chưa có do lỗi ghép tên ảnh JPEG trong công cụ đánh giá cũ.</a:t>
            </a:r>
            <a:endParaRPr/>
          </a:p>
          <a:p>
            <a:pPr indent="-228600" lvl="0" marL="457200" marR="0" rtl="0" algn="l">
              <a:lnSpc>
                <a:spcPct val="100000"/>
              </a:lnSpc>
              <a:spcBef>
                <a:spcPts val="0"/>
              </a:spcBef>
              <a:spcAft>
                <a:spcPts val="0"/>
              </a:spcAft>
              <a:buSzPts val="1400"/>
              <a:buNone/>
            </a:pPr>
            <a:r>
              <a:rPr lang="en-US" sz="1400"/>
              <a:t>drjohnson: 263/263 frame đăng ký; 230 ảnh training và 33 ảnh evaluation; 40.000 iterations; max_resolution 1920px; giới hạn 2.000.000 splats và chạm chính giới hạn đó. PSNR đạt 29,74 dB, SSIM đạt 0,9214. LPIPS chưa có trong artifacts của lượt chạy này.</a:t>
            </a:r>
            <a:endParaRPr/>
          </a:p>
          <a:p>
            <a:pPr indent="-228600" lvl="0" marL="457200" marR="0" rtl="0" algn="l">
              <a:lnSpc>
                <a:spcPct val="100000"/>
              </a:lnSpc>
              <a:spcBef>
                <a:spcPts val="0"/>
              </a:spcBef>
              <a:spcAft>
                <a:spcPts val="0"/>
              </a:spcAft>
              <a:buSzPts val="1400"/>
              <a:buNone/>
            </a:pPr>
            <a:r>
              <a:rPr lang="en-US" sz="1400"/>
              <a:t>Những thước đo PSNR, SSIM và LPIPS được áp dụng cho các ảnh giữ lại để đánh giá (holdout một trong tám frame). Chúng đo mức tương đồng hình ảnh render, không phản ánh trực tiếp sự đúng đắn của scale, độ chính xác collider hay khả năng robot chạy an toàn trong simulator. Tỷ lệ camera registration là tỷ lệ frame được COLMAP đăng ký, không phải ground truth accuracy của camera pose.</a:t>
            </a:r>
            <a:endParaRPr/>
          </a:p>
          <a:p>
            <a:pPr indent="-228600" lvl="0" marL="457200" marR="0" rtl="0" algn="l">
              <a:lnSpc>
                <a:spcPct val="100000"/>
              </a:lnSpc>
              <a:spcBef>
                <a:spcPts val="0"/>
              </a:spcBef>
              <a:spcAft>
                <a:spcPts val="0"/>
              </a:spcAft>
              <a:buSzPts val="1400"/>
              <a:buNone/>
            </a:pPr>
            <a:r>
              <a:rPr lang="en-US" sz="1400"/>
              <a:t>Chúng tôi chưa có bộ ground truth tương ứng để công bố Metric Scale Error, Object Segmentation Accuracy, Collision Accuracy và chưa có Isaac Sim end-to-end validation. Các mục này thuộc kế hoạch đánh giá tiếp theo.</a:t>
            </a:r>
            <a:endParaRPr/>
          </a:p>
          <a:p>
            <a:pPr indent="-228600" lvl="0" marL="457200" marR="0" rtl="0" algn="l">
              <a:lnSpc>
                <a:spcPct val="100000"/>
              </a:lnSpc>
              <a:spcBef>
                <a:spcPts val="0"/>
              </a:spcBef>
              <a:spcAft>
                <a:spcPts val="0"/>
              </a:spcAft>
              <a:buSzPts val="1400"/>
              <a:buNone/>
            </a:pPr>
            <a:r>
              <a:rPr lang="en-US" sz="1400"/>
              <a:t>[Sources]</a:t>
            </a:r>
            <a:endParaRPr/>
          </a:p>
          <a:p>
            <a:pPr indent="-228600" lvl="0" marL="457200" marR="0" rtl="0" algn="l">
              <a:lnSpc>
                <a:spcPct val="100000"/>
              </a:lnSpc>
              <a:spcBef>
                <a:spcPts val="0"/>
              </a:spcBef>
              <a:spcAft>
                <a:spcPts val="0"/>
              </a:spcAft>
              <a:buSzPts val="1400"/>
              <a:buNone/>
            </a:pPr>
            <a:r>
              <a:rPr lang="en-US" sz="1400"/>
              <a:t>- REAL2SIM_FULL_METRICS_AUDIT, bản audit ngày 19/10/2026 do người dùng cung cấp.</a:t>
            </a:r>
            <a:endParaRPr/>
          </a:p>
          <a:p>
            <a:pPr indent="-228600" lvl="0" marL="457200" marR="0" rtl="0" algn="l">
              <a:lnSpc>
                <a:spcPct val="100000"/>
              </a:lnSpc>
              <a:spcBef>
                <a:spcPts val="0"/>
              </a:spcBef>
              <a:spcAft>
                <a:spcPts val="0"/>
              </a:spcAft>
              <a:buSzPts val="1400"/>
              <a:buNone/>
            </a:pPr>
            <a:r>
              <a:rPr lang="en-US" sz="1400"/>
              <a:t>- job_summary_metrics.json, dữ liệu job tương ứng được người dùng cung cấp.</a:t>
            </a:r>
            <a:endParaRPr/>
          </a:p>
          <a:p>
            <a:pPr indent="-228600" lvl="0" marL="457200" marR="0" rtl="0" algn="l">
              <a:lnSpc>
                <a:spcPct val="100000"/>
              </a:lnSpc>
              <a:spcBef>
                <a:spcPts val="0"/>
              </a:spcBef>
              <a:spcAft>
                <a:spcPts val="0"/>
              </a:spcAft>
              <a:buSzPts val="1400"/>
              <a:buNone/>
            </a:pPr>
            <a:r>
              <a:rPr lang="en-US" sz="1400"/>
              <a:t>- pipeline_stage_metrics.csv, bảng telemetry cấp stage được người dùng cung cấp.</a:t>
            </a:r>
            <a:endParaRPr/>
          </a:p>
        </p:txBody>
      </p:sp>
      <p:sp>
        <p:nvSpPr>
          <p:cNvPr id="315" name="Google Shape;315;h575f3ee0b5d7ded4_23_1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h575f3ee0b5d7ded4_23_1137:notes"/>
          <p:cNvSpPr txBox="1"/>
          <p:nvPr>
            <p:ph idx="2" type="hdr"/>
          </p:nvPr>
        </p:nvSpPr>
        <p:spPr>
          <a:xfrm>
            <a:off x="0" y="0"/>
            <a:ext cx="2971800" cy="458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4" name="Google Shape;384;h575f3ee0b5d7ded4_23_1137:notes"/>
          <p:cNvSpPr txBox="1"/>
          <p:nvPr>
            <p:ph idx="10" type="dt"/>
          </p:nvPr>
        </p:nvSpPr>
        <p:spPr>
          <a:xfrm>
            <a:off x="3884613" y="0"/>
            <a:ext cx="2971800" cy="4587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r>
              <a:t/>
            </a:r>
            <a:endParaRPr/>
          </a:p>
        </p:txBody>
      </p:sp>
      <p:sp>
        <p:nvSpPr>
          <p:cNvPr id="385" name="Google Shape;385;h575f3ee0b5d7ded4_23_1137:notes"/>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6" name="Google Shape;386;h575f3ee0b5d7ded4_23_1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Ở slide trước, nhóm đã trình bày kết quả về chất lượng tái dựng 3D. Tiếp theo, chúng tôi muốn đánh giá một khía cạnh quan trọng khác: </a:t>
            </a:r>
            <a:r>
              <a:rPr b="1" lang="en-US" sz="1100">
                <a:latin typeface="Arial"/>
                <a:ea typeface="Arial"/>
                <a:cs typeface="Arial"/>
                <a:sym typeface="Arial"/>
              </a:rPr>
              <a:t>để tạo ra những kết quả đó, hệ thống cần bao nhiêu thời gian và tài nguyên phần cứng?</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Các thử nghiệm được thực hiện trên máy ThinkPad P1 Gen 2, sử dụng GPU NVIDIA Quadro T2000 với 4 GB VRAM, khoảng 32 GB RAM và CPU có 12 luồng xử lý. Đây là cấu hình máy trạm di động, không phải một hệ thống máy chủ sử dụng GPU chuyên dụng cao cấp.</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Về thời gian, hai lượt xử lý Room mất khoảng 107 đến 110 phút, trong khi drjohnson cần khoảng 255 phút. Riêng playroom ghi nhận khoảng 98 phút, nhưng số liệu này chưa đầy đủ do thiếu telemetry ở một bước xử lý. Điều này cho thấy thời gian thực hiện có sự chênh lệch đáng kể giữa các môi trường và cấu hình thử nghiệm.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Về tài nguyên, </a:t>
            </a:r>
            <a:r>
              <a:rPr b="1" lang="en-US" sz="1100">
                <a:latin typeface="Arial"/>
                <a:ea typeface="Arial"/>
                <a:cs typeface="Arial"/>
                <a:sym typeface="Arial"/>
              </a:rPr>
              <a:t>drjohnson sử dụng VRAM đỉnh khoảng 3,62 trên tổng 4 GB</a:t>
            </a:r>
            <a:r>
              <a:rPr lang="en-US" sz="1100">
                <a:latin typeface="Arial"/>
                <a:ea typeface="Arial"/>
                <a:cs typeface="Arial"/>
                <a:sym typeface="Arial"/>
              </a:rPr>
              <a:t>, tức là đã tiến gần giới hạn bộ nhớ GPU. Trong khi đó, Room 1280px ghi nhận RAM đỉnh cao nhất, khoảng 6,7 GB. Như vậy, hệ thống đã có thể thực hiện các thử nghiệm trên GPU 4 GB, nhưng vẫn cần tối ưu để sử dụng tài nguyên hiệu quả hơn.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Khi phân tích sâu vào từng công đoạn, chúng tôi nhận thấy </a:t>
            </a:r>
            <a:r>
              <a:rPr b="1" lang="en-US" sz="1100">
                <a:latin typeface="Arial"/>
                <a:ea typeface="Arial"/>
                <a:cs typeface="Arial"/>
                <a:sym typeface="Arial"/>
              </a:rPr>
              <a:t>COLMAP và Brush chiếm khoảng 88% thời gian xử lý máy được ghi nhận của drjohnson</a:t>
            </a:r>
            <a:r>
              <a:rPr lang="en-US" sz="1100">
                <a:latin typeface="Arial"/>
                <a:ea typeface="Arial"/>
                <a:cs typeface="Arial"/>
                <a:sym typeface="Arial"/>
              </a:rPr>
              <a:t>. Đây là dấu hiệu cho thấy quá trình ước lượng camera và tái dựng 3D đang là nút thắt chính về thời gian.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Một vấn đề khác nằm ở bước tạo mesh và collider. Với drjohnson, quá trình tạo geometry đã thất bại 11 lần trước khi hoàn tất ở lần thứ 12. Điều này cho thấy ngoài tốc độ xử lý, độ ổn định của pipeline cũng là một thách thức quan trọng.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Bên cạnh thời gian máy xử lý, nhóm cũng ghi nhận thời gian người dùng tương tác. Tuy nhiên, các số liệu này có thể bao gồm nhiều phiên kiểm tra và chỉnh sửa, nên chưa thể dùng để kết luận Real2Sim tiết kiệm bao nhiêu thời gian so với các phương pháp hiện có.</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Từ những kết quả này, nhóm xác định được hai hướng ưu tiên: tối ưu thời gian và tài nguyên ở bước COLMAP–Brush, đồng thời nâng cao độ ổn định của quá trình tạo mesh và collider.</a:t>
            </a:r>
            <a:r>
              <a:rPr lang="en-US" sz="1100">
                <a:latin typeface="Arial"/>
                <a:ea typeface="Arial"/>
                <a:cs typeface="Arial"/>
                <a:sym typeface="Arial"/>
              </a:rPr>
              <a:t> Đây sẽ là cơ sở để nhóm tiếp tục hoàn thiện hệ thống trong giai đoạn tiếp theo.</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87" name="Google Shape;387;h575f3ee0b5d7ded4_23_1137:notes"/>
          <p:cNvSpPr txBox="1"/>
          <p:nvPr>
            <p:ph idx="11" type="ftr"/>
          </p:nvPr>
        </p:nvSpPr>
        <p:spPr>
          <a:xfrm>
            <a:off x="0" y="8685213"/>
            <a:ext cx="2971800" cy="458700"/>
          </a:xfrm>
          <a:prstGeom prst="rect">
            <a:avLst/>
          </a:prstGeom>
          <a:noFill/>
          <a:ln>
            <a:noFill/>
          </a:ln>
        </p:spPr>
        <p:txBody>
          <a:bodyPr anchorCtr="0" anchor="b" bIns="45700" lIns="91425" spcFirstLastPara="1" rIns="91425" wrap="square" tIns="45700">
            <a:noAutofit/>
          </a:bodyPr>
          <a:lstStyle/>
          <a:p>
            <a:pPr indent="0" lvl="0" marL="0" rtl="0" algn="l">
              <a:spcBef>
                <a:spcPts val="0"/>
              </a:spcBef>
              <a:spcAft>
                <a:spcPts val="0"/>
              </a:spcAft>
              <a:buNone/>
            </a:pPr>
            <a:r>
              <a:t/>
            </a:r>
            <a:endParaRPr/>
          </a:p>
        </p:txBody>
      </p:sp>
      <p:sp>
        <p:nvSpPr>
          <p:cNvPr id="388" name="Google Shape;388;h575f3ee0b5d7ded4_23_1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h575f3ee0b5d7ded4_143_4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1" name="Google Shape;471;h575f3ee0b5d7ded4_143_4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Từ những gì đã hoàn thành, câu hỏi kế tiếp không phải là liệu nhóm có thể công bố Real2Sim tốt hơn NuRec hay SimFoundry hay không. Sau bốn tuần, một tuyên bố như vậy sẽ chưa có cơ sở. Thay vào đó, chúng tôi đặt ra ba cột mốc phát triển có thể kiểm chứng.</a:t>
            </a:r>
            <a:br>
              <a:rPr lang="en-US"/>
            </a:br>
            <a:br>
              <a:rPr lang="en-US"/>
            </a:br>
            <a:r>
              <a:rPr lang="en-US"/>
              <a:t>Cột mốc đầu tiên là ổn định hệ thống. Những khâu như object segmentation, gaussian-to-mesh, surface QA và collider generation phải hoạt động tin cậy hơn. Hệ thống cần báo rõ lỗi, cho phép thử lại có kiểm soát, và không xem một collider thay thế đơn giản là đã đạt chất lượng mà không kiểm tra. Đồng thời cần bổ sung tập ground truth có khoảng cách đo thực và những vật cản được xác nhận.</a:t>
            </a:r>
            <a:br>
              <a:rPr lang="en-US"/>
            </a:br>
            <a:br>
              <a:rPr lang="en-US"/>
            </a:br>
            <a:r>
              <a:rPr lang="en-US"/>
              <a:t>Cột mốc thứ hai là kiểm định trong Isaac Sim. Nhóm muốn chọn một bài thử cụ thể: cùng một cảnh trong nhà, cùng một robot, nhưng có hai cách bố trí vật cản. Mỗi scene phải import được, physics và collider phải được kiểm tra, rồi mới chạy bài thử navigation. Kết quả cần gắn với đúng revision và checksum của gói, để khi sửa scene sau đó không dùng nhầm bằng chứng của bản cũ.</a:t>
            </a:r>
            <a:br>
              <a:rPr lang="en-US"/>
            </a:br>
            <a:br>
              <a:rPr lang="en-US"/>
            </a:br>
            <a:r>
              <a:rPr lang="en-US"/>
              <a:t>Cột mốc thứ ba mới là xác thực giá trị với người dùng. Nếu có thể làm pilot cùng robotics lab hoặc system integrator, chúng tôi sẽ yêu cầu kỹ sư thực hiện cùng một mục tiêu bằng Real2Sim và bằng workflow họ đang sử dụng, với cùng dữ liệu và tiêu chí nghiệm thu. Các chỉ số bao gồm Time-to-Usable-Scene, Human Effort, Metric Error, Collision Correctness và chi phí xử lý trên một scene được chấp nhận.</a:t>
            </a:r>
            <a:br>
              <a:rPr lang="en-US"/>
            </a:br>
            <a:br>
              <a:rPr lang="en-US"/>
            </a:br>
            <a:r>
              <a:rPr lang="en-US"/>
              <a:t>Sau khi có các kết quả đó, nhóm mới có thể trả lời Real2Sim có giúp ích thực sự hay không, nên tập trung thêm vào phân khúc nào và liệu mô hình B2B có cơ sở thương mại hóa hay không. Đó là tiềm năng mà chúng tôi muốn theo đuổi, không phải lợi thế đã được chứng minh hôm nay.</a:t>
            </a:r>
            <a:br>
              <a:rPr lang="en-US"/>
            </a:br>
            <a:br>
              <a:rPr lang="en-US"/>
            </a:br>
            <a:r>
              <a:rPr lang="en-US"/>
              <a:t>[Sources]</a:t>
            </a:r>
            <a:br>
              <a:rPr lang="en-US"/>
            </a:br>
            <a:r>
              <a:rPr lang="en-US"/>
              <a:t>- Tài liệu người dùng: PIPELINE_HIEN_TAI_VA_LUONG_USER.md (đọc source branch mvp-pipeline-v2 ngày 17/10/2026).</a:t>
            </a:r>
            <a:br>
              <a:rPr lang="en-US"/>
            </a:br>
            <a:r>
              <a:rPr lang="en-US"/>
              <a:t>- Số liệu người dùng cung cấp từ database/manifest/artifact, snapshot ngày 18/10/2026.</a:t>
            </a:r>
            <a:br>
              <a:rPr lang="en-US"/>
            </a:br>
            <a:r>
              <a:rPr lang="en-US"/>
              <a:t>- https://c4-app-087.pages.dev/</a:t>
            </a:r>
            <a:endParaRPr/>
          </a:p>
        </p:txBody>
      </p:sp>
      <p:sp>
        <p:nvSpPr>
          <p:cNvPr id="472" name="Google Shape;472;h575f3ee0b5d7ded4_143_4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h575f3ee0b5d7ded4_23_15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1" name="Google Shape;501;h575f3ee0b5d7ded4_23_15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2400"/>
              </a:spcBef>
              <a:spcAft>
                <a:spcPts val="0"/>
              </a:spcAft>
              <a:buClr>
                <a:schemeClr val="dk1"/>
              </a:buClr>
              <a:buSzPts val="1100"/>
              <a:buFont typeface="Arial"/>
              <a:buNone/>
            </a:pPr>
            <a:r>
              <a:rPr b="1" lang="en-US" sz="2300">
                <a:latin typeface="Arial"/>
                <a:ea typeface="Arial"/>
                <a:cs typeface="Arial"/>
                <a:sym typeface="Arial"/>
              </a:rPr>
              <a:t>SLIDE 12 — CẢM ƠN &amp; Q&amp;A</a:t>
            </a:r>
            <a:endParaRPr b="1" sz="23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Lời kết bài thuyết trình</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Trên đây là toàn bộ phần trình bày của nhóm về Real2Sim Studio.</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Thông qua dự án này, nhóm muốn giải quyết một vấn đề cụ thể trong quá trình chuẩn bị môi trường mô phỏng robot: làm thế nào để chuyển dữ liệu quan sát từ một địa điểm thực thành một scene 3D có thể chỉnh sửa, có kích thước và hình học va chạm phù hợp, thay vì chỉ dừng lại ở việc tái dựng hình ảnh 3D.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Trong bốn tuần phát triển, nhóm đã kết nối nhiều công nghệ Computer Vision, 3D Reconstruction và xử lý hình học thành một prototype có quy trình tương đối hoàn chỉnh. Nhóm cũng đã thực hiện các thử nghiệm ban đầu để đánh giá chất lượng tái dựng, thời gian xử lý và mức sử dụng tài nguyên phần cứng.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Dù vẫn còn những vấn đề cần hoàn thiện, đặc biệt là độ ổn định khi tạo mesh, collider và kiểm chứng trong Isaac Sim, những kết quả hiện tại là cơ sở để nhóm tiếp tục phát triển Real2Sim Studio thành một công cụ có khả năng hỗ trợ công việc của kỹ sư robotics trong thực tế.</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Nhóm xin cảm ơn ban giám khảo và mọi người đã lắng nghe. Chúng em rất mong nhận được những câu hỏi, nhận xét và góp ý để tiếp tục hoàn thiện dự án.</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t/>
            </a:r>
            <a:endParaRPr b="1"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1 — Video đầu vào cần đáp ứng những điều kiện gì để tái dựng 3D tốt?</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Để tái dựng 3D tốt, video cần được quay khi camera di chuyển qua nhiều vị trí và góc nhìn khác nhau, đồng thời có đủ vùng hình ảnh chồng lặp giữa các frame.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Điều này quan trọng vì COLMAP cần tìm những đặc trưng tương ứng giữa các ảnh để ước lượng vị trí camera và khôi phục cấu trúc không gian. Nếu video bị rung mờ, thiếu ánh sáng hoặc các góc nhìn không đủ chồng lặp, quá trình đăng ký camera có thể không thành công.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Điều này cũng thể hiện trong kết quả thử nghiệm: Room đăng ký được 100% frame, trong khi playroom chỉ đạt 66,22%. Tuy nhiên, nhóm chưa xác định chính xác nguyên nhân khiến từng frame của playroom không được đăng ký.</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Vì vậy, chất lượng dữ liệu đầu vào là một yếu tố quan trọng ảnh hưởng đến kết quả của toàn bộ pipeline.</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2 — Nếu không có LiDAR, Real2Sim xác định kích thước thực tế bằng cách nào?</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Khi sử dụng video RGB từ một camera, COLMAP có thể tái dựng cấu trúc không gian và vị trí tương đối của các vật thể, nhưng không tự xác định được kích thước thực tế theo đơn vị mét.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Để giải quyết vấn đề này, Real2Sim có bước đề xuất tỷ lệ mét dựa trên thông tin độ sâu được AI ước lượng. Sau đó, người dùng có thể cung cấp các khoảng cách tham chiếu đã biết và xác nhận mặt sàn để căn chỉnh scene.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Ví dụ, nếu người dùng biết một đoạn trong phòng dài 2 mét, hệ thống có thể sử dụng thông tin đó để xác định tỷ lệ quy đổi từ đơn vị tái dựng sang đơn vị mét.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Cách tiếp cận này giúp hệ thống hỗ trợ dữ liệu RGB mà không bắt buộc phải có LiDAR. Tuy nhiên, nhóm vẫn cần sử dụng các phép đo thực tế độc lập để đánh giá sai số của kết quả metric scale.</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3 — Nếu AI nhận diện hoặc tách sai vật thể, hệ thống xử lý như thế nào?</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Trong Real2Sim, nhóm không mặc định rằng kết quả AI luôn chính xác. Vì vậy, hệ thống được thiết kế theo hướng Human-in-the-Loop, tức là kết hợp xử lý tự động với sự kiểm tra và điều chỉnh của người dùng.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Sau khi AI phân tách vật thể từ nhiều góc nhìn và xác định các Gaussian thuộc từng vật thể, hệ thống tạo một bản Draft để người dùng xem lại.</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Nếu AI chọn thiếu hoặc chọn nhầm một phần của vật thể, người dùng có thể thêm hoặc loại trừ các vùng không gian bằng công cụ chỉnh sửa region. Sau khi kiểm tra kết quả, người dùng mới yêu cầu tạo mesh và collider.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Điểm quan trọng là nhóm đặt bước kiểm tra này </a:t>
            </a:r>
            <a:r>
              <a:rPr b="1" lang="en-US" sz="1100">
                <a:latin typeface="Arial"/>
                <a:ea typeface="Arial"/>
                <a:cs typeface="Arial"/>
                <a:sym typeface="Arial"/>
              </a:rPr>
              <a:t>trước khi tạo hình học va chạm</a:t>
            </a:r>
            <a:r>
              <a:rPr lang="en-US" sz="1100">
                <a:latin typeface="Arial"/>
                <a:ea typeface="Arial"/>
                <a:cs typeface="Arial"/>
                <a:sym typeface="Arial"/>
              </a:rPr>
              <a:t>, nhằm hạn chế việc lỗi phân tách vật thể tiếp tục ảnh hưởng đến những giai đoạn xử lý phía sau.</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4 — Real2Sim có thể xử lý những môi trường lớn và phức tạp hơn không?</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Về mặt thiết kế, Real2Sim không giới hạn pipeline vào một căn phòng hay một bộ dữ liệu cố định. Hệ thống được xây dựng để có thể tiếp nhận những video và cấu hình xử lý khác nhau.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Tuy nhiên, trong phạm vi bốn tuần, nhóm mới thử nghiệm trên một số môi trường trong nhà. Vì vậy, nhóm chưa thể khẳng định hệ thống có thể xử lý ổn định những không gian rất lớn như toàn bộ một nhà kho hoặc một tòa nhà.</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Khi quy mô môi trường tăng, số lượng hình ảnh, dữ liệu Gaussian, vật thể cần phân tách và hình học va chạm cũng có thể tăng theo. Điều này đặt ra những yêu cầu cao hơn về bộ nhớ, thời gian xử lý và khả năng quản lý scene.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Kết quả hiện tại cho thấy pipeline có thể chạy trên GPU Quadro T2000 với 4 GB VRAM, nhưng một số lượt xử lý đã sử dụng gần hết dung lượng này.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Do đó, để mở rộng quy mô, nhóm cần tiếp tục tối ưu tài nguyên và nghiên cứu cách chia nhỏ, xử lý cũng như quản lý các khu vực trong scene.</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5 — Ba điểm nổi bật nhất của Real2Sim Studio là gì?</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Nếu chọn ba điểm nổi bật nhất, nhóm muốn nhấn mạnh ba khía cạnh.</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Thứ nhất là về kỹ thuật.</a:t>
            </a:r>
            <a:r>
              <a:rPr lang="en-US" sz="1100">
                <a:latin typeface="Arial"/>
                <a:ea typeface="Arial"/>
                <a:cs typeface="Arial"/>
                <a:sym typeface="Arial"/>
              </a:rPr>
              <a:t> Trong bốn tuần, nhóm đã tích hợp nhiều công nghệ như COLMAP, Brush 3DGS, SAMPro3D, SAM2, Gaussian Association và CoACD thành một quy trình có thể thực hiện nhiều công đoạn liên tiếp: từ video, tái dựng 3D, phân tách vật thể, tạo collider đến chỉnh sửa và chuẩn bị gói OpenUSD. Điểm nhóm tập trung phát triển là cách kết nối và quản lý các thành phần này trong một hệ thống thống nhất.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Thứ hai là về vấn đề được giải quyết.</a:t>
            </a:r>
            <a:r>
              <a:rPr lang="en-US" sz="1100">
                <a:latin typeface="Arial"/>
                <a:ea typeface="Arial"/>
                <a:cs typeface="Arial"/>
                <a:sym typeface="Arial"/>
              </a:rPr>
              <a:t> Real2Sim không chỉ tập trung tạo ra hình ảnh 3D chân thực, mà còn hướng đến việc biến bản tái dựng thành một môi trường có thể chỉnh sửa từng vật thể và chuẩn bị cho mô phỏng robot. Đây là phần việc nằm giữa quá trình thu thập dữ liệu thực tế và sử dụng simulator.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Thứ ba là về tiềm năng phát triển.</a:t>
            </a:r>
            <a:r>
              <a:rPr lang="en-US" sz="1100">
                <a:latin typeface="Arial"/>
                <a:ea typeface="Arial"/>
                <a:cs typeface="Arial"/>
                <a:sym typeface="Arial"/>
              </a:rPr>
              <a:t> Nếu tiếp tục hoàn thiện độ chính xác, độ ổn định và khả năng tích hợp Isaac Sim, Real2Sim có thể phát triển thành một công cụ hỗ trợ các nhóm kỹ sư robotics chuẩn bị và cập nhật môi trường mô phỏng từ dữ liệu thực tế.</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Đây là tiềm năng mà nhóm muốn tiếp tục kiểm chứng, chưa phải lợi thế thương mại đã được xác nhận.</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CÂU HỎI GỢI MỞ 6 — Thách thức kỹ thuật lớn nhất mà nhóm gặp phải khi phát triển Real2Sim là gì?</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Trả lời:</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Thách thức lớn nhất của nhóm là chuyển một bản tái dựng 3D Gaussian Splatting thành một scene có các vật thể riêng biệt, có mesh và collider phù hợp để phục vụ mô phỏng.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Nguyên nhân là Gaussian Splatting chủ yếu được tối ưu cho việc hiển thị hình ảnh. Các Gaussian không tự chứa đầy đủ thông tin về ranh giới vật thể hoặc bề mặt kín cần thiết cho mô phỏng va chạm.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Để giải quyết, nhóm phải kết hợp nhiều bước: sử dụng AI để phân tách vật thể, xác định Gaussian thuộc từng vật thể, tạo bề mặt mesh, kiểm tra chất lượng hình học và sử dụng CoACD để xây dựng collider.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Khó khăn nằm ở chỗ nếu một bước tạo ra kết quả chưa chính xác, các bước tiếp theo cũng có thể bị ảnh hưởng. Chẳng hạn, mesh có thể xuất hiện những vùng hở hoặc hình học không hợp lệ khiến quá trình tạo collider thất bại.</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Trong thử nghiệm với drjohnson, bước tạo geometry đã thất bại 11 lần trước khi một lượt xử lý hoàn tất thành công. Điều này cho thấy nhóm đã triển khai được quy trình kỹ thuật, nhưng độ ổn định vẫn là vấn đề cần ưu tiên giải quyết.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Qua quá trình phát triển, nhóm nhận thấy rằng </a:t>
            </a:r>
            <a:r>
              <a:rPr b="1" lang="en-US" sz="1100">
                <a:latin typeface="Arial"/>
                <a:ea typeface="Arial"/>
                <a:cs typeface="Arial"/>
                <a:sym typeface="Arial"/>
              </a:rPr>
              <a:t>tạo được một mô hình 3D có hình ảnh đẹp và tạo được một scene đủ tin cậy cho mô phỏng vật lý là hai bài toán khác nhau</a:t>
            </a:r>
            <a:r>
              <a:rPr lang="en-US" sz="1100">
                <a:latin typeface="Arial"/>
                <a:ea typeface="Arial"/>
                <a:cs typeface="Arial"/>
                <a:sym typeface="Arial"/>
              </a:rPr>
              <a:t>. Đây cũng chính là lý do nhóm lựa chọn hướng phát triển Real2Sim Studio.</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Ghi chú khi trả lời những câu hỏi mở rộng</a:t>
            </a:r>
            <a:endParaRPr b="1" sz="17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Nếu ban giám khảo hỏi Real2Sim khác gì so với NVIDIA NuRec, World Labs Marble hoặc SimFoundry, nhóm nên giải thích rằng Real2Sim tập trung vào một quy trình cụ thể cho dữ liệu video trong nhà, có bước người dùng kiểm tra vật thể và chỉnh sửa scene. Nhóm chưa có benchmark đối chứng để khẳng định tốc độ hoặc độ chính xác vượt trội so với những giải pháp đó.</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Nếu được hỏi về khả năng tiết kiệm chi phí, nhóm có thể trình bày các chỉ số thời gian xử lý và thời gian thao tác đã đo được, nhưng không quy đổi trực tiếp thành tỷ lệ tiết kiệm nhân công khi chưa có bài thử đối chứng với quy trình hiện tại của kỹ sư.</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Nếu được hỏi về kết quả Isaac Sim, cần phân biệt rõ: nhóm đã có luồng chuẩn bị và xuất gói OpenUSD trên những scene đủ điều kiện, nhưng chưa hoàn tất nghiệm thu robot chạy end-to-end trong Isaac Sim.</a:t>
            </a:r>
            <a:endParaRPr sz="1100">
              <a:latin typeface="Arial"/>
              <a:ea typeface="Arial"/>
              <a:cs typeface="Arial"/>
              <a:sym typeface="Arial"/>
            </a:endParaRPr>
          </a:p>
          <a:p>
            <a:pPr indent="0" lvl="0" marL="0" rtl="0" algn="l">
              <a:lnSpc>
                <a:spcPct val="115000"/>
              </a:lnSpc>
              <a:spcBef>
                <a:spcPts val="1800"/>
              </a:spcBef>
              <a:spcAft>
                <a:spcPts val="0"/>
              </a:spcAft>
              <a:buClr>
                <a:schemeClr val="dk1"/>
              </a:buClr>
              <a:buSzPts val="1100"/>
              <a:buFont typeface="Arial"/>
              <a:buNone/>
            </a:pPr>
            <a:r>
              <a:rPr b="1" lang="en-US" sz="1700">
                <a:latin typeface="Arial"/>
                <a:ea typeface="Arial"/>
                <a:cs typeface="Arial"/>
                <a:sym typeface="Arial"/>
              </a:rPr>
              <a:t>Sources</a:t>
            </a:r>
            <a:endParaRPr b="1" sz="17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u="sng">
                <a:solidFill>
                  <a:schemeClr val="hlink"/>
                </a:solidFill>
                <a:latin typeface="Arial"/>
                <a:ea typeface="Arial"/>
                <a:cs typeface="Arial"/>
                <a:sym typeface="Arial"/>
                <a:hlinkClick r:id="rId2"/>
              </a:rPr>
              <a:t>https://c4-app-087.pages.dev/</a:t>
            </a:r>
            <a:endParaRPr sz="1100" u="sng">
              <a:solidFill>
                <a:schemeClr val="hlink"/>
              </a:solidFill>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PIPELINE_HIEN_TAI_VA_LUONG_USER.md</a:t>
            </a:r>
            <a:r>
              <a:rPr lang="en-US" sz="1100">
                <a:latin typeface="Arial"/>
                <a:ea typeface="Arial"/>
                <a:cs typeface="Arial"/>
                <a:sym typeface="Arial"/>
              </a:rPr>
              <a:t> — Source audit branch </a:t>
            </a:r>
            <a:r>
              <a:rPr lang="en-US" sz="1100">
                <a:solidFill>
                  <a:srgbClr val="188038"/>
                </a:solidFill>
                <a:latin typeface="Roboto Mono"/>
                <a:ea typeface="Roboto Mono"/>
                <a:cs typeface="Roboto Mono"/>
                <a:sym typeface="Roboto Mono"/>
              </a:rPr>
              <a:t>mvp-pipeline-v2</a:t>
            </a:r>
            <a:r>
              <a:rPr lang="en-US" sz="1100">
                <a:latin typeface="Arial"/>
                <a:ea typeface="Arial"/>
                <a:cs typeface="Arial"/>
                <a:sym typeface="Arial"/>
              </a:rPr>
              <a:t>, ngày 17/10/2026.</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REAL2SIM_FULL_METRICS_AUDIT.md</a:t>
            </a:r>
            <a:r>
              <a:rPr lang="en-US" sz="1100">
                <a:latin typeface="Arial"/>
                <a:ea typeface="Arial"/>
                <a:cs typeface="Arial"/>
                <a:sym typeface="Arial"/>
              </a:rPr>
              <a:t> — Logging, Telemetry &amp; Metrics Audit, ngày 19/10/2026.</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job_summary_metrics.json</a:t>
            </a:r>
            <a:r>
              <a:rPr lang="en-US" sz="1100">
                <a:latin typeface="Arial"/>
                <a:ea typeface="Arial"/>
                <a:cs typeface="Arial"/>
                <a:sym typeface="Arial"/>
              </a:rPr>
              <a:t> và </a:t>
            </a:r>
            <a:r>
              <a:rPr lang="en-US" sz="1100">
                <a:solidFill>
                  <a:srgbClr val="188038"/>
                </a:solidFill>
                <a:latin typeface="Roboto Mono"/>
                <a:ea typeface="Roboto Mono"/>
                <a:cs typeface="Roboto Mono"/>
                <a:sym typeface="Roboto Mono"/>
              </a:rPr>
              <a:t>pipeline_stage_metrics.csv</a:t>
            </a:r>
            <a:r>
              <a:rPr lang="en-US" sz="1100">
                <a:latin typeface="Arial"/>
                <a:ea typeface="Arial"/>
                <a:cs typeface="Arial"/>
                <a:sym typeface="Arial"/>
              </a:rPr>
              <a:t> — Dữ liệu thực nghiệm của các job.</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u="sng">
                <a:solidFill>
                  <a:schemeClr val="hlink"/>
                </a:solidFill>
                <a:latin typeface="Arial"/>
                <a:ea typeface="Arial"/>
                <a:cs typeface="Arial"/>
                <a:sym typeface="Arial"/>
                <a:hlinkClick r:id="rId3"/>
              </a:rPr>
              <a:t>https://github.com/NVlabs/SimFoundry</a:t>
            </a:r>
            <a:endParaRPr sz="1100" u="sng">
              <a:solidFill>
                <a:schemeClr val="hlink"/>
              </a:solidFill>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u="sng">
                <a:solidFill>
                  <a:schemeClr val="hlink"/>
                </a:solidFill>
                <a:latin typeface="Arial"/>
                <a:ea typeface="Arial"/>
                <a:cs typeface="Arial"/>
                <a:sym typeface="Arial"/>
                <a:hlinkClick r:id="rId4"/>
              </a:rPr>
              <a:t>https://developer.nvidia.com/blog/simulate-robotic-environments-faster-with-nvidia-isaac-sim-and-world-labs-marble/</a:t>
            </a:r>
            <a:endParaRPr sz="1100" u="sng">
              <a:solidFill>
                <a:schemeClr val="hlink"/>
              </a:solidFill>
              <a:latin typeface="Arial"/>
              <a:ea typeface="Arial"/>
              <a:cs typeface="Arial"/>
              <a:sym typeface="Arial"/>
            </a:endParaRPr>
          </a:p>
          <a:p>
            <a:pPr indent="0" lvl="0" marL="0" rtl="0" algn="l">
              <a:lnSpc>
                <a:spcPct val="100000"/>
              </a:lnSpc>
              <a:spcBef>
                <a:spcPts val="1200"/>
              </a:spcBef>
              <a:spcAft>
                <a:spcPts val="0"/>
              </a:spcAft>
              <a:buSzPts val="1400"/>
              <a:buNone/>
            </a:pPr>
            <a:r>
              <a:t/>
            </a:r>
            <a:endParaRPr/>
          </a:p>
        </p:txBody>
      </p:sp>
      <p:sp>
        <p:nvSpPr>
          <p:cNvPr id="502" name="Google Shape;502;h575f3ee0b5d7ded4_23_15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575f3ee0b5d7ded4_159_0)">
  <p:cSld name="Generated (h575f3ee0b5d7ded4_159_0)">
    <p:spTree>
      <p:nvGrpSpPr>
        <p:cNvPr id="1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D25"/>
        </a:solidFill>
      </p:bgPr>
    </p:bg>
    <p:spTree>
      <p:nvGrpSpPr>
        <p:cNvPr id="16" name="Shape 16"/>
        <p:cNvGrpSpPr/>
        <p:nvPr/>
      </p:nvGrpSpPr>
      <p:grpSpPr>
        <a:xfrm>
          <a:off x="0" y="0"/>
          <a:ext cx="0" cy="0"/>
          <a:chOff x="0" y="0"/>
          <a:chExt cx="0" cy="0"/>
        </a:xfrm>
      </p:grpSpPr>
      <p:sp>
        <p:nvSpPr>
          <p:cNvPr id="17" name="Google Shape;17;h575f3ee0b5d7ded4_143_0"/>
          <p:cNvSpPr/>
          <p:nvPr/>
        </p:nvSpPr>
        <p:spPr>
          <a:xfrm>
            <a:off x="0" y="0"/>
            <a:ext cx="12192000" cy="53035"/>
          </a:xfrm>
          <a:prstGeom prst="rect">
            <a:avLst/>
          </a:prstGeom>
          <a:solidFill>
            <a:srgbClr val="F2AD62"/>
          </a:solidFill>
          <a:ln cap="flat" cmpd="sng" w="12700">
            <a:solidFill>
              <a:srgbClr val="F2AD6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h575f3ee0b5d7ded4_143_0"/>
          <p:cNvSpPr/>
          <p:nvPr/>
        </p:nvSpPr>
        <p:spPr>
          <a:xfrm>
            <a:off x="640080" y="292608"/>
            <a:ext cx="108813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2AD62"/>
              </a:buClr>
              <a:buSzPts val="1150"/>
              <a:buFont typeface="Inter"/>
              <a:buNone/>
            </a:pPr>
            <a:r>
              <a:rPr b="1" i="0" lang="en-US" sz="1400" u="none" cap="none" strike="noStrike">
                <a:solidFill>
                  <a:srgbClr val="F2AD62"/>
                </a:solidFill>
                <a:latin typeface="Inter"/>
                <a:ea typeface="Inter"/>
                <a:cs typeface="Inter"/>
                <a:sym typeface="Inter"/>
              </a:rPr>
              <a:t>01   /   GIỚI THIỆU DỰ ÁN</a:t>
            </a:r>
            <a:endParaRPr b="0" i="0" sz="1400" u="none" cap="none" strike="noStrike">
              <a:solidFill>
                <a:schemeClr val="dk1"/>
              </a:solidFill>
              <a:latin typeface="Inter"/>
              <a:ea typeface="Inter"/>
              <a:cs typeface="Inter"/>
              <a:sym typeface="Inter"/>
            </a:endParaRPr>
          </a:p>
        </p:txBody>
      </p:sp>
      <p:cxnSp>
        <p:nvCxnSpPr>
          <p:cNvPr id="19" name="Google Shape;19;h575f3ee0b5d7ded4_143_0"/>
          <p:cNvCxnSpPr/>
          <p:nvPr/>
        </p:nvCxnSpPr>
        <p:spPr>
          <a:xfrm>
            <a:off x="640080" y="6501384"/>
            <a:ext cx="10899648" cy="0"/>
          </a:xfrm>
          <a:prstGeom prst="straightConnector1">
            <a:avLst/>
          </a:prstGeom>
          <a:noFill/>
          <a:ln cap="flat" cmpd="sng" w="9525">
            <a:solidFill>
              <a:srgbClr val="49616A"/>
            </a:solidFill>
            <a:prstDash val="solid"/>
            <a:round/>
            <a:headEnd len="sm" w="sm" type="none"/>
            <a:tailEnd len="sm" w="sm" type="none"/>
          </a:ln>
        </p:spPr>
      </p:cxnSp>
      <p:sp>
        <p:nvSpPr>
          <p:cNvPr id="20" name="Google Shape;20;h575f3ee0b5d7ded4_143_0"/>
          <p:cNvSpPr/>
          <p:nvPr/>
        </p:nvSpPr>
        <p:spPr>
          <a:xfrm>
            <a:off x="649224" y="6565392"/>
            <a:ext cx="7223700" cy="155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B0C5C7"/>
              </a:buClr>
              <a:buSzPts val="920"/>
              <a:buFont typeface="Inter"/>
              <a:buNone/>
            </a:pPr>
            <a:r>
              <a:rPr b="1" i="0" lang="en-US" sz="920" u="none" cap="none" strike="noStrike">
                <a:solidFill>
                  <a:srgbClr val="B0C5C7"/>
                </a:solidFill>
                <a:latin typeface="Inter"/>
                <a:ea typeface="Inter"/>
                <a:cs typeface="Inter"/>
                <a:sym typeface="Inter"/>
              </a:rPr>
              <a:t>REAL2SIM STUDIO   •  T087   •  AI20K   •  Cohort 4</a:t>
            </a:r>
            <a:endParaRPr b="0" i="0" sz="920" u="none" cap="none" strike="noStrike">
              <a:solidFill>
                <a:schemeClr val="dk1"/>
              </a:solidFill>
              <a:latin typeface="Inter"/>
              <a:ea typeface="Inter"/>
              <a:cs typeface="Inter"/>
              <a:sym typeface="Inter"/>
            </a:endParaRPr>
          </a:p>
        </p:txBody>
      </p:sp>
      <p:sp>
        <p:nvSpPr>
          <p:cNvPr id="21" name="Google Shape;21;h575f3ee0b5d7ded4_143_0"/>
          <p:cNvSpPr/>
          <p:nvPr/>
        </p:nvSpPr>
        <p:spPr>
          <a:xfrm>
            <a:off x="10844784" y="6565392"/>
            <a:ext cx="694944" cy="155448"/>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B0C5C7"/>
              </a:buClr>
              <a:buSzPts val="939"/>
              <a:buFont typeface="Inter"/>
              <a:buNone/>
            </a:pPr>
            <a:r>
              <a:rPr b="0" i="0" lang="en-US" sz="940" u="none" cap="none" strike="noStrike">
                <a:solidFill>
                  <a:srgbClr val="B0C5C7"/>
                </a:solidFill>
                <a:latin typeface="Inter"/>
                <a:ea typeface="Inter"/>
                <a:cs typeface="Inter"/>
                <a:sym typeface="Inter"/>
              </a:rPr>
              <a:t>01 / 12</a:t>
            </a:r>
            <a:endParaRPr b="0" i="0" sz="940" u="none" cap="none" strike="noStrike">
              <a:solidFill>
                <a:schemeClr val="dk1"/>
              </a:solidFill>
              <a:latin typeface="Inter"/>
              <a:ea typeface="Inter"/>
              <a:cs typeface="Inter"/>
              <a:sym typeface="Inter"/>
            </a:endParaRPr>
          </a:p>
        </p:txBody>
      </p:sp>
      <p:pic>
        <p:nvPicPr>
          <p:cNvPr descr="/mnt/data/real2sim_pitch_20261019/assets/scene_hero.png" id="22" name="Google Shape;22;h575f3ee0b5d7ded4_143_0"/>
          <p:cNvPicPr preferRelativeResize="0"/>
          <p:nvPr/>
        </p:nvPicPr>
        <p:blipFill rotWithShape="1">
          <a:blip r:embed="rId3">
            <a:alphaModFix/>
          </a:blip>
          <a:srcRect b="0" l="11436" r="11436" t="0"/>
          <a:stretch/>
        </p:blipFill>
        <p:spPr>
          <a:xfrm>
            <a:off x="5650992" y="603504"/>
            <a:ext cx="6437376" cy="5477256"/>
          </a:xfrm>
          <a:prstGeom prst="rect">
            <a:avLst/>
          </a:prstGeom>
          <a:noFill/>
          <a:ln>
            <a:noFill/>
          </a:ln>
        </p:spPr>
      </p:pic>
      <p:sp>
        <p:nvSpPr>
          <p:cNvPr id="23" name="Google Shape;23;h575f3ee0b5d7ded4_143_0"/>
          <p:cNvSpPr/>
          <p:nvPr/>
        </p:nvSpPr>
        <p:spPr>
          <a:xfrm>
            <a:off x="0" y="1033272"/>
            <a:ext cx="6208776" cy="5202936"/>
          </a:xfrm>
          <a:prstGeom prst="rect">
            <a:avLst/>
          </a:prstGeom>
          <a:solidFill>
            <a:srgbClr val="111D25"/>
          </a:solidFill>
          <a:ln cap="flat" cmpd="sng" w="12700">
            <a:solidFill>
              <a:srgbClr val="111D2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h575f3ee0b5d7ded4_143_0"/>
          <p:cNvSpPr/>
          <p:nvPr/>
        </p:nvSpPr>
        <p:spPr>
          <a:xfrm>
            <a:off x="2816352" y="1819656"/>
            <a:ext cx="731520" cy="81381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2AD62"/>
              </a:buClr>
              <a:buSzPts val="5700"/>
              <a:buFont typeface="Inter"/>
              <a:buNone/>
            </a:pPr>
            <a:r>
              <a:t/>
            </a:r>
            <a:endParaRPr b="0" i="0" sz="5700" u="none" cap="none" strike="noStrike">
              <a:solidFill>
                <a:schemeClr val="dk1"/>
              </a:solidFill>
              <a:latin typeface="Inter"/>
              <a:ea typeface="Inter"/>
              <a:cs typeface="Inter"/>
              <a:sym typeface="Inter"/>
            </a:endParaRPr>
          </a:p>
        </p:txBody>
      </p:sp>
      <p:grpSp>
        <p:nvGrpSpPr>
          <p:cNvPr id="25" name="Google Shape;25;h575f3ee0b5d7ded4_143_0"/>
          <p:cNvGrpSpPr/>
          <p:nvPr/>
        </p:nvGrpSpPr>
        <p:grpSpPr>
          <a:xfrm>
            <a:off x="594345" y="1294100"/>
            <a:ext cx="6208910" cy="2036328"/>
            <a:chOff x="617220" y="947375"/>
            <a:chExt cx="6208910" cy="2036328"/>
          </a:xfrm>
        </p:grpSpPr>
        <p:sp>
          <p:nvSpPr>
            <p:cNvPr id="26" name="Google Shape;26;h575f3ee0b5d7ded4_143_0"/>
            <p:cNvSpPr/>
            <p:nvPr/>
          </p:nvSpPr>
          <p:spPr>
            <a:xfrm>
              <a:off x="649232" y="2764103"/>
              <a:ext cx="5303400" cy="219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91DCD2"/>
                </a:buClr>
                <a:buSzPts val="1150"/>
                <a:buFont typeface="Inter"/>
                <a:buNone/>
              </a:pPr>
              <a:r>
                <a:rPr b="1" i="0" lang="en-US" sz="1150" u="none" cap="none" strike="noStrike">
                  <a:solidFill>
                    <a:srgbClr val="91DCD2"/>
                  </a:solidFill>
                  <a:latin typeface="Inter"/>
                  <a:ea typeface="Inter"/>
                  <a:cs typeface="Inter"/>
                  <a:sym typeface="Inter"/>
                </a:rPr>
                <a:t>EDITABLE REAL-TO-SIM WORKSPACE</a:t>
              </a:r>
              <a:endParaRPr b="0" i="0" sz="1150" u="none" cap="none" strike="noStrike">
                <a:solidFill>
                  <a:schemeClr val="dk1"/>
                </a:solidFill>
                <a:latin typeface="Inter"/>
                <a:ea typeface="Inter"/>
                <a:cs typeface="Inter"/>
                <a:sym typeface="Inter"/>
              </a:endParaRPr>
            </a:p>
          </p:txBody>
        </p:sp>
        <p:grpSp>
          <p:nvGrpSpPr>
            <p:cNvPr id="27" name="Google Shape;27;h575f3ee0b5d7ded4_143_0"/>
            <p:cNvGrpSpPr/>
            <p:nvPr/>
          </p:nvGrpSpPr>
          <p:grpSpPr>
            <a:xfrm>
              <a:off x="617220" y="947375"/>
              <a:ext cx="6208910" cy="1816722"/>
              <a:chOff x="685800" y="1865375"/>
              <a:chExt cx="5312664" cy="1554481"/>
            </a:xfrm>
          </p:grpSpPr>
          <p:sp>
            <p:nvSpPr>
              <p:cNvPr id="28" name="Google Shape;28;h575f3ee0b5d7ded4_143_0"/>
              <p:cNvSpPr/>
              <p:nvPr/>
            </p:nvSpPr>
            <p:spPr>
              <a:xfrm>
                <a:off x="685800" y="1865375"/>
                <a:ext cx="4117500" cy="759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5493"/>
                  <a:buFont typeface="Inter"/>
                  <a:buNone/>
                </a:pPr>
                <a:r>
                  <a:rPr b="1" i="0" lang="en-US" sz="5493" u="none" cap="none" strike="noStrike">
                    <a:solidFill>
                      <a:srgbClr val="FFFFFF"/>
                    </a:solidFill>
                    <a:latin typeface="Inter"/>
                    <a:ea typeface="Inter"/>
                    <a:cs typeface="Inter"/>
                    <a:sym typeface="Inter"/>
                  </a:rPr>
                  <a:t>REAL</a:t>
                </a:r>
                <a:r>
                  <a:rPr b="1" i="0" lang="en-US" sz="5493" u="none" cap="none" strike="noStrike">
                    <a:solidFill>
                      <a:srgbClr val="F2AD62"/>
                    </a:solidFill>
                    <a:latin typeface="Inter"/>
                    <a:ea typeface="Inter"/>
                    <a:cs typeface="Inter"/>
                    <a:sym typeface="Inter"/>
                  </a:rPr>
                  <a:t>2</a:t>
                </a:r>
                <a:r>
                  <a:rPr b="1" i="0" lang="en-US" sz="5493" u="none" cap="none" strike="noStrike">
                    <a:solidFill>
                      <a:srgbClr val="FFFFFF"/>
                    </a:solidFill>
                    <a:latin typeface="Inter"/>
                    <a:ea typeface="Inter"/>
                    <a:cs typeface="Inter"/>
                    <a:sym typeface="Inter"/>
                  </a:rPr>
                  <a:t>SIM</a:t>
                </a:r>
                <a:endParaRPr b="0" i="0" sz="5493" u="none" cap="none" strike="noStrike">
                  <a:solidFill>
                    <a:schemeClr val="dk1"/>
                  </a:solidFill>
                  <a:latin typeface="Inter"/>
                  <a:ea typeface="Inter"/>
                  <a:cs typeface="Inter"/>
                  <a:sym typeface="Inter"/>
                </a:endParaRPr>
              </a:p>
            </p:txBody>
          </p:sp>
          <p:sp>
            <p:nvSpPr>
              <p:cNvPr id="29" name="Google Shape;29;h575f3ee0b5d7ded4_143_0"/>
              <p:cNvSpPr/>
              <p:nvPr/>
            </p:nvSpPr>
            <p:spPr>
              <a:xfrm>
                <a:off x="694944" y="2660904"/>
                <a:ext cx="5303520" cy="758952"/>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5259"/>
                  <a:buFont typeface="Inter"/>
                  <a:buNone/>
                </a:pPr>
                <a:r>
                  <a:rPr b="1" i="0" lang="en-US" sz="5259" u="none" cap="none" strike="noStrike">
                    <a:solidFill>
                      <a:srgbClr val="FFFFFF"/>
                    </a:solidFill>
                    <a:latin typeface="Inter"/>
                    <a:ea typeface="Inter"/>
                    <a:cs typeface="Inter"/>
                    <a:sym typeface="Inter"/>
                  </a:rPr>
                  <a:t>STUDIO</a:t>
                </a:r>
                <a:endParaRPr b="0" i="0" sz="5259" u="none" cap="none" strike="noStrike">
                  <a:solidFill>
                    <a:schemeClr val="dk1"/>
                  </a:solidFill>
                  <a:latin typeface="Inter"/>
                  <a:ea typeface="Inter"/>
                  <a:cs typeface="Inter"/>
                  <a:sym typeface="Inter"/>
                </a:endParaRPr>
              </a:p>
            </p:txBody>
          </p:sp>
        </p:grpSp>
      </p:grpSp>
      <p:sp>
        <p:nvSpPr>
          <p:cNvPr id="30" name="Google Shape;30;h575f3ee0b5d7ded4_143_0"/>
          <p:cNvSpPr/>
          <p:nvPr/>
        </p:nvSpPr>
        <p:spPr>
          <a:xfrm>
            <a:off x="617257" y="3476050"/>
            <a:ext cx="5129700" cy="1024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2300"/>
              <a:buFont typeface="Inter"/>
              <a:buNone/>
            </a:pPr>
            <a:r>
              <a:rPr b="1" i="0" lang="en-US" sz="2300" u="none" cap="none" strike="noStrike">
                <a:solidFill>
                  <a:srgbClr val="FFFFFF"/>
                </a:solidFill>
                <a:latin typeface="Inter"/>
                <a:ea typeface="Inter"/>
                <a:cs typeface="Inter"/>
                <a:sym typeface="Inter"/>
              </a:rPr>
              <a:t>Từ video môi trường thực đến scene 3D có thể chỉnh sửa.</a:t>
            </a:r>
            <a:endParaRPr b="0" i="0" sz="2300" u="none" cap="none" strike="noStrike">
              <a:solidFill>
                <a:schemeClr val="dk1"/>
              </a:solidFill>
              <a:latin typeface="Inter"/>
              <a:ea typeface="Inter"/>
              <a:cs typeface="Inter"/>
              <a:sym typeface="Inter"/>
            </a:endParaRPr>
          </a:p>
        </p:txBody>
      </p:sp>
      <p:sp>
        <p:nvSpPr>
          <p:cNvPr id="31" name="Google Shape;31;h575f3ee0b5d7ded4_143_0"/>
          <p:cNvSpPr/>
          <p:nvPr/>
        </p:nvSpPr>
        <p:spPr>
          <a:xfrm>
            <a:off x="594358" y="4645874"/>
            <a:ext cx="5020200" cy="7680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D7E4E2"/>
              </a:buClr>
              <a:buSzPts val="1620"/>
              <a:buFont typeface="Inter"/>
              <a:buNone/>
            </a:pPr>
            <a:r>
              <a:rPr b="0" i="0" lang="en-US" sz="1620" u="none" cap="none" strike="noStrike">
                <a:solidFill>
                  <a:srgbClr val="D7E4E2"/>
                </a:solidFill>
                <a:latin typeface="Inter"/>
                <a:ea typeface="Inter"/>
                <a:cs typeface="Inter"/>
                <a:sym typeface="Inter"/>
              </a:rPr>
              <a:t>Một sản phẩm xây trong 5 tuần, hướng đến hỗ trợ kỹ sư chuẩn bị môi trường để thử nghiệm robot.</a:t>
            </a:r>
            <a:endParaRPr b="0" i="0" sz="1620" u="none" cap="none" strike="noStrike">
              <a:solidFill>
                <a:schemeClr val="dk1"/>
              </a:solidFill>
              <a:latin typeface="Inter"/>
              <a:ea typeface="Inter"/>
              <a:cs typeface="Inter"/>
              <a:sym typeface="Inter"/>
            </a:endParaRPr>
          </a:p>
        </p:txBody>
      </p:sp>
      <p:sp>
        <p:nvSpPr>
          <p:cNvPr id="32" name="Google Shape;32;h575f3ee0b5d7ded4_143_0"/>
          <p:cNvSpPr/>
          <p:nvPr/>
        </p:nvSpPr>
        <p:spPr>
          <a:xfrm>
            <a:off x="7333488" y="5961888"/>
            <a:ext cx="4224528" cy="210312"/>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C0D2D0"/>
              </a:buClr>
              <a:buSzPts val="950"/>
              <a:buFont typeface="Inter"/>
              <a:buNone/>
            </a:pPr>
            <a:r>
              <a:rPr b="0" i="0" lang="en-US" sz="950" u="none" cap="none" strike="noStrike">
                <a:solidFill>
                  <a:srgbClr val="C0D2D0"/>
                </a:solidFill>
                <a:latin typeface="Inter"/>
                <a:ea typeface="Inter"/>
                <a:cs typeface="Inter"/>
                <a:sym typeface="Inter"/>
              </a:rPr>
              <a:t>HÌNH MINH HỌA  •  KHÔNG PHẢI ẢNH SẢN PHẨM</a:t>
            </a:r>
            <a:endParaRPr b="0" i="0" sz="950" u="none" cap="none" strike="noStrike">
              <a:solidFill>
                <a:schemeClr val="dk1"/>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37" name="Shape 37"/>
        <p:cNvGrpSpPr/>
        <p:nvPr/>
      </p:nvGrpSpPr>
      <p:grpSpPr>
        <a:xfrm>
          <a:off x="0" y="0"/>
          <a:ext cx="0" cy="0"/>
          <a:chOff x="0" y="0"/>
          <a:chExt cx="0" cy="0"/>
        </a:xfrm>
      </p:grpSpPr>
      <p:sp>
        <p:nvSpPr>
          <p:cNvPr id="38" name="Google Shape;38;h575f3ee0b5d7ded4_143_21"/>
          <p:cNvSpPr/>
          <p:nvPr/>
        </p:nvSpPr>
        <p:spPr>
          <a:xfrm>
            <a:off x="0" y="0"/>
            <a:ext cx="12192000" cy="53100"/>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h575f3ee0b5d7ded4_143_21"/>
          <p:cNvSpPr/>
          <p:nvPr/>
        </p:nvSpPr>
        <p:spPr>
          <a:xfrm>
            <a:off x="640080" y="292608"/>
            <a:ext cx="10881300" cy="219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02   /   BỐI CẢNH ROBOTICS</a:t>
            </a:r>
            <a:endParaRPr b="0" i="0" sz="1400" u="none" cap="none" strike="noStrike">
              <a:solidFill>
                <a:schemeClr val="dk1"/>
              </a:solidFill>
              <a:latin typeface="Inter"/>
              <a:ea typeface="Inter"/>
              <a:cs typeface="Inter"/>
              <a:sym typeface="Inter"/>
            </a:endParaRPr>
          </a:p>
        </p:txBody>
      </p:sp>
      <p:cxnSp>
        <p:nvCxnSpPr>
          <p:cNvPr id="40" name="Google Shape;40;h575f3ee0b5d7ded4_143_21"/>
          <p:cNvCxnSpPr/>
          <p:nvPr/>
        </p:nvCxnSpPr>
        <p:spPr>
          <a:xfrm>
            <a:off x="640080" y="6501384"/>
            <a:ext cx="10899600" cy="0"/>
          </a:xfrm>
          <a:prstGeom prst="straightConnector1">
            <a:avLst/>
          </a:prstGeom>
          <a:noFill/>
          <a:ln cap="flat" cmpd="sng" w="9525">
            <a:solidFill>
              <a:srgbClr val="DBE3DD"/>
            </a:solidFill>
            <a:prstDash val="solid"/>
            <a:round/>
            <a:headEnd len="sm" w="sm" type="none"/>
            <a:tailEnd len="sm" w="sm" type="none"/>
          </a:ln>
        </p:spPr>
      </p:cxnSp>
      <p:sp>
        <p:nvSpPr>
          <p:cNvPr id="41" name="Google Shape;41;h575f3ee0b5d7ded4_143_21"/>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
        <p:nvSpPr>
          <p:cNvPr id="42" name="Google Shape;42;h575f3ee0b5d7ded4_143_21"/>
          <p:cNvSpPr/>
          <p:nvPr/>
        </p:nvSpPr>
        <p:spPr>
          <a:xfrm>
            <a:off x="10844784" y="6565392"/>
            <a:ext cx="694800" cy="1554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02 / 12</a:t>
            </a:r>
            <a:endParaRPr b="0" i="0" sz="940" u="none" cap="none" strike="noStrike">
              <a:solidFill>
                <a:schemeClr val="dk1"/>
              </a:solidFill>
              <a:latin typeface="Inter"/>
              <a:ea typeface="Inter"/>
              <a:cs typeface="Inter"/>
              <a:sym typeface="Inter"/>
            </a:endParaRPr>
          </a:p>
        </p:txBody>
      </p:sp>
      <p:sp>
        <p:nvSpPr>
          <p:cNvPr id="43" name="Google Shape;43;h575f3ee0b5d7ded4_143_21"/>
          <p:cNvSpPr/>
          <p:nvPr/>
        </p:nvSpPr>
        <p:spPr>
          <a:xfrm>
            <a:off x="640080" y="768096"/>
            <a:ext cx="10954500" cy="704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700"/>
              <a:buFont typeface="Inter"/>
              <a:buNone/>
            </a:pPr>
            <a:r>
              <a:rPr b="1" i="0" lang="en-US" sz="2700" u="none" cap="none" strike="noStrike">
                <a:solidFill>
                  <a:srgbClr val="1C2B34"/>
                </a:solidFill>
                <a:latin typeface="Inter"/>
                <a:ea typeface="Inter"/>
                <a:cs typeface="Inter"/>
                <a:sym typeface="Inter"/>
              </a:rPr>
              <a:t>Vì sao robot cần được thử nghiệm trước khi triển khai?</a:t>
            </a:r>
            <a:endParaRPr b="0" i="0" sz="2700" u="none" cap="none" strike="noStrike">
              <a:solidFill>
                <a:schemeClr val="dk1"/>
              </a:solidFill>
              <a:latin typeface="Inter"/>
              <a:ea typeface="Inter"/>
              <a:cs typeface="Inter"/>
              <a:sym typeface="Inter"/>
            </a:endParaRPr>
          </a:p>
        </p:txBody>
      </p:sp>
      <p:sp>
        <p:nvSpPr>
          <p:cNvPr id="44" name="Google Shape;44;h575f3ee0b5d7ded4_143_21"/>
          <p:cNvSpPr/>
          <p:nvPr/>
        </p:nvSpPr>
        <p:spPr>
          <a:xfrm>
            <a:off x="649224" y="1554480"/>
            <a:ext cx="10881300" cy="521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Mỗi địa điểm có lối đi, vật cản và cách bố trí khác nhau. Một bài thử tốt cần phản ánh những điều kiện đó.</a:t>
            </a:r>
            <a:endParaRPr b="0" i="0" sz="1600" u="none" cap="none" strike="noStrike">
              <a:solidFill>
                <a:schemeClr val="dk1"/>
              </a:solidFill>
              <a:latin typeface="Inter"/>
              <a:ea typeface="Inter"/>
              <a:cs typeface="Inter"/>
              <a:sym typeface="Inter"/>
            </a:endParaRPr>
          </a:p>
        </p:txBody>
      </p:sp>
      <p:sp>
        <p:nvSpPr>
          <p:cNvPr id="45" name="Google Shape;45;h575f3ee0b5d7ded4_143_21"/>
          <p:cNvSpPr/>
          <p:nvPr/>
        </p:nvSpPr>
        <p:spPr>
          <a:xfrm>
            <a:off x="667512" y="2276856"/>
            <a:ext cx="3456300" cy="2880300"/>
          </a:xfrm>
          <a:prstGeom prst="roundRect">
            <a:avLst>
              <a:gd fmla="val 4444"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h575f3ee0b5d7ded4_143_21"/>
          <p:cNvSpPr/>
          <p:nvPr/>
        </p:nvSpPr>
        <p:spPr>
          <a:xfrm>
            <a:off x="877824" y="2487168"/>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h575f3ee0b5d7ded4_143_21"/>
          <p:cNvSpPr/>
          <p:nvPr/>
        </p:nvSpPr>
        <p:spPr>
          <a:xfrm>
            <a:off x="896112" y="2505456"/>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01</a:t>
            </a:r>
            <a:endParaRPr b="0" i="0" sz="1200" u="none" cap="none" strike="noStrike">
              <a:solidFill>
                <a:schemeClr val="dk1"/>
              </a:solidFill>
              <a:latin typeface="Inter"/>
              <a:ea typeface="Inter"/>
              <a:cs typeface="Inter"/>
              <a:sym typeface="Inter"/>
            </a:endParaRPr>
          </a:p>
        </p:txBody>
      </p:sp>
      <p:sp>
        <p:nvSpPr>
          <p:cNvPr id="48" name="Google Shape;48;h575f3ee0b5d7ded4_143_21"/>
          <p:cNvSpPr/>
          <p:nvPr/>
        </p:nvSpPr>
        <p:spPr>
          <a:xfrm>
            <a:off x="896112" y="2944368"/>
            <a:ext cx="29991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50"/>
              <a:buFont typeface="Inter"/>
              <a:buNone/>
            </a:pPr>
            <a:r>
              <a:rPr b="1" i="0" lang="en-US" sz="1850" u="none" cap="none" strike="noStrike">
                <a:solidFill>
                  <a:srgbClr val="1C2B34"/>
                </a:solidFill>
                <a:latin typeface="Inter"/>
                <a:ea typeface="Inter"/>
                <a:cs typeface="Inter"/>
                <a:sym typeface="Inter"/>
              </a:rPr>
              <a:t>Robot đến địa điểm mới</a:t>
            </a:r>
            <a:endParaRPr b="0" i="0" sz="1850" u="none" cap="none" strike="noStrike">
              <a:solidFill>
                <a:schemeClr val="dk1"/>
              </a:solidFill>
              <a:latin typeface="Inter"/>
              <a:ea typeface="Inter"/>
              <a:cs typeface="Inter"/>
              <a:sym typeface="Inter"/>
            </a:endParaRPr>
          </a:p>
        </p:txBody>
      </p:sp>
      <p:sp>
        <p:nvSpPr>
          <p:cNvPr id="49" name="Google Shape;49;h575f3ee0b5d7ded4_143_21"/>
          <p:cNvSpPr/>
          <p:nvPr/>
        </p:nvSpPr>
        <p:spPr>
          <a:xfrm>
            <a:off x="896112" y="3575304"/>
            <a:ext cx="2999100" cy="11157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Kỹ sư phải biết robot có đi qua hành lang, tránh vật cản và thực hiện nhiệm vụ trong bố trí thực tế hay không.</a:t>
            </a:r>
            <a:endParaRPr b="0" i="0" sz="1600" u="none" cap="none" strike="noStrike">
              <a:solidFill>
                <a:schemeClr val="dk1"/>
              </a:solidFill>
              <a:latin typeface="Inter"/>
              <a:ea typeface="Inter"/>
              <a:cs typeface="Inter"/>
              <a:sym typeface="Inter"/>
            </a:endParaRPr>
          </a:p>
        </p:txBody>
      </p:sp>
      <p:sp>
        <p:nvSpPr>
          <p:cNvPr id="50" name="Google Shape;50;h575f3ee0b5d7ded4_143_21"/>
          <p:cNvSpPr/>
          <p:nvPr/>
        </p:nvSpPr>
        <p:spPr>
          <a:xfrm>
            <a:off x="4370832" y="2276856"/>
            <a:ext cx="3456300" cy="2880300"/>
          </a:xfrm>
          <a:prstGeom prst="roundRect">
            <a:avLst>
              <a:gd fmla="val 4444"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h575f3ee0b5d7ded4_143_21"/>
          <p:cNvSpPr/>
          <p:nvPr/>
        </p:nvSpPr>
        <p:spPr>
          <a:xfrm>
            <a:off x="4581144" y="2487168"/>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h575f3ee0b5d7ded4_143_21"/>
          <p:cNvSpPr/>
          <p:nvPr/>
        </p:nvSpPr>
        <p:spPr>
          <a:xfrm>
            <a:off x="4599432" y="2505456"/>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02</a:t>
            </a:r>
            <a:endParaRPr b="0" i="0" sz="1200" u="none" cap="none" strike="noStrike">
              <a:solidFill>
                <a:schemeClr val="dk1"/>
              </a:solidFill>
              <a:latin typeface="Inter"/>
              <a:ea typeface="Inter"/>
              <a:cs typeface="Inter"/>
              <a:sym typeface="Inter"/>
            </a:endParaRPr>
          </a:p>
        </p:txBody>
      </p:sp>
      <p:sp>
        <p:nvSpPr>
          <p:cNvPr id="53" name="Google Shape;53;h575f3ee0b5d7ded4_143_21"/>
          <p:cNvSpPr/>
          <p:nvPr/>
        </p:nvSpPr>
        <p:spPr>
          <a:xfrm>
            <a:off x="4599432" y="2944368"/>
            <a:ext cx="29991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50"/>
              <a:buFont typeface="Inter"/>
              <a:buNone/>
            </a:pPr>
            <a:r>
              <a:rPr b="1" i="0" lang="en-US" sz="1850" u="none" cap="none" strike="noStrike">
                <a:solidFill>
                  <a:srgbClr val="1C2B34"/>
                </a:solidFill>
                <a:latin typeface="Inter"/>
                <a:ea typeface="Inter"/>
                <a:cs typeface="Inter"/>
                <a:sym typeface="Inter"/>
              </a:rPr>
              <a:t>Thử trực tiếp có giới hạn</a:t>
            </a:r>
            <a:endParaRPr b="0" i="0" sz="1850" u="none" cap="none" strike="noStrike">
              <a:solidFill>
                <a:schemeClr val="dk1"/>
              </a:solidFill>
              <a:latin typeface="Inter"/>
              <a:ea typeface="Inter"/>
              <a:cs typeface="Inter"/>
              <a:sym typeface="Inter"/>
            </a:endParaRPr>
          </a:p>
        </p:txBody>
      </p:sp>
      <p:sp>
        <p:nvSpPr>
          <p:cNvPr id="54" name="Google Shape;54;h575f3ee0b5d7ded4_143_21"/>
          <p:cNvSpPr/>
          <p:nvPr/>
        </p:nvSpPr>
        <p:spPr>
          <a:xfrm>
            <a:off x="4599432" y="3575304"/>
            <a:ext cx="2999100" cy="11157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Để kiểm tra nhiều cách bố trí hoặc các tình huống khó, việc sắp đặt và chạy thử ngoài đời có thể tốn công và gián đoạn vận hành.</a:t>
            </a:r>
            <a:endParaRPr b="0" i="0" sz="1600" u="none" cap="none" strike="noStrike">
              <a:solidFill>
                <a:schemeClr val="dk1"/>
              </a:solidFill>
              <a:latin typeface="Inter"/>
              <a:ea typeface="Inter"/>
              <a:cs typeface="Inter"/>
              <a:sym typeface="Inter"/>
            </a:endParaRPr>
          </a:p>
        </p:txBody>
      </p:sp>
      <p:sp>
        <p:nvSpPr>
          <p:cNvPr id="55" name="Google Shape;55;h575f3ee0b5d7ded4_143_21"/>
          <p:cNvSpPr/>
          <p:nvPr/>
        </p:nvSpPr>
        <p:spPr>
          <a:xfrm>
            <a:off x="8074152" y="2276856"/>
            <a:ext cx="3456300" cy="2880300"/>
          </a:xfrm>
          <a:prstGeom prst="roundRect">
            <a:avLst>
              <a:gd fmla="val 4444"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h575f3ee0b5d7ded4_143_21"/>
          <p:cNvSpPr/>
          <p:nvPr/>
        </p:nvSpPr>
        <p:spPr>
          <a:xfrm>
            <a:off x="8284464" y="2487168"/>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h575f3ee0b5d7ded4_143_21"/>
          <p:cNvSpPr/>
          <p:nvPr/>
        </p:nvSpPr>
        <p:spPr>
          <a:xfrm>
            <a:off x="8302752" y="2505456"/>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03</a:t>
            </a:r>
            <a:endParaRPr b="0" i="0" sz="1200" u="none" cap="none" strike="noStrike">
              <a:solidFill>
                <a:schemeClr val="dk1"/>
              </a:solidFill>
              <a:latin typeface="Inter"/>
              <a:ea typeface="Inter"/>
              <a:cs typeface="Inter"/>
              <a:sym typeface="Inter"/>
            </a:endParaRPr>
          </a:p>
        </p:txBody>
      </p:sp>
      <p:sp>
        <p:nvSpPr>
          <p:cNvPr id="58" name="Google Shape;58;h575f3ee0b5d7ded4_143_21"/>
          <p:cNvSpPr/>
          <p:nvPr/>
        </p:nvSpPr>
        <p:spPr>
          <a:xfrm>
            <a:off x="8302752" y="2944368"/>
            <a:ext cx="299910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50"/>
              <a:buFont typeface="Inter"/>
              <a:buNone/>
            </a:pPr>
            <a:r>
              <a:rPr b="1" i="0" lang="en-US" sz="1850" u="none" cap="none" strike="noStrike">
                <a:solidFill>
                  <a:srgbClr val="1C2B34"/>
                </a:solidFill>
                <a:latin typeface="Inter"/>
                <a:ea typeface="Inter"/>
                <a:cs typeface="Inter"/>
                <a:sym typeface="Inter"/>
              </a:rPr>
              <a:t>Mô phỏng hỗ trợ chuẩn bị</a:t>
            </a:r>
            <a:endParaRPr b="0" i="0" sz="1850" u="none" cap="none" strike="noStrike">
              <a:solidFill>
                <a:schemeClr val="dk1"/>
              </a:solidFill>
              <a:latin typeface="Inter"/>
              <a:ea typeface="Inter"/>
              <a:cs typeface="Inter"/>
              <a:sym typeface="Inter"/>
            </a:endParaRPr>
          </a:p>
        </p:txBody>
      </p:sp>
      <p:sp>
        <p:nvSpPr>
          <p:cNvPr id="59" name="Google Shape;59;h575f3ee0b5d7ded4_143_21"/>
          <p:cNvSpPr/>
          <p:nvPr/>
        </p:nvSpPr>
        <p:spPr>
          <a:xfrm>
            <a:off x="8302752" y="3575304"/>
            <a:ext cx="2999100" cy="11157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Trong môi trường ảo, đội kỹ thuật có thể thiết kế bài thử, thay đổi điều kiện và đánh giá trước một phần rủi ro.</a:t>
            </a:r>
            <a:endParaRPr b="0" i="0" sz="1600" u="none" cap="none" strike="noStrike">
              <a:solidFill>
                <a:schemeClr val="dk1"/>
              </a:solidFill>
              <a:latin typeface="Inter"/>
              <a:ea typeface="Inter"/>
              <a:cs typeface="Inter"/>
              <a:sym typeface="Inter"/>
            </a:endParaRPr>
          </a:p>
        </p:txBody>
      </p:sp>
      <p:sp>
        <p:nvSpPr>
          <p:cNvPr id="60" name="Google Shape;60;h575f3ee0b5d7ded4_143_21"/>
          <p:cNvSpPr/>
          <p:nvPr/>
        </p:nvSpPr>
        <p:spPr>
          <a:xfrm>
            <a:off x="694944" y="5413248"/>
            <a:ext cx="10808100" cy="493800"/>
          </a:xfrm>
          <a:prstGeom prst="roundRect">
            <a:avLst>
              <a:gd fmla="val 25926" name="adj"/>
            </a:avLst>
          </a:prstGeom>
          <a:solidFill>
            <a:srgbClr val="E9F4EF"/>
          </a:solidFill>
          <a:ln cap="flat" cmpd="sng" w="12700">
            <a:solidFill>
              <a:srgbClr val="E9F4E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h575f3ee0b5d7ded4_143_21"/>
          <p:cNvSpPr/>
          <p:nvPr/>
        </p:nvSpPr>
        <p:spPr>
          <a:xfrm>
            <a:off x="886975" y="5504700"/>
            <a:ext cx="10707600" cy="274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600"/>
              <a:buFont typeface="Inter"/>
              <a:buNone/>
            </a:pPr>
            <a:r>
              <a:rPr b="1" i="0" lang="en-US" sz="1600" u="none" cap="none" strike="noStrike">
                <a:solidFill>
                  <a:srgbClr val="0E8283"/>
                </a:solidFill>
                <a:latin typeface="Inter"/>
                <a:ea typeface="Inter"/>
                <a:cs typeface="Inter"/>
                <a:sym typeface="Inter"/>
              </a:rPr>
              <a:t>Để làm được điều đó, simulator cần một scene phù hợp với bài thử robot - không chỉ một hình ảnh 3D đẹp.</a:t>
            </a:r>
            <a:endParaRPr b="0" i="0" sz="1600" u="none" cap="none" strike="noStrike">
              <a:solidFill>
                <a:schemeClr val="dk1"/>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66" name="Shape 66"/>
        <p:cNvGrpSpPr/>
        <p:nvPr/>
      </p:nvGrpSpPr>
      <p:grpSpPr>
        <a:xfrm>
          <a:off x="0" y="0"/>
          <a:ext cx="0" cy="0"/>
          <a:chOff x="0" y="0"/>
          <a:chExt cx="0" cy="0"/>
        </a:xfrm>
      </p:grpSpPr>
      <p:sp>
        <p:nvSpPr>
          <p:cNvPr id="67" name="Google Shape;67;h575f3ee0b5d7ded4_143_49"/>
          <p:cNvSpPr/>
          <p:nvPr/>
        </p:nvSpPr>
        <p:spPr>
          <a:xfrm>
            <a:off x="0" y="0"/>
            <a:ext cx="12192000" cy="53035"/>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h575f3ee0b5d7ded4_143_49"/>
          <p:cNvSpPr/>
          <p:nvPr/>
        </p:nvSpPr>
        <p:spPr>
          <a:xfrm>
            <a:off x="640080" y="292608"/>
            <a:ext cx="108813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03   /   XU HƯỚNG NGÀNH</a:t>
            </a:r>
            <a:endParaRPr b="0" i="0" sz="1400" u="none" cap="none" strike="noStrike">
              <a:solidFill>
                <a:schemeClr val="dk1"/>
              </a:solidFill>
              <a:latin typeface="Inter"/>
              <a:ea typeface="Inter"/>
              <a:cs typeface="Inter"/>
              <a:sym typeface="Inter"/>
            </a:endParaRPr>
          </a:p>
        </p:txBody>
      </p:sp>
      <p:cxnSp>
        <p:nvCxnSpPr>
          <p:cNvPr id="69" name="Google Shape;69;h575f3ee0b5d7ded4_143_49"/>
          <p:cNvCxnSpPr/>
          <p:nvPr/>
        </p:nvCxnSpPr>
        <p:spPr>
          <a:xfrm>
            <a:off x="640080" y="6501384"/>
            <a:ext cx="10899648" cy="0"/>
          </a:xfrm>
          <a:prstGeom prst="straightConnector1">
            <a:avLst/>
          </a:prstGeom>
          <a:noFill/>
          <a:ln cap="flat" cmpd="sng" w="9525">
            <a:solidFill>
              <a:srgbClr val="DBE3DD"/>
            </a:solidFill>
            <a:prstDash val="solid"/>
            <a:round/>
            <a:headEnd len="sm" w="sm" type="none"/>
            <a:tailEnd len="sm" w="sm" type="none"/>
          </a:ln>
        </p:spPr>
      </p:cxnSp>
      <p:sp>
        <p:nvSpPr>
          <p:cNvPr id="70" name="Google Shape;70;h575f3ee0b5d7ded4_143_49"/>
          <p:cNvSpPr/>
          <p:nvPr/>
        </p:nvSpPr>
        <p:spPr>
          <a:xfrm>
            <a:off x="10844784" y="6565392"/>
            <a:ext cx="694944" cy="155448"/>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03 / 12</a:t>
            </a:r>
            <a:endParaRPr b="0" i="0" sz="940" u="none" cap="none" strike="noStrike">
              <a:solidFill>
                <a:schemeClr val="dk1"/>
              </a:solidFill>
              <a:latin typeface="Inter"/>
              <a:ea typeface="Inter"/>
              <a:cs typeface="Inter"/>
              <a:sym typeface="Inter"/>
            </a:endParaRPr>
          </a:p>
        </p:txBody>
      </p:sp>
      <p:sp>
        <p:nvSpPr>
          <p:cNvPr id="71" name="Google Shape;71;h575f3ee0b5d7ded4_143_49"/>
          <p:cNvSpPr/>
          <p:nvPr/>
        </p:nvSpPr>
        <p:spPr>
          <a:xfrm>
            <a:off x="640080" y="768096"/>
            <a:ext cx="10954512" cy="70408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600"/>
              <a:buFont typeface="Inter"/>
              <a:buNone/>
            </a:pPr>
            <a:r>
              <a:rPr b="1" i="0" lang="en-US" sz="2600" u="none" cap="none" strike="noStrike">
                <a:solidFill>
                  <a:srgbClr val="1C2B34"/>
                </a:solidFill>
                <a:latin typeface="Inter"/>
                <a:ea typeface="Inter"/>
                <a:cs typeface="Inter"/>
                <a:sym typeface="Inter"/>
              </a:rPr>
              <a:t>Vì sao nhiều doanh nghiệp đầu tư vào Digital Twin và Real-to-Sim?</a:t>
            </a:r>
            <a:endParaRPr b="0" i="0" sz="2600" u="none" cap="none" strike="noStrike">
              <a:solidFill>
                <a:schemeClr val="dk1"/>
              </a:solidFill>
              <a:latin typeface="Inter"/>
              <a:ea typeface="Inter"/>
              <a:cs typeface="Inter"/>
              <a:sym typeface="Inter"/>
            </a:endParaRPr>
          </a:p>
        </p:txBody>
      </p:sp>
      <p:sp>
        <p:nvSpPr>
          <p:cNvPr id="72" name="Google Shape;72;h575f3ee0b5d7ded4_143_49"/>
          <p:cNvSpPr/>
          <p:nvPr/>
        </p:nvSpPr>
        <p:spPr>
          <a:xfrm>
            <a:off x="649224" y="1554480"/>
            <a:ext cx="10881360" cy="52120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Robotics đang phát triển, đồng thời nhu cầu tạo và kiểm tra môi trường ảo ngày càng được nhiều tổ chức quan tâm.</a:t>
            </a:r>
            <a:endParaRPr b="0" i="0" sz="1600" u="none" cap="none" strike="noStrike">
              <a:solidFill>
                <a:schemeClr val="dk1"/>
              </a:solidFill>
              <a:latin typeface="Inter"/>
              <a:ea typeface="Inter"/>
              <a:cs typeface="Inter"/>
              <a:sym typeface="Inter"/>
            </a:endParaRPr>
          </a:p>
        </p:txBody>
      </p:sp>
      <p:sp>
        <p:nvSpPr>
          <p:cNvPr id="73" name="Google Shape;73;h575f3ee0b5d7ded4_143_49"/>
          <p:cNvSpPr/>
          <p:nvPr/>
        </p:nvSpPr>
        <p:spPr>
          <a:xfrm>
            <a:off x="667512" y="2221992"/>
            <a:ext cx="3794760" cy="3218688"/>
          </a:xfrm>
          <a:prstGeom prst="roundRect">
            <a:avLst>
              <a:gd fmla="val 3977" name="adj"/>
            </a:avLst>
          </a:prstGeom>
          <a:solidFill>
            <a:srgbClr val="111D25"/>
          </a:solidFill>
          <a:ln cap="flat" cmpd="sng" w="12700">
            <a:solidFill>
              <a:srgbClr val="111D2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h575f3ee0b5d7ded4_143_49"/>
          <p:cNvSpPr/>
          <p:nvPr/>
        </p:nvSpPr>
        <p:spPr>
          <a:xfrm>
            <a:off x="932688" y="2505456"/>
            <a:ext cx="3328416"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91DCD2"/>
              </a:buClr>
              <a:buSzPts val="1150"/>
              <a:buFont typeface="Inter"/>
              <a:buNone/>
            </a:pPr>
            <a:r>
              <a:rPr b="1" i="0" lang="en-US" sz="1150" u="none" cap="none" strike="noStrike">
                <a:solidFill>
                  <a:srgbClr val="91DCD2"/>
                </a:solidFill>
                <a:latin typeface="Inter"/>
                <a:ea typeface="Inter"/>
                <a:cs typeface="Inter"/>
                <a:sym typeface="Inter"/>
              </a:rPr>
              <a:t>IFR  •  WORLD ROBOTICS 2026</a:t>
            </a:r>
            <a:endParaRPr b="0" i="0" sz="1150" u="none" cap="none" strike="noStrike">
              <a:solidFill>
                <a:schemeClr val="dk1"/>
              </a:solidFill>
              <a:latin typeface="Inter"/>
              <a:ea typeface="Inter"/>
              <a:cs typeface="Inter"/>
              <a:sym typeface="Inter"/>
            </a:endParaRPr>
          </a:p>
        </p:txBody>
      </p:sp>
      <p:sp>
        <p:nvSpPr>
          <p:cNvPr id="75" name="Google Shape;75;h575f3ee0b5d7ded4_143_49"/>
          <p:cNvSpPr/>
          <p:nvPr/>
        </p:nvSpPr>
        <p:spPr>
          <a:xfrm>
            <a:off x="914400" y="2926080"/>
            <a:ext cx="3246120" cy="896112"/>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4000"/>
              <a:buFont typeface="Inter"/>
              <a:buNone/>
            </a:pPr>
            <a:r>
              <a:rPr b="1" i="0" lang="en-US" sz="4000" u="none" cap="none" strike="noStrike">
                <a:solidFill>
                  <a:srgbClr val="FFFFFF"/>
                </a:solidFill>
                <a:latin typeface="Inter"/>
                <a:ea typeface="Inter"/>
                <a:cs typeface="Inter"/>
                <a:sym typeface="Inter"/>
              </a:rPr>
              <a:t>~250.000</a:t>
            </a:r>
            <a:endParaRPr b="0" i="0" sz="4000" u="none" cap="none" strike="noStrike">
              <a:solidFill>
                <a:schemeClr val="dk1"/>
              </a:solidFill>
              <a:latin typeface="Inter"/>
              <a:ea typeface="Inter"/>
              <a:cs typeface="Inter"/>
              <a:sym typeface="Inter"/>
            </a:endParaRPr>
          </a:p>
        </p:txBody>
      </p:sp>
      <p:sp>
        <p:nvSpPr>
          <p:cNvPr id="76" name="Google Shape;76;h575f3ee0b5d7ded4_143_49"/>
          <p:cNvSpPr/>
          <p:nvPr/>
        </p:nvSpPr>
        <p:spPr>
          <a:xfrm>
            <a:off x="932688" y="3922776"/>
            <a:ext cx="3127248" cy="923544"/>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D5E5E3"/>
              </a:buClr>
              <a:buSzPts val="1700"/>
              <a:buFont typeface="Inter"/>
              <a:buNone/>
            </a:pPr>
            <a:r>
              <a:rPr b="0" i="0" lang="en-US" sz="1700" u="none" cap="none" strike="noStrike">
                <a:solidFill>
                  <a:srgbClr val="D5E5E3"/>
                </a:solidFill>
                <a:latin typeface="Inter"/>
                <a:ea typeface="Inter"/>
                <a:cs typeface="Inter"/>
                <a:sym typeface="Inter"/>
              </a:rPr>
              <a:t>robot dịch vụ chuyên nghiệp được bán trên toàn cầu trong năm 2025.</a:t>
            </a:r>
            <a:endParaRPr b="0" i="0" sz="1700" u="none" cap="none" strike="noStrike">
              <a:solidFill>
                <a:schemeClr val="dk1"/>
              </a:solidFill>
              <a:latin typeface="Inter"/>
              <a:ea typeface="Inter"/>
              <a:cs typeface="Inter"/>
              <a:sym typeface="Inter"/>
            </a:endParaRPr>
          </a:p>
        </p:txBody>
      </p:sp>
      <p:sp>
        <p:nvSpPr>
          <p:cNvPr id="77" name="Google Shape;77;h575f3ee0b5d7ded4_143_49"/>
          <p:cNvSpPr/>
          <p:nvPr/>
        </p:nvSpPr>
        <p:spPr>
          <a:xfrm>
            <a:off x="932688" y="4974336"/>
            <a:ext cx="3191256" cy="256032"/>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2AD62"/>
              </a:buClr>
              <a:buSzPts val="1170"/>
              <a:buFont typeface="Inter"/>
              <a:buNone/>
            </a:pPr>
            <a:r>
              <a:rPr b="0" i="1" lang="en-US" sz="1170" u="none" cap="none" strike="noStrike">
                <a:solidFill>
                  <a:srgbClr val="F2AD62"/>
                </a:solidFill>
                <a:latin typeface="Inter"/>
                <a:ea typeface="Inter"/>
                <a:cs typeface="Inter"/>
                <a:sym typeface="Inter"/>
              </a:rPr>
              <a:t>Con số ngành, không phải số khách hàng của Real2Sim.</a:t>
            </a:r>
            <a:endParaRPr b="0" i="0" sz="1170" u="none" cap="none" strike="noStrike">
              <a:solidFill>
                <a:schemeClr val="dk1"/>
              </a:solidFill>
              <a:latin typeface="Inter"/>
              <a:ea typeface="Inter"/>
              <a:cs typeface="Inter"/>
              <a:sym typeface="Inter"/>
            </a:endParaRPr>
          </a:p>
        </p:txBody>
      </p:sp>
      <p:sp>
        <p:nvSpPr>
          <p:cNvPr id="78" name="Google Shape;78;h575f3ee0b5d7ded4_143_49"/>
          <p:cNvSpPr/>
          <p:nvPr/>
        </p:nvSpPr>
        <p:spPr>
          <a:xfrm>
            <a:off x="4709160" y="2221992"/>
            <a:ext cx="6821424" cy="1499616"/>
          </a:xfrm>
          <a:prstGeom prst="roundRect">
            <a:avLst>
              <a:gd fmla="val 8537"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h575f3ee0b5d7ded4_143_49"/>
          <p:cNvSpPr/>
          <p:nvPr/>
        </p:nvSpPr>
        <p:spPr>
          <a:xfrm>
            <a:off x="5001768" y="2441448"/>
            <a:ext cx="6153912"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150" u="none" cap="none" strike="noStrike">
                <a:solidFill>
                  <a:srgbClr val="0E8283"/>
                </a:solidFill>
                <a:latin typeface="Inter"/>
                <a:ea typeface="Inter"/>
                <a:cs typeface="Inter"/>
                <a:sym typeface="Inter"/>
              </a:rPr>
              <a:t>KION + NVIDIA + ACCENTURE  •  03/2026</a:t>
            </a:r>
            <a:endParaRPr b="0" i="0" sz="1150" u="none" cap="none" strike="noStrike">
              <a:solidFill>
                <a:schemeClr val="dk1"/>
              </a:solidFill>
              <a:latin typeface="Inter"/>
              <a:ea typeface="Inter"/>
              <a:cs typeface="Inter"/>
              <a:sym typeface="Inter"/>
            </a:endParaRPr>
          </a:p>
        </p:txBody>
      </p:sp>
      <p:sp>
        <p:nvSpPr>
          <p:cNvPr id="80" name="Google Shape;80;h575f3ee0b5d7ded4_143_49"/>
          <p:cNvSpPr/>
          <p:nvPr/>
        </p:nvSpPr>
        <p:spPr>
          <a:xfrm>
            <a:off x="5001768" y="2852928"/>
            <a:ext cx="6117336" cy="667512"/>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729"/>
              <a:buFont typeface="Inter"/>
              <a:buNone/>
            </a:pPr>
            <a:r>
              <a:rPr b="1" i="0" lang="en-US" sz="1730" u="none" cap="none" strike="noStrike">
                <a:solidFill>
                  <a:srgbClr val="1C2B34"/>
                </a:solidFill>
                <a:latin typeface="Inter"/>
                <a:ea typeface="Inter"/>
                <a:cs typeface="Inter"/>
                <a:sym typeface="Inter"/>
              </a:rPr>
              <a:t>Tạo Digital Twin của nhà kho khách hàng để kiểm tra kịch bản vận hành trước khi lắp đặt thực tế.</a:t>
            </a:r>
            <a:endParaRPr b="0" i="0" sz="1730" u="none" cap="none" strike="noStrike">
              <a:solidFill>
                <a:schemeClr val="dk1"/>
              </a:solidFill>
              <a:latin typeface="Inter"/>
              <a:ea typeface="Inter"/>
              <a:cs typeface="Inter"/>
              <a:sym typeface="Inter"/>
            </a:endParaRPr>
          </a:p>
        </p:txBody>
      </p:sp>
      <p:sp>
        <p:nvSpPr>
          <p:cNvPr id="81" name="Google Shape;81;h575f3ee0b5d7ded4_143_49"/>
          <p:cNvSpPr/>
          <p:nvPr/>
        </p:nvSpPr>
        <p:spPr>
          <a:xfrm>
            <a:off x="4709160" y="3913632"/>
            <a:ext cx="3291840" cy="1527048"/>
          </a:xfrm>
          <a:prstGeom prst="roundRect">
            <a:avLst>
              <a:gd fmla="val 8383"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h575f3ee0b5d7ded4_143_49"/>
          <p:cNvSpPr/>
          <p:nvPr/>
        </p:nvSpPr>
        <p:spPr>
          <a:xfrm>
            <a:off x="4965192" y="4123944"/>
            <a:ext cx="278892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150" u="none" cap="none" strike="noStrike">
                <a:solidFill>
                  <a:srgbClr val="0E8283"/>
                </a:solidFill>
                <a:latin typeface="Inter"/>
                <a:ea typeface="Inter"/>
                <a:cs typeface="Inter"/>
                <a:sym typeface="Inter"/>
              </a:rPr>
              <a:t>WORLD LABS + NVIDIA</a:t>
            </a:r>
            <a:endParaRPr b="0" i="0" sz="1150" u="none" cap="none" strike="noStrike">
              <a:solidFill>
                <a:schemeClr val="dk1"/>
              </a:solidFill>
              <a:latin typeface="Inter"/>
              <a:ea typeface="Inter"/>
              <a:cs typeface="Inter"/>
              <a:sym typeface="Inter"/>
            </a:endParaRPr>
          </a:p>
        </p:txBody>
      </p:sp>
      <p:sp>
        <p:nvSpPr>
          <p:cNvPr id="83" name="Google Shape;83;h575f3ee0b5d7ded4_143_49"/>
          <p:cNvSpPr/>
          <p:nvPr/>
        </p:nvSpPr>
        <p:spPr>
          <a:xfrm>
            <a:off x="4965192" y="4507992"/>
            <a:ext cx="2761488" cy="685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510"/>
              <a:buFont typeface="Inter"/>
              <a:buNone/>
            </a:pPr>
            <a:r>
              <a:rPr b="0" i="0" lang="en-US" sz="1510" u="none" cap="none" strike="noStrike">
                <a:solidFill>
                  <a:srgbClr val="1C2B34"/>
                </a:solidFill>
                <a:latin typeface="Inter"/>
                <a:ea typeface="Inter"/>
                <a:cs typeface="Inter"/>
                <a:sym typeface="Inter"/>
              </a:rPr>
              <a:t>Marble kết hợp với Isaac Sim để tạo và chạy thử trong môi trường 3D.</a:t>
            </a:r>
            <a:endParaRPr b="0" i="0" sz="1510" u="none" cap="none" strike="noStrike">
              <a:solidFill>
                <a:schemeClr val="dk1"/>
              </a:solidFill>
              <a:latin typeface="Inter"/>
              <a:ea typeface="Inter"/>
              <a:cs typeface="Inter"/>
              <a:sym typeface="Inter"/>
            </a:endParaRPr>
          </a:p>
        </p:txBody>
      </p:sp>
      <p:sp>
        <p:nvSpPr>
          <p:cNvPr id="84" name="Google Shape;84;h575f3ee0b5d7ded4_143_49"/>
          <p:cNvSpPr/>
          <p:nvPr/>
        </p:nvSpPr>
        <p:spPr>
          <a:xfrm>
            <a:off x="8183880" y="3913632"/>
            <a:ext cx="3346704" cy="1527048"/>
          </a:xfrm>
          <a:prstGeom prst="roundRect">
            <a:avLst>
              <a:gd fmla="val 8383"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h575f3ee0b5d7ded4_143_49"/>
          <p:cNvSpPr/>
          <p:nvPr/>
        </p:nvSpPr>
        <p:spPr>
          <a:xfrm>
            <a:off x="8439912" y="4123944"/>
            <a:ext cx="2798064"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150" u="none" cap="none" strike="noStrike">
                <a:solidFill>
                  <a:srgbClr val="0E8283"/>
                </a:solidFill>
                <a:latin typeface="Inter"/>
                <a:ea typeface="Inter"/>
                <a:cs typeface="Inter"/>
                <a:sym typeface="Inter"/>
              </a:rPr>
              <a:t>NVLABS  •  SIMFOUNDRY</a:t>
            </a:r>
            <a:endParaRPr b="0" i="0" sz="1150" u="none" cap="none" strike="noStrike">
              <a:solidFill>
                <a:schemeClr val="dk1"/>
              </a:solidFill>
              <a:latin typeface="Inter"/>
              <a:ea typeface="Inter"/>
              <a:cs typeface="Inter"/>
              <a:sym typeface="Inter"/>
            </a:endParaRPr>
          </a:p>
        </p:txBody>
      </p:sp>
      <p:sp>
        <p:nvSpPr>
          <p:cNvPr id="86" name="Google Shape;86;h575f3ee0b5d7ded4_143_49"/>
          <p:cNvSpPr/>
          <p:nvPr/>
        </p:nvSpPr>
        <p:spPr>
          <a:xfrm>
            <a:off x="8439912" y="4507992"/>
            <a:ext cx="2788920" cy="6858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500"/>
              <a:buFont typeface="Inter"/>
              <a:buNone/>
            </a:pPr>
            <a:r>
              <a:rPr b="0" i="0" lang="en-US" sz="1500" u="none" cap="none" strike="noStrike">
                <a:solidFill>
                  <a:srgbClr val="1C2B34"/>
                </a:solidFill>
                <a:latin typeface="Inter"/>
                <a:ea typeface="Inter"/>
                <a:cs typeface="Inter"/>
                <a:sym typeface="Inter"/>
              </a:rPr>
              <a:t>Nghiên cứu tạo scene có physics từ video thực, với phạm vi tabletop.</a:t>
            </a:r>
            <a:endParaRPr b="0" i="0" sz="1500" u="none" cap="none" strike="noStrike">
              <a:solidFill>
                <a:schemeClr val="dk1"/>
              </a:solidFill>
              <a:latin typeface="Inter"/>
              <a:ea typeface="Inter"/>
              <a:cs typeface="Inter"/>
              <a:sym typeface="Inter"/>
            </a:endParaRPr>
          </a:p>
        </p:txBody>
      </p:sp>
      <p:sp>
        <p:nvSpPr>
          <p:cNvPr id="87" name="Google Shape;87;h575f3ee0b5d7ded4_143_49"/>
          <p:cNvSpPr/>
          <p:nvPr/>
        </p:nvSpPr>
        <p:spPr>
          <a:xfrm>
            <a:off x="713232" y="6016752"/>
            <a:ext cx="10771632" cy="32004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230"/>
              <a:buFont typeface="Inter"/>
              <a:buNone/>
            </a:pPr>
            <a:r>
              <a:rPr b="0" i="0" lang="en-US" sz="1230" u="none" cap="none" strike="noStrike">
                <a:solidFill>
                  <a:schemeClr val="dk2"/>
                </a:solidFill>
                <a:latin typeface="Inter"/>
                <a:ea typeface="Inter"/>
                <a:cs typeface="Inter"/>
                <a:sym typeface="Inter"/>
              </a:rPr>
              <a:t>Các ví dụ cho thấy sản phẩm nhiều hướng phát triển khác nhau; chúng không chứng minh Real2Sim studio đã có thị phần hoặc lợi thế cạnh tranh.</a:t>
            </a:r>
            <a:endParaRPr b="0" i="0" sz="1230" u="none" cap="none" strike="noStrike">
              <a:solidFill>
                <a:schemeClr val="dk2"/>
              </a:solidFill>
              <a:latin typeface="Inter"/>
              <a:ea typeface="Inter"/>
              <a:cs typeface="Inter"/>
              <a:sym typeface="Inter"/>
            </a:endParaRPr>
          </a:p>
        </p:txBody>
      </p:sp>
      <p:sp>
        <p:nvSpPr>
          <p:cNvPr id="88" name="Google Shape;88;h575f3ee0b5d7ded4_143_49"/>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93" name="Shape 93"/>
        <p:cNvGrpSpPr/>
        <p:nvPr/>
      </p:nvGrpSpPr>
      <p:grpSpPr>
        <a:xfrm>
          <a:off x="0" y="0"/>
          <a:ext cx="0" cy="0"/>
          <a:chOff x="0" y="0"/>
          <a:chExt cx="0" cy="0"/>
        </a:xfrm>
      </p:grpSpPr>
      <p:sp>
        <p:nvSpPr>
          <p:cNvPr id="94" name="Google Shape;94;h575f3ee0b5d7ded4_143_75"/>
          <p:cNvSpPr/>
          <p:nvPr/>
        </p:nvSpPr>
        <p:spPr>
          <a:xfrm>
            <a:off x="0" y="0"/>
            <a:ext cx="12192000" cy="57300"/>
          </a:xfrm>
          <a:prstGeom prst="rect">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 name="Google Shape;95;h575f3ee0b5d7ded4_143_75"/>
          <p:cNvSpPr/>
          <p:nvPr/>
        </p:nvSpPr>
        <p:spPr>
          <a:xfrm>
            <a:off x="647700" y="285750"/>
            <a:ext cx="10896600" cy="2286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E8283"/>
                </a:solidFill>
                <a:latin typeface="Inter"/>
                <a:ea typeface="Inter"/>
                <a:cs typeface="Inter"/>
                <a:sym typeface="Inter"/>
              </a:rPr>
              <a:t>04 / BỨC TRANH GIẢI PHÁP</a:t>
            </a:r>
            <a:endParaRPr b="1" i="0" sz="1400" u="none" cap="none" strike="noStrike">
              <a:solidFill>
                <a:srgbClr val="0E8283"/>
              </a:solidFill>
              <a:latin typeface="Inter"/>
              <a:ea typeface="Inter"/>
              <a:cs typeface="Inter"/>
              <a:sym typeface="Inter"/>
            </a:endParaRPr>
          </a:p>
        </p:txBody>
      </p:sp>
      <p:sp>
        <p:nvSpPr>
          <p:cNvPr id="96" name="Google Shape;96;h575f3ee0b5d7ded4_143_75"/>
          <p:cNvSpPr/>
          <p:nvPr/>
        </p:nvSpPr>
        <p:spPr>
          <a:xfrm>
            <a:off x="647700" y="609600"/>
            <a:ext cx="10896600" cy="400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C2B34"/>
                </a:solidFill>
                <a:latin typeface="Inter"/>
                <a:ea typeface="Inter"/>
                <a:cs typeface="Inter"/>
                <a:sym typeface="Inter"/>
              </a:rPr>
              <a:t>Đã có tồn tại nhiều cách chuẩn bị môi trường mô phỏng.</a:t>
            </a:r>
            <a:endParaRPr b="1" i="0" sz="2600" u="none" cap="none" strike="noStrike">
              <a:solidFill>
                <a:srgbClr val="1C2B34"/>
              </a:solidFill>
              <a:latin typeface="Inter"/>
              <a:ea typeface="Inter"/>
              <a:cs typeface="Inter"/>
              <a:sym typeface="Inter"/>
            </a:endParaRPr>
          </a:p>
        </p:txBody>
      </p:sp>
      <p:cxnSp>
        <p:nvCxnSpPr>
          <p:cNvPr id="97" name="Google Shape;97;h575f3ee0b5d7ded4_143_75"/>
          <p:cNvCxnSpPr/>
          <p:nvPr/>
        </p:nvCxnSpPr>
        <p:spPr>
          <a:xfrm>
            <a:off x="640080" y="6501384"/>
            <a:ext cx="10899600" cy="0"/>
          </a:xfrm>
          <a:prstGeom prst="straightConnector1">
            <a:avLst/>
          </a:prstGeom>
          <a:noFill/>
          <a:ln cap="flat" cmpd="sng" w="9525">
            <a:solidFill>
              <a:srgbClr val="DBE3DD"/>
            </a:solidFill>
            <a:prstDash val="solid"/>
            <a:round/>
            <a:headEnd len="sm" w="sm" type="none"/>
            <a:tailEnd len="sm" w="sm" type="none"/>
          </a:ln>
        </p:spPr>
      </p:cxnSp>
      <p:sp>
        <p:nvSpPr>
          <p:cNvPr id="98" name="Google Shape;98;h575f3ee0b5d7ded4_143_75"/>
          <p:cNvSpPr/>
          <p:nvPr/>
        </p:nvSpPr>
        <p:spPr>
          <a:xfrm>
            <a:off x="647700" y="1104900"/>
            <a:ext cx="108966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52636A"/>
                </a:solidFill>
                <a:latin typeface="Inter"/>
                <a:ea typeface="Inter"/>
                <a:cs typeface="Inter"/>
                <a:sym typeface="Inter"/>
              </a:rPr>
              <a:t>Mỗi phương pháp phù hợp với một loại dữ liệu đầu vào và mục tiêu kiểm tra khác nhau.</a:t>
            </a:r>
            <a:endParaRPr b="0" i="0" sz="1400" u="none" cap="none" strike="noStrike">
              <a:solidFill>
                <a:srgbClr val="52636A"/>
              </a:solidFill>
              <a:latin typeface="Inter"/>
              <a:ea typeface="Inter"/>
              <a:cs typeface="Inter"/>
              <a:sym typeface="Inter"/>
            </a:endParaRPr>
          </a:p>
        </p:txBody>
      </p:sp>
      <p:grpSp>
        <p:nvGrpSpPr>
          <p:cNvPr id="99" name="Google Shape;99;h575f3ee0b5d7ded4_143_75"/>
          <p:cNvGrpSpPr/>
          <p:nvPr/>
        </p:nvGrpSpPr>
        <p:grpSpPr>
          <a:xfrm>
            <a:off x="647700" y="1543050"/>
            <a:ext cx="2552700" cy="3429000"/>
            <a:chOff x="0" y="0"/>
            <a:chExt cx="2552700" cy="3429000"/>
          </a:xfrm>
        </p:grpSpPr>
        <p:sp>
          <p:nvSpPr>
            <p:cNvPr id="100" name="Google Shape;100;h575f3ee0b5d7ded4_143_75"/>
            <p:cNvSpPr/>
            <p:nvPr/>
          </p:nvSpPr>
          <p:spPr>
            <a:xfrm>
              <a:off x="0" y="0"/>
              <a:ext cx="2552700" cy="3429000"/>
            </a:xfrm>
            <a:prstGeom prst="roundRect">
              <a:avLst>
                <a:gd fmla="val 522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 name="Google Shape;101;h575f3ee0b5d7ded4_143_75"/>
            <p:cNvSpPr/>
            <p:nvPr/>
          </p:nvSpPr>
          <p:spPr>
            <a:xfrm>
              <a:off x="0" y="0"/>
              <a:ext cx="2552700" cy="57300"/>
            </a:xfrm>
            <a:prstGeom prst="roundRect">
              <a:avLst>
                <a:gd fmla="val 50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h575f3ee0b5d7ded4_143_75"/>
            <p:cNvSpPr/>
            <p:nvPr/>
          </p:nvSpPr>
          <p:spPr>
            <a:xfrm>
              <a:off x="190500" y="209550"/>
              <a:ext cx="400200" cy="304800"/>
            </a:xfrm>
            <a:prstGeom prst="roundRect">
              <a:avLst>
                <a:gd fmla="val 25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h575f3ee0b5d7ded4_143_75"/>
            <p:cNvSpPr txBox="1"/>
            <p:nvPr/>
          </p:nvSpPr>
          <p:spPr>
            <a:xfrm>
              <a:off x="190500" y="209550"/>
              <a:ext cx="400200" cy="30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Inter"/>
                  <a:ea typeface="Inter"/>
                  <a:cs typeface="Inter"/>
                  <a:sym typeface="Inter"/>
                </a:rPr>
                <a:t>01</a:t>
              </a:r>
              <a:endParaRPr b="1" i="0" sz="1200" u="none" cap="none" strike="noStrike">
                <a:solidFill>
                  <a:srgbClr val="FFFFFF"/>
                </a:solidFill>
                <a:latin typeface="Inter"/>
                <a:ea typeface="Inter"/>
                <a:cs typeface="Inter"/>
                <a:sym typeface="Inter"/>
              </a:endParaRPr>
            </a:p>
          </p:txBody>
        </p:sp>
        <p:sp>
          <p:nvSpPr>
            <p:cNvPr id="104" name="Google Shape;104;h575f3ee0b5d7ded4_143_75"/>
            <p:cNvSpPr txBox="1"/>
            <p:nvPr/>
          </p:nvSpPr>
          <p:spPr>
            <a:xfrm>
              <a:off x="190500" y="647700"/>
              <a:ext cx="2171700" cy="609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C2B34"/>
                  </a:solidFill>
                  <a:latin typeface="Inter"/>
                  <a:ea typeface="Inter"/>
                  <a:cs typeface="Inter"/>
                  <a:sym typeface="Inter"/>
                </a:rPr>
                <a:t>Dựng từ CAD hoặc 3D assets</a:t>
              </a:r>
              <a:endParaRPr b="1" i="0" sz="1500" u="none" cap="none" strike="noStrike">
                <a:solidFill>
                  <a:srgbClr val="1C2B34"/>
                </a:solidFill>
                <a:latin typeface="Inter"/>
                <a:ea typeface="Inter"/>
                <a:cs typeface="Inter"/>
                <a:sym typeface="Inter"/>
              </a:endParaRPr>
            </a:p>
          </p:txBody>
        </p:sp>
        <p:cxnSp>
          <p:nvCxnSpPr>
            <p:cNvPr id="105" name="Google Shape;105;h575f3ee0b5d7ded4_143_75"/>
            <p:cNvCxnSpPr/>
            <p:nvPr/>
          </p:nvCxnSpPr>
          <p:spPr>
            <a:xfrm>
              <a:off x="190500" y="1352550"/>
              <a:ext cx="2171700" cy="0"/>
            </a:xfrm>
            <a:prstGeom prst="straightConnector1">
              <a:avLst/>
            </a:prstGeom>
            <a:solidFill>
              <a:srgbClr val="FFFFFF"/>
            </a:solidFill>
            <a:ln cap="flat" cmpd="sng" w="9525">
              <a:solidFill>
                <a:srgbClr val="EDF2F7"/>
              </a:solidFill>
              <a:prstDash val="solid"/>
              <a:round/>
              <a:headEnd len="sm" w="sm" type="none"/>
              <a:tailEnd len="sm" w="sm" type="none"/>
            </a:ln>
          </p:spPr>
        </p:cxnSp>
        <p:sp>
          <p:nvSpPr>
            <p:cNvPr id="106" name="Google Shape;106;h575f3ee0b5d7ded4_143_75"/>
            <p:cNvSpPr txBox="1"/>
            <p:nvPr/>
          </p:nvSpPr>
          <p:spPr>
            <a:xfrm>
              <a:off x="190500" y="1485900"/>
              <a:ext cx="2171700" cy="175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52636A"/>
                  </a:solidFill>
                  <a:latin typeface="Inter"/>
                  <a:ea typeface="Inter"/>
                  <a:cs typeface="Inter"/>
                  <a:sym typeface="Inter"/>
                </a:rPr>
                <a:t>Phù hợp khi đã có mô hình thiết kế hoặc thư viện có các mô hình 3D phản ánh đúng môi trường cần thử.</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250"/>
                <a:buFont typeface="Arial"/>
                <a:buNone/>
              </a:pPr>
              <a:r>
                <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1" i="0" lang="en-US" sz="1000" u="none" cap="none" strike="noStrike">
                  <a:solidFill>
                    <a:srgbClr val="0E8283"/>
                  </a:solidFill>
                  <a:latin typeface="Inter"/>
                  <a:ea typeface="Inter"/>
                  <a:cs typeface="Inter"/>
                  <a:sym typeface="Inter"/>
                </a:rPr>
                <a:t>+ Ưu điểm: </a:t>
              </a:r>
              <a:r>
                <a:rPr b="0" i="0" lang="en-US" sz="1000" u="none" cap="none" strike="noStrike">
                  <a:solidFill>
                    <a:srgbClr val="1C2B34"/>
                  </a:solidFill>
                  <a:latin typeface="Inter"/>
                  <a:ea typeface="Inter"/>
                  <a:cs typeface="Inter"/>
                  <a:sym typeface="Inter"/>
                </a:rPr>
                <a:t>Đúng tỷ lệ thực, dễ thiết lập vật lý &amp; collider.</a:t>
              </a:r>
              <a:endParaRPr b="1" i="0" sz="1000" u="none" cap="none" strike="noStrike">
                <a:solidFill>
                  <a:srgbClr val="0E8283"/>
                </a:solidFill>
                <a:latin typeface="Inter"/>
                <a:ea typeface="Inter"/>
                <a:cs typeface="Inter"/>
                <a:sym typeface="Inter"/>
              </a:endParaRPr>
            </a:p>
            <a:p>
              <a:pPr indent="0" lvl="0" marL="0" marR="0" rtl="0" algn="l">
                <a:lnSpc>
                  <a:spcPct val="100000"/>
                </a:lnSpc>
                <a:spcBef>
                  <a:spcPts val="500"/>
                </a:spcBef>
                <a:spcAft>
                  <a:spcPts val="0"/>
                </a:spcAft>
                <a:buClr>
                  <a:schemeClr val="dk1"/>
                </a:buClr>
                <a:buSzPts val="1100"/>
                <a:buFont typeface="Arial"/>
                <a:buNone/>
              </a:pPr>
              <a:r>
                <a:rPr b="1" i="0" lang="en-US" sz="1000" u="none" cap="none" strike="noStrike">
                  <a:solidFill>
                    <a:srgbClr val="C0392B"/>
                  </a:solidFill>
                  <a:latin typeface="Inter"/>
                  <a:ea typeface="Inter"/>
                  <a:cs typeface="Inter"/>
                  <a:sym typeface="Inter"/>
                </a:rPr>
                <a:t>- Nhược điểm: </a:t>
              </a:r>
              <a:r>
                <a:rPr b="0" i="0" lang="en-US" sz="1000" u="none" cap="none" strike="noStrike">
                  <a:solidFill>
                    <a:srgbClr val="1C2B34"/>
                  </a:solidFill>
                  <a:latin typeface="Inter"/>
                  <a:ea typeface="Inter"/>
                  <a:cs typeface="Inter"/>
                  <a:sym typeface="Inter"/>
                </a:rPr>
                <a:t>Tốn thời gian dựng thủ công, thiếu độ chân thực.</a:t>
              </a:r>
              <a:endParaRPr b="0" i="0" sz="1250" u="none" cap="none" strike="noStrike">
                <a:solidFill>
                  <a:srgbClr val="52636A"/>
                </a:solidFill>
                <a:latin typeface="Inter"/>
                <a:ea typeface="Inter"/>
                <a:cs typeface="Inter"/>
                <a:sym typeface="Inter"/>
              </a:endParaRPr>
            </a:p>
          </p:txBody>
        </p:sp>
      </p:grpSp>
      <p:grpSp>
        <p:nvGrpSpPr>
          <p:cNvPr id="107" name="Google Shape;107;h575f3ee0b5d7ded4_143_75"/>
          <p:cNvGrpSpPr/>
          <p:nvPr/>
        </p:nvGrpSpPr>
        <p:grpSpPr>
          <a:xfrm>
            <a:off x="3429000" y="1543050"/>
            <a:ext cx="2552700" cy="3429000"/>
            <a:chOff x="0" y="0"/>
            <a:chExt cx="2552700" cy="3429000"/>
          </a:xfrm>
        </p:grpSpPr>
        <p:sp>
          <p:nvSpPr>
            <p:cNvPr id="108" name="Google Shape;108;h575f3ee0b5d7ded4_143_75"/>
            <p:cNvSpPr/>
            <p:nvPr/>
          </p:nvSpPr>
          <p:spPr>
            <a:xfrm>
              <a:off x="0" y="0"/>
              <a:ext cx="2552700" cy="3429000"/>
            </a:xfrm>
            <a:prstGeom prst="roundRect">
              <a:avLst>
                <a:gd fmla="val 522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h575f3ee0b5d7ded4_143_75"/>
            <p:cNvSpPr/>
            <p:nvPr/>
          </p:nvSpPr>
          <p:spPr>
            <a:xfrm>
              <a:off x="0" y="0"/>
              <a:ext cx="2552700" cy="57300"/>
            </a:xfrm>
            <a:prstGeom prst="roundRect">
              <a:avLst>
                <a:gd fmla="val 50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h575f3ee0b5d7ded4_143_75"/>
            <p:cNvSpPr/>
            <p:nvPr/>
          </p:nvSpPr>
          <p:spPr>
            <a:xfrm>
              <a:off x="190500" y="209550"/>
              <a:ext cx="400200" cy="304800"/>
            </a:xfrm>
            <a:prstGeom prst="roundRect">
              <a:avLst>
                <a:gd fmla="val 25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h575f3ee0b5d7ded4_143_75"/>
            <p:cNvSpPr txBox="1"/>
            <p:nvPr/>
          </p:nvSpPr>
          <p:spPr>
            <a:xfrm>
              <a:off x="190500" y="209550"/>
              <a:ext cx="400200" cy="30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Inter"/>
                  <a:ea typeface="Inter"/>
                  <a:cs typeface="Inter"/>
                  <a:sym typeface="Inter"/>
                </a:rPr>
                <a:t>02</a:t>
              </a:r>
              <a:endParaRPr b="1" i="0" sz="1200" u="none" cap="none" strike="noStrike">
                <a:solidFill>
                  <a:srgbClr val="FFFFFF"/>
                </a:solidFill>
                <a:latin typeface="Inter"/>
                <a:ea typeface="Inter"/>
                <a:cs typeface="Inter"/>
                <a:sym typeface="Inter"/>
              </a:endParaRPr>
            </a:p>
          </p:txBody>
        </p:sp>
        <p:sp>
          <p:nvSpPr>
            <p:cNvPr id="112" name="Google Shape;112;h575f3ee0b5d7ded4_143_75"/>
            <p:cNvSpPr txBox="1"/>
            <p:nvPr/>
          </p:nvSpPr>
          <p:spPr>
            <a:xfrm>
              <a:off x="190500" y="647700"/>
              <a:ext cx="2171700" cy="609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C2B34"/>
                  </a:solidFill>
                  <a:latin typeface="Inter"/>
                  <a:ea typeface="Inter"/>
                  <a:cs typeface="Inter"/>
                  <a:sym typeface="Inter"/>
                </a:rPr>
                <a:t>Quét LiDAR, dùng SLAM</a:t>
              </a:r>
              <a:endParaRPr b="1" i="0" sz="1500" u="none" cap="none" strike="noStrike">
                <a:solidFill>
                  <a:srgbClr val="1C2B34"/>
                </a:solidFill>
                <a:latin typeface="Inter"/>
                <a:ea typeface="Inter"/>
                <a:cs typeface="Inter"/>
                <a:sym typeface="Inter"/>
              </a:endParaRPr>
            </a:p>
          </p:txBody>
        </p:sp>
        <p:cxnSp>
          <p:nvCxnSpPr>
            <p:cNvPr id="113" name="Google Shape;113;h575f3ee0b5d7ded4_143_75"/>
            <p:cNvCxnSpPr/>
            <p:nvPr/>
          </p:nvCxnSpPr>
          <p:spPr>
            <a:xfrm>
              <a:off x="190500" y="1352550"/>
              <a:ext cx="2171700" cy="0"/>
            </a:xfrm>
            <a:prstGeom prst="straightConnector1">
              <a:avLst/>
            </a:prstGeom>
            <a:solidFill>
              <a:srgbClr val="FFFFFF"/>
            </a:solidFill>
            <a:ln cap="flat" cmpd="sng" w="9525">
              <a:solidFill>
                <a:srgbClr val="EDF2F7"/>
              </a:solidFill>
              <a:prstDash val="solid"/>
              <a:round/>
              <a:headEnd len="sm" w="sm" type="none"/>
              <a:tailEnd len="sm" w="sm" type="none"/>
            </a:ln>
          </p:spPr>
        </p:cxnSp>
        <p:sp>
          <p:nvSpPr>
            <p:cNvPr id="114" name="Google Shape;114;h575f3ee0b5d7ded4_143_75"/>
            <p:cNvSpPr txBox="1"/>
            <p:nvPr/>
          </p:nvSpPr>
          <p:spPr>
            <a:xfrm>
              <a:off x="190500" y="1485900"/>
              <a:ext cx="2171700" cy="175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52636A"/>
                  </a:solidFill>
                  <a:latin typeface="Inter"/>
                  <a:ea typeface="Inter"/>
                  <a:cs typeface="Inter"/>
                  <a:sym typeface="Inter"/>
                </a:rPr>
                <a:t>Thu thập cấu trúc không gian từ cảm biến và bản đồ. Mức độ phù hợp phụ thuộc dữ liệu và bài thử.</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250"/>
                <a:buFont typeface="Arial"/>
                <a:buNone/>
              </a:pPr>
              <a:r>
                <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1" i="0" lang="en-US" sz="1000" u="none" cap="none" strike="noStrike">
                  <a:solidFill>
                    <a:srgbClr val="0E8283"/>
                  </a:solidFill>
                  <a:latin typeface="Inter"/>
                  <a:ea typeface="Inter"/>
                  <a:cs typeface="Inter"/>
                  <a:sym typeface="Inter"/>
                </a:rPr>
                <a:t>+ Ưu điểm: </a:t>
              </a:r>
              <a:r>
                <a:rPr b="0" i="0" lang="en-US" sz="1000" u="none" cap="none" strike="noStrike">
                  <a:solidFill>
                    <a:srgbClr val="1C2B34"/>
                  </a:solidFill>
                  <a:latin typeface="Inter"/>
                  <a:ea typeface="Inter"/>
                  <a:cs typeface="Inter"/>
                  <a:sym typeface="Inter"/>
                </a:rPr>
                <a:t>Quét cấu trúc nhanh, độ chính xác không gian cao.</a:t>
              </a:r>
              <a:endParaRPr b="1" i="0" sz="1000" u="none" cap="none" strike="noStrike">
                <a:solidFill>
                  <a:srgbClr val="0E8283"/>
                </a:solidFill>
                <a:latin typeface="Inter"/>
                <a:ea typeface="Inter"/>
                <a:cs typeface="Inter"/>
                <a:sym typeface="Inter"/>
              </a:endParaRPr>
            </a:p>
            <a:p>
              <a:pPr indent="0" lvl="0" marL="0" marR="0" rtl="0" algn="l">
                <a:lnSpc>
                  <a:spcPct val="100000"/>
                </a:lnSpc>
                <a:spcBef>
                  <a:spcPts val="500"/>
                </a:spcBef>
                <a:spcAft>
                  <a:spcPts val="0"/>
                </a:spcAft>
                <a:buClr>
                  <a:schemeClr val="dk1"/>
                </a:buClr>
                <a:buSzPts val="1100"/>
                <a:buFont typeface="Arial"/>
                <a:buNone/>
              </a:pPr>
              <a:r>
                <a:rPr b="1" i="0" lang="en-US" sz="1000" u="none" cap="none" strike="noStrike">
                  <a:solidFill>
                    <a:srgbClr val="C0392B"/>
                  </a:solidFill>
                  <a:latin typeface="Inter"/>
                  <a:ea typeface="Inter"/>
                  <a:cs typeface="Inter"/>
                  <a:sym typeface="Inter"/>
                </a:rPr>
                <a:t>- Nhược điểm: </a:t>
              </a:r>
              <a:r>
                <a:rPr b="0" i="0" lang="en-US" sz="1000" u="none" cap="none" strike="noStrike">
                  <a:solidFill>
                    <a:srgbClr val="1C2B34"/>
                  </a:solidFill>
                  <a:latin typeface="Inter"/>
                  <a:ea typeface="Inter"/>
                  <a:cs typeface="Inter"/>
                  <a:sym typeface="Inter"/>
                </a:rPr>
                <a:t>Chi phí thiết bị cao, thiếu hình ảnh/texture chân thực.</a:t>
              </a:r>
              <a:endParaRPr b="0" i="0" sz="1250" u="none" cap="none" strike="noStrike">
                <a:solidFill>
                  <a:srgbClr val="52636A"/>
                </a:solidFill>
                <a:latin typeface="Inter"/>
                <a:ea typeface="Inter"/>
                <a:cs typeface="Inter"/>
                <a:sym typeface="Inter"/>
              </a:endParaRPr>
            </a:p>
          </p:txBody>
        </p:sp>
      </p:grpSp>
      <p:grpSp>
        <p:nvGrpSpPr>
          <p:cNvPr id="115" name="Google Shape;115;h575f3ee0b5d7ded4_143_75"/>
          <p:cNvGrpSpPr/>
          <p:nvPr/>
        </p:nvGrpSpPr>
        <p:grpSpPr>
          <a:xfrm>
            <a:off x="6210300" y="1543050"/>
            <a:ext cx="2552700" cy="3429000"/>
            <a:chOff x="0" y="0"/>
            <a:chExt cx="2552700" cy="3429000"/>
          </a:xfrm>
        </p:grpSpPr>
        <p:sp>
          <p:nvSpPr>
            <p:cNvPr id="116" name="Google Shape;116;h575f3ee0b5d7ded4_143_75"/>
            <p:cNvSpPr/>
            <p:nvPr/>
          </p:nvSpPr>
          <p:spPr>
            <a:xfrm>
              <a:off x="0" y="0"/>
              <a:ext cx="2552700" cy="3429000"/>
            </a:xfrm>
            <a:prstGeom prst="roundRect">
              <a:avLst>
                <a:gd fmla="val 522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h575f3ee0b5d7ded4_143_75"/>
            <p:cNvSpPr/>
            <p:nvPr/>
          </p:nvSpPr>
          <p:spPr>
            <a:xfrm>
              <a:off x="0" y="0"/>
              <a:ext cx="2552700" cy="57300"/>
            </a:xfrm>
            <a:prstGeom prst="roundRect">
              <a:avLst>
                <a:gd fmla="val 50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h575f3ee0b5d7ded4_143_75"/>
            <p:cNvSpPr/>
            <p:nvPr/>
          </p:nvSpPr>
          <p:spPr>
            <a:xfrm>
              <a:off x="190500" y="209550"/>
              <a:ext cx="400200" cy="304800"/>
            </a:xfrm>
            <a:prstGeom prst="roundRect">
              <a:avLst>
                <a:gd fmla="val 25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h575f3ee0b5d7ded4_143_75"/>
            <p:cNvSpPr txBox="1"/>
            <p:nvPr/>
          </p:nvSpPr>
          <p:spPr>
            <a:xfrm>
              <a:off x="190500" y="209550"/>
              <a:ext cx="400200" cy="30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Inter"/>
                  <a:ea typeface="Inter"/>
                  <a:cs typeface="Inter"/>
                  <a:sym typeface="Inter"/>
                </a:rPr>
                <a:t>03</a:t>
              </a:r>
              <a:endParaRPr b="1" i="0" sz="1200" u="none" cap="none" strike="noStrike">
                <a:solidFill>
                  <a:srgbClr val="FFFFFF"/>
                </a:solidFill>
                <a:latin typeface="Inter"/>
                <a:ea typeface="Inter"/>
                <a:cs typeface="Inter"/>
                <a:sym typeface="Inter"/>
              </a:endParaRPr>
            </a:p>
          </p:txBody>
        </p:sp>
        <p:sp>
          <p:nvSpPr>
            <p:cNvPr id="120" name="Google Shape;120;h575f3ee0b5d7ded4_143_75"/>
            <p:cNvSpPr txBox="1"/>
            <p:nvPr/>
          </p:nvSpPr>
          <p:spPr>
            <a:xfrm>
              <a:off x="190500" y="647700"/>
              <a:ext cx="2171700" cy="609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C2B34"/>
                  </a:solidFill>
                  <a:latin typeface="Inter"/>
                  <a:ea typeface="Inter"/>
                  <a:cs typeface="Inter"/>
                  <a:sym typeface="Inter"/>
                </a:rPr>
                <a:t>Neural Reconstruction / NuRec</a:t>
              </a:r>
              <a:endParaRPr b="1" i="0" sz="1500" u="none" cap="none" strike="noStrike">
                <a:solidFill>
                  <a:srgbClr val="1C2B34"/>
                </a:solidFill>
                <a:latin typeface="Inter"/>
                <a:ea typeface="Inter"/>
                <a:cs typeface="Inter"/>
                <a:sym typeface="Inter"/>
              </a:endParaRPr>
            </a:p>
          </p:txBody>
        </p:sp>
        <p:cxnSp>
          <p:nvCxnSpPr>
            <p:cNvPr id="121" name="Google Shape;121;h575f3ee0b5d7ded4_143_75"/>
            <p:cNvCxnSpPr/>
            <p:nvPr/>
          </p:nvCxnSpPr>
          <p:spPr>
            <a:xfrm>
              <a:off x="190500" y="1352550"/>
              <a:ext cx="2171700" cy="0"/>
            </a:xfrm>
            <a:prstGeom prst="straightConnector1">
              <a:avLst/>
            </a:prstGeom>
            <a:solidFill>
              <a:srgbClr val="FFFFFF"/>
            </a:solidFill>
            <a:ln cap="flat" cmpd="sng" w="9525">
              <a:solidFill>
                <a:srgbClr val="EDF2F7"/>
              </a:solidFill>
              <a:prstDash val="solid"/>
              <a:round/>
              <a:headEnd len="sm" w="sm" type="none"/>
              <a:tailEnd len="sm" w="sm" type="none"/>
            </a:ln>
          </p:spPr>
        </p:cxnSp>
        <p:sp>
          <p:nvSpPr>
            <p:cNvPr id="122" name="Google Shape;122;h575f3ee0b5d7ded4_143_75"/>
            <p:cNvSpPr txBox="1"/>
            <p:nvPr/>
          </p:nvSpPr>
          <p:spPr>
            <a:xfrm>
              <a:off x="190500" y="1485900"/>
              <a:ext cx="2171700" cy="175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52636A"/>
                  </a:solidFill>
                  <a:latin typeface="Inter"/>
                  <a:ea typeface="Inter"/>
                  <a:cs typeface="Inter"/>
                  <a:sym typeface="Inter"/>
                </a:rPr>
                <a:t>Tái dựng cảnh từ dữ liệu quan sát, hỗ trợ hình ảnh 3D chân thực. Việc thiết lập physics cần xem xét riêng.</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250"/>
                <a:buFont typeface="Arial"/>
                <a:buNone/>
              </a:pPr>
              <a:r>
                <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1" i="0" lang="en-US" sz="1000" u="none" cap="none" strike="noStrike">
                  <a:solidFill>
                    <a:srgbClr val="0E8283"/>
                  </a:solidFill>
                  <a:latin typeface="Inter"/>
                  <a:ea typeface="Inter"/>
                  <a:cs typeface="Inter"/>
                  <a:sym typeface="Inter"/>
                </a:rPr>
                <a:t>+ Ưu điểm: </a:t>
              </a:r>
              <a:r>
                <a:rPr b="0" i="0" lang="en-US" sz="1000" u="none" cap="none" strike="noStrike">
                  <a:solidFill>
                    <a:srgbClr val="1C2B34"/>
                  </a:solidFill>
                  <a:latin typeface="Inter"/>
                  <a:ea typeface="Inter"/>
                  <a:cs typeface="Inter"/>
                  <a:sym typeface="Inter"/>
                </a:rPr>
                <a:t>Chất lượng hình ảnh 3D cực kỳ chân thực.</a:t>
              </a:r>
              <a:endParaRPr b="1" i="0" sz="1000" u="none" cap="none" strike="noStrike">
                <a:solidFill>
                  <a:srgbClr val="0E8283"/>
                </a:solidFill>
                <a:latin typeface="Inter"/>
                <a:ea typeface="Inter"/>
                <a:cs typeface="Inter"/>
                <a:sym typeface="Inter"/>
              </a:endParaRPr>
            </a:p>
            <a:p>
              <a:pPr indent="0" lvl="0" marL="0" marR="0" rtl="0" algn="l">
                <a:lnSpc>
                  <a:spcPct val="100000"/>
                </a:lnSpc>
                <a:spcBef>
                  <a:spcPts val="500"/>
                </a:spcBef>
                <a:spcAft>
                  <a:spcPts val="0"/>
                </a:spcAft>
                <a:buClr>
                  <a:schemeClr val="dk1"/>
                </a:buClr>
                <a:buSzPts val="1100"/>
                <a:buFont typeface="Arial"/>
                <a:buNone/>
              </a:pPr>
              <a:r>
                <a:rPr b="1" i="0" lang="en-US" sz="1000" u="none" cap="none" strike="noStrike">
                  <a:solidFill>
                    <a:srgbClr val="C0392B"/>
                  </a:solidFill>
                  <a:latin typeface="Inter"/>
                  <a:ea typeface="Inter"/>
                  <a:cs typeface="Inter"/>
                  <a:sym typeface="Inter"/>
                </a:rPr>
                <a:t>- Nhược điểm: </a:t>
              </a:r>
              <a:r>
                <a:rPr b="0" i="0" lang="en-US" sz="1000" u="none" cap="none" strike="noStrike">
                  <a:solidFill>
                    <a:srgbClr val="1C2B34"/>
                  </a:solidFill>
                  <a:latin typeface="Inter"/>
                  <a:ea typeface="Inter"/>
                  <a:cs typeface="Inter"/>
                  <a:sym typeface="Inter"/>
                </a:rPr>
                <a:t>Khó tách rời vật thể &amp; gán vật lý tự động.</a:t>
              </a:r>
              <a:endParaRPr b="0" i="0" sz="1250" u="none" cap="none" strike="noStrike">
                <a:solidFill>
                  <a:srgbClr val="52636A"/>
                </a:solidFill>
                <a:latin typeface="Inter"/>
                <a:ea typeface="Inter"/>
                <a:cs typeface="Inter"/>
                <a:sym typeface="Inter"/>
              </a:endParaRPr>
            </a:p>
          </p:txBody>
        </p:sp>
      </p:grpSp>
      <p:grpSp>
        <p:nvGrpSpPr>
          <p:cNvPr id="123" name="Google Shape;123;h575f3ee0b5d7ded4_143_75"/>
          <p:cNvGrpSpPr/>
          <p:nvPr/>
        </p:nvGrpSpPr>
        <p:grpSpPr>
          <a:xfrm>
            <a:off x="8991600" y="1543050"/>
            <a:ext cx="2552700" cy="3429000"/>
            <a:chOff x="0" y="0"/>
            <a:chExt cx="2552700" cy="3429000"/>
          </a:xfrm>
        </p:grpSpPr>
        <p:sp>
          <p:nvSpPr>
            <p:cNvPr id="124" name="Google Shape;124;h575f3ee0b5d7ded4_143_75"/>
            <p:cNvSpPr/>
            <p:nvPr/>
          </p:nvSpPr>
          <p:spPr>
            <a:xfrm>
              <a:off x="0" y="0"/>
              <a:ext cx="2552700" cy="3429000"/>
            </a:xfrm>
            <a:prstGeom prst="roundRect">
              <a:avLst>
                <a:gd fmla="val 5223"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h575f3ee0b5d7ded4_143_75"/>
            <p:cNvSpPr/>
            <p:nvPr/>
          </p:nvSpPr>
          <p:spPr>
            <a:xfrm>
              <a:off x="0" y="0"/>
              <a:ext cx="2552700" cy="57300"/>
            </a:xfrm>
            <a:prstGeom prst="roundRect">
              <a:avLst>
                <a:gd fmla="val 50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h575f3ee0b5d7ded4_143_75"/>
            <p:cNvSpPr/>
            <p:nvPr/>
          </p:nvSpPr>
          <p:spPr>
            <a:xfrm>
              <a:off x="190500" y="209550"/>
              <a:ext cx="400200" cy="304800"/>
            </a:xfrm>
            <a:prstGeom prst="roundRect">
              <a:avLst>
                <a:gd fmla="val 25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h575f3ee0b5d7ded4_143_75"/>
            <p:cNvSpPr txBox="1"/>
            <p:nvPr/>
          </p:nvSpPr>
          <p:spPr>
            <a:xfrm>
              <a:off x="190500" y="209550"/>
              <a:ext cx="400200" cy="30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Inter"/>
                  <a:ea typeface="Inter"/>
                  <a:cs typeface="Inter"/>
                  <a:sym typeface="Inter"/>
                </a:rPr>
                <a:t>04</a:t>
              </a:r>
              <a:endParaRPr b="1" i="0" sz="1200" u="none" cap="none" strike="noStrike">
                <a:solidFill>
                  <a:srgbClr val="FFFFFF"/>
                </a:solidFill>
                <a:latin typeface="Inter"/>
                <a:ea typeface="Inter"/>
                <a:cs typeface="Inter"/>
                <a:sym typeface="Inter"/>
              </a:endParaRPr>
            </a:p>
          </p:txBody>
        </p:sp>
        <p:sp>
          <p:nvSpPr>
            <p:cNvPr id="128" name="Google Shape;128;h575f3ee0b5d7ded4_143_75"/>
            <p:cNvSpPr txBox="1"/>
            <p:nvPr/>
          </p:nvSpPr>
          <p:spPr>
            <a:xfrm>
              <a:off x="190500" y="647700"/>
              <a:ext cx="2171700" cy="609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C2B34"/>
                  </a:solidFill>
                  <a:latin typeface="Inter"/>
                  <a:ea typeface="Inter"/>
                  <a:cs typeface="Inter"/>
                  <a:sym typeface="Inter"/>
                </a:rPr>
                <a:t>Marble / SimFoundry</a:t>
              </a:r>
              <a:endParaRPr b="1" i="0" sz="1500" u="none" cap="none" strike="noStrike">
                <a:solidFill>
                  <a:srgbClr val="1C2B34"/>
                </a:solidFill>
                <a:latin typeface="Inter"/>
                <a:ea typeface="Inter"/>
                <a:cs typeface="Inter"/>
                <a:sym typeface="Inter"/>
              </a:endParaRPr>
            </a:p>
          </p:txBody>
        </p:sp>
        <p:cxnSp>
          <p:nvCxnSpPr>
            <p:cNvPr id="129" name="Google Shape;129;h575f3ee0b5d7ded4_143_75"/>
            <p:cNvCxnSpPr/>
            <p:nvPr/>
          </p:nvCxnSpPr>
          <p:spPr>
            <a:xfrm>
              <a:off x="190500" y="1352550"/>
              <a:ext cx="2171700" cy="0"/>
            </a:xfrm>
            <a:prstGeom prst="straightConnector1">
              <a:avLst/>
            </a:prstGeom>
            <a:solidFill>
              <a:srgbClr val="FFFFFF"/>
            </a:solidFill>
            <a:ln cap="flat" cmpd="sng" w="9525">
              <a:solidFill>
                <a:srgbClr val="EDF2F7"/>
              </a:solidFill>
              <a:prstDash val="solid"/>
              <a:round/>
              <a:headEnd len="sm" w="sm" type="none"/>
              <a:tailEnd len="sm" w="sm" type="none"/>
            </a:ln>
          </p:spPr>
        </p:cxnSp>
        <p:sp>
          <p:nvSpPr>
            <p:cNvPr id="130" name="Google Shape;130;h575f3ee0b5d7ded4_143_75"/>
            <p:cNvSpPr txBox="1"/>
            <p:nvPr/>
          </p:nvSpPr>
          <p:spPr>
            <a:xfrm>
              <a:off x="190500" y="1485900"/>
              <a:ext cx="2171700" cy="175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52636A"/>
                  </a:solidFill>
                  <a:latin typeface="Inter"/>
                  <a:ea typeface="Inter"/>
                  <a:cs typeface="Inter"/>
                  <a:sym typeface="Inter"/>
                </a:rPr>
                <a:t>Tự động hóa những phần khác nhau của việc tạo scene 3D và scene có physics cho robotics.</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250"/>
                <a:buFont typeface="Arial"/>
                <a:buNone/>
              </a:pPr>
              <a:r>
                <a:t/>
              </a:r>
              <a:endParaRPr b="0" i="0" sz="1250" u="none" cap="none" strike="noStrike">
                <a:solidFill>
                  <a:srgbClr val="52636A"/>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1" i="0" lang="en-US" sz="1000" u="none" cap="none" strike="noStrike">
                  <a:solidFill>
                    <a:srgbClr val="0E8283"/>
                  </a:solidFill>
                  <a:latin typeface="Inter"/>
                  <a:ea typeface="Inter"/>
                  <a:cs typeface="Inter"/>
                  <a:sym typeface="Inter"/>
                </a:rPr>
                <a:t>+ Ưu điểm: </a:t>
              </a:r>
              <a:r>
                <a:rPr b="0" i="0" lang="en-US" sz="1000" u="none" cap="none" strike="noStrike">
                  <a:solidFill>
                    <a:srgbClr val="1C2B34"/>
                  </a:solidFill>
                  <a:latin typeface="Inter"/>
                  <a:ea typeface="Inter"/>
                  <a:cs typeface="Inter"/>
                  <a:sym typeface="Inter"/>
                </a:rPr>
                <a:t>Mức độ tự động cao, sẵn sàng cho simulator.</a:t>
              </a:r>
              <a:endParaRPr b="1" i="0" sz="1000" u="none" cap="none" strike="noStrike">
                <a:solidFill>
                  <a:srgbClr val="0E8283"/>
                </a:solidFill>
                <a:latin typeface="Inter"/>
                <a:ea typeface="Inter"/>
                <a:cs typeface="Inter"/>
                <a:sym typeface="Inter"/>
              </a:endParaRPr>
            </a:p>
            <a:p>
              <a:pPr indent="0" lvl="0" marL="0" marR="0" rtl="0" algn="l">
                <a:lnSpc>
                  <a:spcPct val="100000"/>
                </a:lnSpc>
                <a:spcBef>
                  <a:spcPts val="500"/>
                </a:spcBef>
                <a:spcAft>
                  <a:spcPts val="0"/>
                </a:spcAft>
                <a:buClr>
                  <a:schemeClr val="dk1"/>
                </a:buClr>
                <a:buSzPts val="1100"/>
                <a:buFont typeface="Arial"/>
                <a:buNone/>
              </a:pPr>
              <a:r>
                <a:rPr b="1" i="0" lang="en-US" sz="1000" u="none" cap="none" strike="noStrike">
                  <a:solidFill>
                    <a:srgbClr val="C0392B"/>
                  </a:solidFill>
                  <a:latin typeface="Inter"/>
                  <a:ea typeface="Inter"/>
                  <a:cs typeface="Inter"/>
                  <a:sym typeface="Inter"/>
                </a:rPr>
                <a:t>- Nhược điểm: </a:t>
              </a:r>
              <a:r>
                <a:rPr b="0" i="0" lang="en-US" sz="1000" u="none" cap="none" strike="noStrike">
                  <a:solidFill>
                    <a:srgbClr val="1C2B34"/>
                  </a:solidFill>
                  <a:latin typeface="Inter"/>
                  <a:ea typeface="Inter"/>
                  <a:cs typeface="Inter"/>
                  <a:sym typeface="Inter"/>
                </a:rPr>
                <a:t>Giới hạn quy mô kịch bản, phụ thuộc nền tảng.</a:t>
              </a:r>
              <a:endParaRPr b="0" i="0" sz="1250" u="none" cap="none" strike="noStrike">
                <a:solidFill>
                  <a:srgbClr val="52636A"/>
                </a:solidFill>
                <a:latin typeface="Inter"/>
                <a:ea typeface="Inter"/>
                <a:cs typeface="Inter"/>
                <a:sym typeface="Inter"/>
              </a:endParaRPr>
            </a:p>
          </p:txBody>
        </p:sp>
      </p:grpSp>
      <p:grpSp>
        <p:nvGrpSpPr>
          <p:cNvPr id="131" name="Google Shape;131;h575f3ee0b5d7ded4_143_75"/>
          <p:cNvGrpSpPr/>
          <p:nvPr/>
        </p:nvGrpSpPr>
        <p:grpSpPr>
          <a:xfrm>
            <a:off x="647700" y="5162550"/>
            <a:ext cx="10896600" cy="1104900"/>
            <a:chOff x="0" y="0"/>
            <a:chExt cx="10896600" cy="1104900"/>
          </a:xfrm>
        </p:grpSpPr>
        <p:sp>
          <p:nvSpPr>
            <p:cNvPr id="132" name="Google Shape;132;h575f3ee0b5d7ded4_143_75"/>
            <p:cNvSpPr/>
            <p:nvPr/>
          </p:nvSpPr>
          <p:spPr>
            <a:xfrm>
              <a:off x="0" y="0"/>
              <a:ext cx="10896600" cy="1104900"/>
            </a:xfrm>
            <a:prstGeom prst="roundRect">
              <a:avLst>
                <a:gd fmla="val 10344" name="adj"/>
              </a:avLst>
            </a:prstGeom>
            <a:solidFill>
              <a:srgbClr val="111D2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h575f3ee0b5d7ded4_143_75"/>
            <p:cNvSpPr/>
            <p:nvPr/>
          </p:nvSpPr>
          <p:spPr>
            <a:xfrm>
              <a:off x="0" y="0"/>
              <a:ext cx="57300" cy="1104900"/>
            </a:xfrm>
            <a:prstGeom prst="roundRect">
              <a:avLst>
                <a:gd fmla="val 50000"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h575f3ee0b5d7ded4_143_75"/>
            <p:cNvSpPr txBox="1"/>
            <p:nvPr/>
          </p:nvSpPr>
          <p:spPr>
            <a:xfrm>
              <a:off x="228600" y="133350"/>
              <a:ext cx="10439400" cy="83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rPr b="1" i="0" lang="en-US" sz="1350" u="none" cap="none" strike="noStrike">
                  <a:solidFill>
                    <a:srgbClr val="38BDF8"/>
                  </a:solidFill>
                  <a:latin typeface="Inter"/>
                  <a:ea typeface="Inter"/>
                  <a:cs typeface="Inter"/>
                  <a:sym typeface="Inter"/>
                </a:rPr>
                <a:t>Real2Sim studio không đặt mục tiêu thay thế các công cụ này.</a:t>
              </a:r>
              <a:endParaRPr b="1" i="0" sz="1350" u="none" cap="none" strike="noStrike">
                <a:solidFill>
                  <a:srgbClr val="38BDF8"/>
                </a:solidFill>
                <a:latin typeface="Inter"/>
                <a:ea typeface="Inter"/>
                <a:cs typeface="Inter"/>
                <a:sym typeface="Inter"/>
              </a:endParaRPr>
            </a:p>
            <a:p>
              <a:pPr indent="0" lvl="0" marL="0" marR="0" rtl="0" algn="l">
                <a:lnSpc>
                  <a:spcPct val="100000"/>
                </a:lnSpc>
                <a:spcBef>
                  <a:spcPts val="450"/>
                </a:spcBef>
                <a:spcAft>
                  <a:spcPts val="0"/>
                </a:spcAft>
                <a:buClr>
                  <a:srgbClr val="000000"/>
                </a:buClr>
                <a:buSzPts val="1150"/>
                <a:buFont typeface="Arial"/>
                <a:buNone/>
              </a:pPr>
              <a:r>
                <a:rPr b="0" i="0" lang="en-US" sz="1150" u="none" cap="none" strike="noStrike">
                  <a:solidFill>
                    <a:srgbClr val="D5E5E3"/>
                  </a:solidFill>
                  <a:latin typeface="Inter"/>
                  <a:ea typeface="Inter"/>
                  <a:cs typeface="Inter"/>
                  <a:sym typeface="Inter"/>
                </a:rPr>
                <a:t>Trong phạm vi dự án, nhóm lựa chọn tập trung vào một hướng cụ thể: </a:t>
              </a:r>
              <a:r>
                <a:rPr b="1" i="0" lang="en-US" sz="1150" u="none" cap="none" strike="noStrike">
                  <a:solidFill>
                    <a:srgbClr val="FFFFFF"/>
                  </a:solidFill>
                  <a:latin typeface="Inter"/>
                  <a:ea typeface="Inter"/>
                  <a:cs typeface="Inter"/>
                  <a:sym typeface="Inter"/>
                </a:rPr>
                <a:t>chuyển video quay không gian trong nhà thành cảnh 3D có thể chỉnh sửa vật thể, tạo hình học va chạm và chuẩn bị dữ liệu cho Isaac Sim.</a:t>
              </a:r>
              <a:endParaRPr b="0" i="0" sz="1150" u="none" cap="none" strike="noStrike">
                <a:solidFill>
                  <a:srgbClr val="D5E5E3"/>
                </a:solidFill>
                <a:latin typeface="Inter"/>
                <a:ea typeface="Inter"/>
                <a:cs typeface="Inter"/>
                <a:sym typeface="Inter"/>
              </a:endParaRPr>
            </a:p>
          </p:txBody>
        </p:sp>
      </p:grpSp>
      <p:sp>
        <p:nvSpPr>
          <p:cNvPr id="135" name="Google Shape;135;h575f3ee0b5d7ded4_143_75"/>
          <p:cNvSpPr/>
          <p:nvPr/>
        </p:nvSpPr>
        <p:spPr>
          <a:xfrm>
            <a:off x="647700" y="6515100"/>
            <a:ext cx="7220100" cy="1716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
        <p:nvSpPr>
          <p:cNvPr id="136" name="Google Shape;136;h575f3ee0b5d7ded4_143_75"/>
          <p:cNvSpPr/>
          <p:nvPr/>
        </p:nvSpPr>
        <p:spPr>
          <a:xfrm>
            <a:off x="10839450" y="6515100"/>
            <a:ext cx="705000" cy="1716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39"/>
              <a:buFont typeface="Arial"/>
              <a:buNone/>
            </a:pPr>
            <a:r>
              <a:rPr b="0" i="0" lang="en-US" sz="940" u="none" cap="none" strike="noStrike">
                <a:solidFill>
                  <a:srgbClr val="63747B"/>
                </a:solidFill>
                <a:latin typeface="Inter"/>
                <a:ea typeface="Inter"/>
                <a:cs typeface="Inter"/>
                <a:sym typeface="Inter"/>
              </a:rPr>
              <a:t>04 / 12</a:t>
            </a:r>
            <a:endParaRPr b="0" i="0" sz="940" u="none" cap="none" strike="noStrike">
              <a:solidFill>
                <a:srgbClr val="63747B"/>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141" name="Shape 141"/>
        <p:cNvGrpSpPr/>
        <p:nvPr/>
      </p:nvGrpSpPr>
      <p:grpSpPr>
        <a:xfrm>
          <a:off x="0" y="0"/>
          <a:ext cx="0" cy="0"/>
          <a:chOff x="0" y="0"/>
          <a:chExt cx="0" cy="0"/>
        </a:xfrm>
      </p:grpSpPr>
      <p:sp>
        <p:nvSpPr>
          <p:cNvPr id="142" name="Google Shape;142;h575f3ee0b5d7ded4_143_122"/>
          <p:cNvSpPr/>
          <p:nvPr/>
        </p:nvSpPr>
        <p:spPr>
          <a:xfrm>
            <a:off x="0" y="0"/>
            <a:ext cx="12192000" cy="53100"/>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h575f3ee0b5d7ded4_143_122"/>
          <p:cNvSpPr/>
          <p:nvPr/>
        </p:nvSpPr>
        <p:spPr>
          <a:xfrm>
            <a:off x="640080" y="292608"/>
            <a:ext cx="10881300" cy="219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05   /   BÀI TOÁN VÀ GIẢI PHÁP</a:t>
            </a:r>
            <a:endParaRPr b="0" i="0" sz="1400" u="none" cap="none" strike="noStrike">
              <a:solidFill>
                <a:schemeClr val="dk1"/>
              </a:solidFill>
              <a:latin typeface="Inter"/>
              <a:ea typeface="Inter"/>
              <a:cs typeface="Inter"/>
              <a:sym typeface="Inter"/>
            </a:endParaRPr>
          </a:p>
        </p:txBody>
      </p:sp>
      <p:cxnSp>
        <p:nvCxnSpPr>
          <p:cNvPr id="144" name="Google Shape;144;h575f3ee0b5d7ded4_143_122"/>
          <p:cNvCxnSpPr/>
          <p:nvPr/>
        </p:nvCxnSpPr>
        <p:spPr>
          <a:xfrm>
            <a:off x="640080" y="6501384"/>
            <a:ext cx="10899600" cy="0"/>
          </a:xfrm>
          <a:prstGeom prst="straightConnector1">
            <a:avLst/>
          </a:prstGeom>
          <a:noFill/>
          <a:ln cap="flat" cmpd="sng" w="9525">
            <a:solidFill>
              <a:srgbClr val="DBE3DD"/>
            </a:solidFill>
            <a:prstDash val="solid"/>
            <a:round/>
            <a:headEnd len="sm" w="sm" type="none"/>
            <a:tailEnd len="sm" w="sm" type="none"/>
          </a:ln>
        </p:spPr>
      </p:cxnSp>
      <p:sp>
        <p:nvSpPr>
          <p:cNvPr id="145" name="Google Shape;145;h575f3ee0b5d7ded4_143_122"/>
          <p:cNvSpPr/>
          <p:nvPr/>
        </p:nvSpPr>
        <p:spPr>
          <a:xfrm>
            <a:off x="10844784" y="6565392"/>
            <a:ext cx="694800" cy="1554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05 / 12</a:t>
            </a:r>
            <a:endParaRPr b="0" i="0" sz="940" u="none" cap="none" strike="noStrike">
              <a:solidFill>
                <a:schemeClr val="dk1"/>
              </a:solidFill>
              <a:latin typeface="Inter"/>
              <a:ea typeface="Inter"/>
              <a:cs typeface="Inter"/>
              <a:sym typeface="Inter"/>
            </a:endParaRPr>
          </a:p>
        </p:txBody>
      </p:sp>
      <p:sp>
        <p:nvSpPr>
          <p:cNvPr id="146" name="Google Shape;146;h575f3ee0b5d7ded4_143_122"/>
          <p:cNvSpPr/>
          <p:nvPr/>
        </p:nvSpPr>
        <p:spPr>
          <a:xfrm>
            <a:off x="640080" y="768096"/>
            <a:ext cx="10954500" cy="704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600"/>
              <a:buFont typeface="Inter"/>
              <a:buNone/>
            </a:pPr>
            <a:r>
              <a:rPr b="1" i="0" lang="en-US" sz="2600" u="none" cap="none" strike="noStrike">
                <a:solidFill>
                  <a:srgbClr val="1C2B34"/>
                </a:solidFill>
                <a:latin typeface="Inter"/>
                <a:ea typeface="Inter"/>
                <a:cs typeface="Inter"/>
                <a:sym typeface="Inter"/>
              </a:rPr>
              <a:t>Có bản tái dựng 3D chưa có nghĩa là đã có scene để thử robot.</a:t>
            </a:r>
            <a:endParaRPr b="0" i="0" sz="2600" u="none" cap="none" strike="noStrike">
              <a:solidFill>
                <a:schemeClr val="dk1"/>
              </a:solidFill>
              <a:latin typeface="Inter"/>
              <a:ea typeface="Inter"/>
              <a:cs typeface="Inter"/>
              <a:sym typeface="Inter"/>
            </a:endParaRPr>
          </a:p>
        </p:txBody>
      </p:sp>
      <p:sp>
        <p:nvSpPr>
          <p:cNvPr id="147" name="Google Shape;147;h575f3ee0b5d7ded4_143_122"/>
          <p:cNvSpPr/>
          <p:nvPr/>
        </p:nvSpPr>
        <p:spPr>
          <a:xfrm>
            <a:off x="649224" y="1524000"/>
            <a:ext cx="10881300" cy="5526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63747B"/>
                </a:solidFill>
                <a:latin typeface="Inter"/>
                <a:ea typeface="Inter"/>
                <a:cs typeface="Inter"/>
                <a:sym typeface="Inter"/>
              </a:rPr>
              <a:t>Dùng công nghệ 3D Gaussian để tạo thành scene 3D có độ chân thực cao của môi trường thực. Tuy nhiên, nhóm tập trung vào bốn công đoạn cần kiểm tra tiếp theo:</a:t>
            </a:r>
            <a:endParaRPr b="0" i="0" sz="1500" u="none" cap="none" strike="noStrike">
              <a:solidFill>
                <a:srgbClr val="63747B"/>
              </a:solidFill>
              <a:latin typeface="Inter"/>
              <a:ea typeface="Inter"/>
              <a:cs typeface="Inter"/>
              <a:sym typeface="Inter"/>
            </a:endParaRPr>
          </a:p>
        </p:txBody>
      </p:sp>
      <p:sp>
        <p:nvSpPr>
          <p:cNvPr id="148" name="Google Shape;148;h575f3ee0b5d7ded4_143_122"/>
          <p:cNvSpPr/>
          <p:nvPr/>
        </p:nvSpPr>
        <p:spPr>
          <a:xfrm>
            <a:off x="667512" y="2221992"/>
            <a:ext cx="5312700" cy="1600200"/>
          </a:xfrm>
          <a:prstGeom prst="roundRect">
            <a:avLst>
              <a:gd fmla="val 8000"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h575f3ee0b5d7ded4_143_122"/>
          <p:cNvSpPr/>
          <p:nvPr/>
        </p:nvSpPr>
        <p:spPr>
          <a:xfrm>
            <a:off x="905256" y="2441448"/>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h575f3ee0b5d7ded4_143_122"/>
          <p:cNvSpPr/>
          <p:nvPr/>
        </p:nvSpPr>
        <p:spPr>
          <a:xfrm>
            <a:off x="923544" y="2459736"/>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01</a:t>
            </a:r>
            <a:endParaRPr b="0" i="0" sz="1200" u="none" cap="none" strike="noStrike">
              <a:solidFill>
                <a:schemeClr val="dk1"/>
              </a:solidFill>
              <a:latin typeface="Inter"/>
              <a:ea typeface="Inter"/>
              <a:cs typeface="Inter"/>
              <a:sym typeface="Inter"/>
            </a:endParaRPr>
          </a:p>
        </p:txBody>
      </p:sp>
      <p:sp>
        <p:nvSpPr>
          <p:cNvPr id="151" name="Google Shape;151;h575f3ee0b5d7ded4_143_122"/>
          <p:cNvSpPr/>
          <p:nvPr/>
        </p:nvSpPr>
        <p:spPr>
          <a:xfrm>
            <a:off x="1399032" y="2404872"/>
            <a:ext cx="42612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900"/>
              <a:buFont typeface="Inter"/>
              <a:buNone/>
            </a:pPr>
            <a:r>
              <a:rPr b="1" i="0" lang="en-US" sz="1900" u="none" cap="none" strike="noStrike">
                <a:solidFill>
                  <a:srgbClr val="1C2B34"/>
                </a:solidFill>
                <a:latin typeface="Inter"/>
                <a:ea typeface="Inter"/>
                <a:cs typeface="Inter"/>
                <a:sym typeface="Inter"/>
              </a:rPr>
              <a:t>Đúng kích thước thật</a:t>
            </a:r>
            <a:endParaRPr b="0" i="0" sz="1900" u="none" cap="none" strike="noStrike">
              <a:solidFill>
                <a:schemeClr val="dk1"/>
              </a:solidFill>
              <a:latin typeface="Inter"/>
              <a:ea typeface="Inter"/>
              <a:cs typeface="Inter"/>
              <a:sym typeface="Inter"/>
            </a:endParaRPr>
          </a:p>
        </p:txBody>
      </p:sp>
      <p:sp>
        <p:nvSpPr>
          <p:cNvPr id="152" name="Google Shape;152;h575f3ee0b5d7ded4_143_122"/>
          <p:cNvSpPr/>
          <p:nvPr/>
        </p:nvSpPr>
        <p:spPr>
          <a:xfrm>
            <a:off x="923544" y="3017520"/>
            <a:ext cx="4782300" cy="5943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70"/>
              <a:buFont typeface="Inter"/>
              <a:buNone/>
            </a:pPr>
            <a:r>
              <a:rPr b="0" i="0" lang="en-US" sz="1570" u="none" cap="none" strike="noStrike">
                <a:solidFill>
                  <a:srgbClr val="63747B"/>
                </a:solidFill>
                <a:latin typeface="Inter"/>
                <a:ea typeface="Inter"/>
                <a:cs typeface="Inter"/>
                <a:sym typeface="Inter"/>
              </a:rPr>
              <a:t>Video RGB một camera không tự xác định tỷ lệ mét. Lối đi có thể bị đánh giá sai nếu chưa xác nhận scale.</a:t>
            </a:r>
            <a:endParaRPr b="0" i="0" sz="1570" u="none" cap="none" strike="noStrike">
              <a:solidFill>
                <a:schemeClr val="dk1"/>
              </a:solidFill>
              <a:latin typeface="Inter"/>
              <a:ea typeface="Inter"/>
              <a:cs typeface="Inter"/>
              <a:sym typeface="Inter"/>
            </a:endParaRPr>
          </a:p>
        </p:txBody>
      </p:sp>
      <p:sp>
        <p:nvSpPr>
          <p:cNvPr id="153" name="Google Shape;153;h575f3ee0b5d7ded4_143_122"/>
          <p:cNvSpPr/>
          <p:nvPr/>
        </p:nvSpPr>
        <p:spPr>
          <a:xfrm>
            <a:off x="6190488" y="2221992"/>
            <a:ext cx="5312700" cy="1600200"/>
          </a:xfrm>
          <a:prstGeom prst="roundRect">
            <a:avLst>
              <a:gd fmla="val 8000"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h575f3ee0b5d7ded4_143_122"/>
          <p:cNvSpPr/>
          <p:nvPr/>
        </p:nvSpPr>
        <p:spPr>
          <a:xfrm>
            <a:off x="6428232" y="2441448"/>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h575f3ee0b5d7ded4_143_122"/>
          <p:cNvSpPr/>
          <p:nvPr/>
        </p:nvSpPr>
        <p:spPr>
          <a:xfrm>
            <a:off x="6446520" y="2459736"/>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02</a:t>
            </a:r>
            <a:endParaRPr b="0" i="0" sz="1200" u="none" cap="none" strike="noStrike">
              <a:solidFill>
                <a:schemeClr val="dk1"/>
              </a:solidFill>
              <a:latin typeface="Inter"/>
              <a:ea typeface="Inter"/>
              <a:cs typeface="Inter"/>
              <a:sym typeface="Inter"/>
            </a:endParaRPr>
          </a:p>
        </p:txBody>
      </p:sp>
      <p:sp>
        <p:nvSpPr>
          <p:cNvPr id="156" name="Google Shape;156;h575f3ee0b5d7ded4_143_122"/>
          <p:cNvSpPr/>
          <p:nvPr/>
        </p:nvSpPr>
        <p:spPr>
          <a:xfrm>
            <a:off x="6922008" y="2404872"/>
            <a:ext cx="42612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900"/>
              <a:buFont typeface="Inter"/>
              <a:buNone/>
            </a:pPr>
            <a:r>
              <a:rPr b="1" i="0" lang="en-US" sz="1900" u="none" cap="none" strike="noStrike">
                <a:solidFill>
                  <a:srgbClr val="1C2B34"/>
                </a:solidFill>
                <a:latin typeface="Inter"/>
                <a:ea typeface="Inter"/>
                <a:cs typeface="Inter"/>
                <a:sym typeface="Inter"/>
              </a:rPr>
              <a:t>Tách từng vật thể</a:t>
            </a:r>
            <a:endParaRPr b="0" i="0" sz="1900" u="none" cap="none" strike="noStrike">
              <a:solidFill>
                <a:schemeClr val="dk1"/>
              </a:solidFill>
              <a:latin typeface="Inter"/>
              <a:ea typeface="Inter"/>
              <a:cs typeface="Inter"/>
              <a:sym typeface="Inter"/>
            </a:endParaRPr>
          </a:p>
        </p:txBody>
      </p:sp>
      <p:sp>
        <p:nvSpPr>
          <p:cNvPr id="157" name="Google Shape;157;h575f3ee0b5d7ded4_143_122"/>
          <p:cNvSpPr/>
          <p:nvPr/>
        </p:nvSpPr>
        <p:spPr>
          <a:xfrm>
            <a:off x="6446520" y="3017520"/>
            <a:ext cx="4782300" cy="5943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70"/>
              <a:buFont typeface="Inter"/>
              <a:buNone/>
            </a:pPr>
            <a:r>
              <a:rPr b="0" i="0" lang="en-US" sz="1570" u="none" cap="none" strike="noStrike">
                <a:solidFill>
                  <a:srgbClr val="63747B"/>
                </a:solidFill>
                <a:latin typeface="Inter"/>
                <a:ea typeface="Inter"/>
                <a:cs typeface="Inter"/>
                <a:sym typeface="Inter"/>
              </a:rPr>
              <a:t>Bàn, kệ hoặc thùng cần được nhận diện và quản lý riêng trước khi có thể thay đổi bố trí.</a:t>
            </a:r>
            <a:endParaRPr b="0" i="0" sz="1570" u="none" cap="none" strike="noStrike">
              <a:solidFill>
                <a:schemeClr val="dk1"/>
              </a:solidFill>
              <a:latin typeface="Inter"/>
              <a:ea typeface="Inter"/>
              <a:cs typeface="Inter"/>
              <a:sym typeface="Inter"/>
            </a:endParaRPr>
          </a:p>
        </p:txBody>
      </p:sp>
      <p:sp>
        <p:nvSpPr>
          <p:cNvPr id="158" name="Google Shape;158;h575f3ee0b5d7ded4_143_122"/>
          <p:cNvSpPr/>
          <p:nvPr/>
        </p:nvSpPr>
        <p:spPr>
          <a:xfrm>
            <a:off x="667512" y="3995928"/>
            <a:ext cx="5312700" cy="1600200"/>
          </a:xfrm>
          <a:prstGeom prst="roundRect">
            <a:avLst>
              <a:gd fmla="val 8000"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h575f3ee0b5d7ded4_143_122"/>
          <p:cNvSpPr/>
          <p:nvPr/>
        </p:nvSpPr>
        <p:spPr>
          <a:xfrm>
            <a:off x="905256" y="4215384"/>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h575f3ee0b5d7ded4_143_122"/>
          <p:cNvSpPr/>
          <p:nvPr/>
        </p:nvSpPr>
        <p:spPr>
          <a:xfrm>
            <a:off x="923544" y="4233672"/>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03</a:t>
            </a:r>
            <a:endParaRPr b="0" i="0" sz="1200" u="none" cap="none" strike="noStrike">
              <a:solidFill>
                <a:schemeClr val="dk1"/>
              </a:solidFill>
              <a:latin typeface="Inter"/>
              <a:ea typeface="Inter"/>
              <a:cs typeface="Inter"/>
              <a:sym typeface="Inter"/>
            </a:endParaRPr>
          </a:p>
        </p:txBody>
      </p:sp>
      <p:sp>
        <p:nvSpPr>
          <p:cNvPr id="161" name="Google Shape;161;h575f3ee0b5d7ded4_143_122"/>
          <p:cNvSpPr/>
          <p:nvPr/>
        </p:nvSpPr>
        <p:spPr>
          <a:xfrm>
            <a:off x="1399032" y="4178808"/>
            <a:ext cx="42612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900"/>
              <a:buFont typeface="Inter"/>
              <a:buNone/>
            </a:pPr>
            <a:r>
              <a:rPr b="1" i="0" lang="en-US" sz="1900" u="none" cap="none" strike="noStrike">
                <a:solidFill>
                  <a:srgbClr val="1C2B34"/>
                </a:solidFill>
                <a:latin typeface="Inter"/>
                <a:ea typeface="Inter"/>
                <a:cs typeface="Inter"/>
                <a:sym typeface="Inter"/>
              </a:rPr>
              <a:t>Có hình học va chạm</a:t>
            </a:r>
            <a:endParaRPr b="0" i="0" sz="1900" u="none" cap="none" strike="noStrike">
              <a:solidFill>
                <a:schemeClr val="dk1"/>
              </a:solidFill>
              <a:latin typeface="Inter"/>
              <a:ea typeface="Inter"/>
              <a:cs typeface="Inter"/>
              <a:sym typeface="Inter"/>
            </a:endParaRPr>
          </a:p>
        </p:txBody>
      </p:sp>
      <p:sp>
        <p:nvSpPr>
          <p:cNvPr id="162" name="Google Shape;162;h575f3ee0b5d7ded4_143_122"/>
          <p:cNvSpPr/>
          <p:nvPr/>
        </p:nvSpPr>
        <p:spPr>
          <a:xfrm>
            <a:off x="923544" y="4791456"/>
            <a:ext cx="4782300" cy="5943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70"/>
              <a:buFont typeface="Inter"/>
              <a:buNone/>
            </a:pPr>
            <a:r>
              <a:rPr b="0" i="0" lang="en-US" sz="1570" u="none" cap="none" strike="noStrike">
                <a:solidFill>
                  <a:srgbClr val="63747B"/>
                </a:solidFill>
                <a:latin typeface="Inter"/>
                <a:ea typeface="Inter"/>
                <a:cs typeface="Inter"/>
                <a:sym typeface="Inter"/>
              </a:rPr>
              <a:t>3DGS phục vụ hiển thị. Robot cần collider phù hợp để không đi xuyên vật hoặc bị chặn ở khoảng trống.</a:t>
            </a:r>
            <a:endParaRPr b="0" i="0" sz="1570" u="none" cap="none" strike="noStrike">
              <a:solidFill>
                <a:schemeClr val="dk1"/>
              </a:solidFill>
              <a:latin typeface="Inter"/>
              <a:ea typeface="Inter"/>
              <a:cs typeface="Inter"/>
              <a:sym typeface="Inter"/>
            </a:endParaRPr>
          </a:p>
        </p:txBody>
      </p:sp>
      <p:sp>
        <p:nvSpPr>
          <p:cNvPr id="163" name="Google Shape;163;h575f3ee0b5d7ded4_143_122"/>
          <p:cNvSpPr/>
          <p:nvPr/>
        </p:nvSpPr>
        <p:spPr>
          <a:xfrm>
            <a:off x="6190488" y="3995928"/>
            <a:ext cx="5312700" cy="1600200"/>
          </a:xfrm>
          <a:prstGeom prst="roundRect">
            <a:avLst>
              <a:gd fmla="val 8000"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h575f3ee0b5d7ded4_143_122"/>
          <p:cNvSpPr/>
          <p:nvPr/>
        </p:nvSpPr>
        <p:spPr>
          <a:xfrm>
            <a:off x="6428232" y="4215384"/>
            <a:ext cx="365700" cy="310800"/>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h575f3ee0b5d7ded4_143_122"/>
          <p:cNvSpPr/>
          <p:nvPr/>
        </p:nvSpPr>
        <p:spPr>
          <a:xfrm>
            <a:off x="6446520" y="4233672"/>
            <a:ext cx="329100" cy="2742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04</a:t>
            </a:r>
            <a:endParaRPr b="0" i="0" sz="1200" u="none" cap="none" strike="noStrike">
              <a:solidFill>
                <a:schemeClr val="dk1"/>
              </a:solidFill>
              <a:latin typeface="Inter"/>
              <a:ea typeface="Inter"/>
              <a:cs typeface="Inter"/>
              <a:sym typeface="Inter"/>
            </a:endParaRPr>
          </a:p>
        </p:txBody>
      </p:sp>
      <p:sp>
        <p:nvSpPr>
          <p:cNvPr id="166" name="Google Shape;166;h575f3ee0b5d7ded4_143_122"/>
          <p:cNvSpPr/>
          <p:nvPr/>
        </p:nvSpPr>
        <p:spPr>
          <a:xfrm>
            <a:off x="6922008" y="4178808"/>
            <a:ext cx="4261200" cy="411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900"/>
              <a:buFont typeface="Inter"/>
              <a:buNone/>
            </a:pPr>
            <a:r>
              <a:rPr b="1" i="0" lang="en-US" sz="1900" u="none" cap="none" strike="noStrike">
                <a:solidFill>
                  <a:srgbClr val="1C2B34"/>
                </a:solidFill>
                <a:latin typeface="Inter"/>
                <a:ea typeface="Inter"/>
                <a:cs typeface="Inter"/>
                <a:sym typeface="Inter"/>
              </a:rPr>
              <a:t>Cập nhật nhất quán</a:t>
            </a:r>
            <a:endParaRPr b="0" i="0" sz="1900" u="none" cap="none" strike="noStrike">
              <a:solidFill>
                <a:schemeClr val="dk1"/>
              </a:solidFill>
              <a:latin typeface="Inter"/>
              <a:ea typeface="Inter"/>
              <a:cs typeface="Inter"/>
              <a:sym typeface="Inter"/>
            </a:endParaRPr>
          </a:p>
        </p:txBody>
      </p:sp>
      <p:sp>
        <p:nvSpPr>
          <p:cNvPr id="167" name="Google Shape;167;h575f3ee0b5d7ded4_143_122"/>
          <p:cNvSpPr/>
          <p:nvPr/>
        </p:nvSpPr>
        <p:spPr>
          <a:xfrm>
            <a:off x="6446520" y="4791456"/>
            <a:ext cx="4782300" cy="5943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70"/>
              <a:buFont typeface="Inter"/>
              <a:buNone/>
            </a:pPr>
            <a:r>
              <a:rPr b="0" i="0" lang="en-US" sz="1570" u="none" cap="none" strike="noStrike">
                <a:solidFill>
                  <a:srgbClr val="63747B"/>
                </a:solidFill>
                <a:latin typeface="Inter"/>
                <a:ea typeface="Inter"/>
                <a:cs typeface="Inter"/>
                <a:sym typeface="Inter"/>
              </a:rPr>
              <a:t>Khi vật thể di chuyển, hình ảnh, vị trí, collider và trạng thái scene phải phản ánh cùng một phiên bản.</a:t>
            </a:r>
            <a:endParaRPr b="0" i="0" sz="1570" u="none" cap="none" strike="noStrike">
              <a:solidFill>
                <a:schemeClr val="dk1"/>
              </a:solidFill>
              <a:latin typeface="Inter"/>
              <a:ea typeface="Inter"/>
              <a:cs typeface="Inter"/>
              <a:sym typeface="Inter"/>
            </a:endParaRPr>
          </a:p>
        </p:txBody>
      </p:sp>
      <p:sp>
        <p:nvSpPr>
          <p:cNvPr id="168" name="Google Shape;168;h575f3ee0b5d7ded4_143_122"/>
          <p:cNvSpPr/>
          <p:nvPr/>
        </p:nvSpPr>
        <p:spPr>
          <a:xfrm>
            <a:off x="704088" y="5852160"/>
            <a:ext cx="10762500" cy="310800"/>
          </a:xfrm>
          <a:prstGeom prst="roundRect">
            <a:avLst>
              <a:gd fmla="val 41176" name="adj"/>
            </a:avLst>
          </a:prstGeom>
          <a:solidFill>
            <a:srgbClr val="E9F4EF"/>
          </a:solidFill>
          <a:ln cap="flat" cmpd="sng" w="12700">
            <a:solidFill>
              <a:srgbClr val="E9F4E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h575f3ee0b5d7ded4_143_122"/>
          <p:cNvSpPr/>
          <p:nvPr/>
        </p:nvSpPr>
        <p:spPr>
          <a:xfrm>
            <a:off x="859536" y="5907024"/>
            <a:ext cx="10451700" cy="2013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320"/>
              <a:buFont typeface="Inter"/>
              <a:buNone/>
            </a:pPr>
            <a:r>
              <a:rPr b="1" i="0" lang="en-US" sz="1320" u="none" cap="none" strike="noStrike">
                <a:solidFill>
                  <a:srgbClr val="0E8283"/>
                </a:solidFill>
                <a:latin typeface="Inter"/>
                <a:ea typeface="Inter"/>
                <a:cs typeface="Inter"/>
                <a:sym typeface="Inter"/>
              </a:rPr>
              <a:t>Người dùng mục tiêu: kỹ sư mô phỏng hoặc tích hợp robot di động trong phòng, hành lang và kho nhỏ.</a:t>
            </a:r>
            <a:endParaRPr b="0" i="0" sz="1320" u="none" cap="none" strike="noStrike">
              <a:solidFill>
                <a:schemeClr val="dk1"/>
              </a:solidFill>
              <a:latin typeface="Inter"/>
              <a:ea typeface="Inter"/>
              <a:cs typeface="Inter"/>
              <a:sym typeface="Inter"/>
            </a:endParaRPr>
          </a:p>
        </p:txBody>
      </p:sp>
      <p:sp>
        <p:nvSpPr>
          <p:cNvPr id="170" name="Google Shape;170;h575f3ee0b5d7ded4_143_122"/>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175" name="Shape 175"/>
        <p:cNvGrpSpPr/>
        <p:nvPr/>
      </p:nvGrpSpPr>
      <p:grpSpPr>
        <a:xfrm>
          <a:off x="0" y="0"/>
          <a:ext cx="0" cy="0"/>
          <a:chOff x="0" y="0"/>
          <a:chExt cx="0" cy="0"/>
        </a:xfrm>
      </p:grpSpPr>
      <p:sp>
        <p:nvSpPr>
          <p:cNvPr id="176" name="Google Shape;176;h575f3ee0b5d7ded4_143_155"/>
          <p:cNvSpPr/>
          <p:nvPr/>
        </p:nvSpPr>
        <p:spPr>
          <a:xfrm>
            <a:off x="0" y="0"/>
            <a:ext cx="12192000" cy="53035"/>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h575f3ee0b5d7ded4_143_155"/>
          <p:cNvSpPr/>
          <p:nvPr/>
        </p:nvSpPr>
        <p:spPr>
          <a:xfrm>
            <a:off x="640080" y="292608"/>
            <a:ext cx="108813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06   /   ĐỊNH HƯỚNG CỦA SẢN PHẨM</a:t>
            </a:r>
            <a:endParaRPr b="0" i="0" sz="1400" u="none" cap="none" strike="noStrike">
              <a:solidFill>
                <a:schemeClr val="dk1"/>
              </a:solidFill>
              <a:latin typeface="Inter"/>
              <a:ea typeface="Inter"/>
              <a:cs typeface="Inter"/>
              <a:sym typeface="Inter"/>
            </a:endParaRPr>
          </a:p>
        </p:txBody>
      </p:sp>
      <p:cxnSp>
        <p:nvCxnSpPr>
          <p:cNvPr id="178" name="Google Shape;178;h575f3ee0b5d7ded4_143_155"/>
          <p:cNvCxnSpPr/>
          <p:nvPr/>
        </p:nvCxnSpPr>
        <p:spPr>
          <a:xfrm>
            <a:off x="640080" y="6501384"/>
            <a:ext cx="10899648" cy="0"/>
          </a:xfrm>
          <a:prstGeom prst="straightConnector1">
            <a:avLst/>
          </a:prstGeom>
          <a:noFill/>
          <a:ln cap="flat" cmpd="sng" w="9525">
            <a:solidFill>
              <a:srgbClr val="DBE3DD"/>
            </a:solidFill>
            <a:prstDash val="solid"/>
            <a:round/>
            <a:headEnd len="sm" w="sm" type="none"/>
            <a:tailEnd len="sm" w="sm" type="none"/>
          </a:ln>
        </p:spPr>
      </p:cxnSp>
      <p:sp>
        <p:nvSpPr>
          <p:cNvPr id="179" name="Google Shape;179;h575f3ee0b5d7ded4_143_155"/>
          <p:cNvSpPr/>
          <p:nvPr/>
        </p:nvSpPr>
        <p:spPr>
          <a:xfrm>
            <a:off x="10844784" y="6565392"/>
            <a:ext cx="694944" cy="155448"/>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06 / 12</a:t>
            </a:r>
            <a:endParaRPr b="0" i="0" sz="940" u="none" cap="none" strike="noStrike">
              <a:solidFill>
                <a:schemeClr val="dk1"/>
              </a:solidFill>
              <a:latin typeface="Inter"/>
              <a:ea typeface="Inter"/>
              <a:cs typeface="Inter"/>
              <a:sym typeface="Inter"/>
            </a:endParaRPr>
          </a:p>
        </p:txBody>
      </p:sp>
      <p:sp>
        <p:nvSpPr>
          <p:cNvPr id="180" name="Google Shape;180;h575f3ee0b5d7ded4_143_155"/>
          <p:cNvSpPr/>
          <p:nvPr/>
        </p:nvSpPr>
        <p:spPr>
          <a:xfrm>
            <a:off x="640080" y="768096"/>
            <a:ext cx="10954512" cy="70408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500"/>
              <a:buFont typeface="Inter"/>
              <a:buNone/>
            </a:pPr>
            <a:r>
              <a:rPr b="1" i="0" lang="en-US" sz="2500" u="none" cap="none" strike="noStrike">
                <a:solidFill>
                  <a:srgbClr val="1C2B34"/>
                </a:solidFill>
                <a:latin typeface="Inter"/>
                <a:ea typeface="Inter"/>
                <a:cs typeface="Inter"/>
                <a:sym typeface="Inter"/>
              </a:rPr>
              <a:t>Real2Sim kết hợp giữa xử lý tự động với sự kiểm tra của kỹ sư (HITL).</a:t>
            </a:r>
            <a:endParaRPr b="0" i="0" sz="2500" u="none" cap="none" strike="noStrike">
              <a:solidFill>
                <a:schemeClr val="dk1"/>
              </a:solidFill>
              <a:latin typeface="Inter"/>
              <a:ea typeface="Inter"/>
              <a:cs typeface="Inter"/>
              <a:sym typeface="Inter"/>
            </a:endParaRPr>
          </a:p>
        </p:txBody>
      </p:sp>
      <p:sp>
        <p:nvSpPr>
          <p:cNvPr id="181" name="Google Shape;181;h575f3ee0b5d7ded4_143_155"/>
          <p:cNvSpPr/>
          <p:nvPr/>
        </p:nvSpPr>
        <p:spPr>
          <a:xfrm>
            <a:off x="649224" y="1554480"/>
            <a:ext cx="10881360" cy="52120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Mục tiêu là hỗ trợ chuẩn bị và chỉnh sửa scene trong một quy trình có thể theo dõi, không loại bỏ hoàn toàn thao tác tay.</a:t>
            </a:r>
            <a:endParaRPr b="0" i="0" sz="1600" u="none" cap="none" strike="noStrike">
              <a:solidFill>
                <a:schemeClr val="dk1"/>
              </a:solidFill>
              <a:latin typeface="Inter"/>
              <a:ea typeface="Inter"/>
              <a:cs typeface="Inter"/>
              <a:sym typeface="Inter"/>
            </a:endParaRPr>
          </a:p>
        </p:txBody>
      </p:sp>
      <p:sp>
        <p:nvSpPr>
          <p:cNvPr id="182" name="Google Shape;182;h575f3ee0b5d7ded4_143_155"/>
          <p:cNvSpPr/>
          <p:nvPr/>
        </p:nvSpPr>
        <p:spPr>
          <a:xfrm>
            <a:off x="676656" y="2221992"/>
            <a:ext cx="3474720" cy="2935224"/>
          </a:xfrm>
          <a:prstGeom prst="roundRect">
            <a:avLst>
              <a:gd fmla="val 4361"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h575f3ee0b5d7ded4_143_155"/>
          <p:cNvSpPr/>
          <p:nvPr/>
        </p:nvSpPr>
        <p:spPr>
          <a:xfrm>
            <a:off x="886968" y="2432304"/>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h575f3ee0b5d7ded4_143_155"/>
          <p:cNvSpPr/>
          <p:nvPr/>
        </p:nvSpPr>
        <p:spPr>
          <a:xfrm>
            <a:off x="905256" y="2450592"/>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01</a:t>
            </a:r>
            <a:endParaRPr b="0" i="0" sz="1200" u="none" cap="none" strike="noStrike">
              <a:solidFill>
                <a:schemeClr val="dk1"/>
              </a:solidFill>
              <a:latin typeface="Inter"/>
              <a:ea typeface="Inter"/>
              <a:cs typeface="Inter"/>
              <a:sym typeface="Inter"/>
            </a:endParaRPr>
          </a:p>
        </p:txBody>
      </p:sp>
      <p:sp>
        <p:nvSpPr>
          <p:cNvPr id="185" name="Google Shape;185;h575f3ee0b5d7ded4_143_155"/>
          <p:cNvSpPr/>
          <p:nvPr/>
        </p:nvSpPr>
        <p:spPr>
          <a:xfrm>
            <a:off x="905256" y="2889504"/>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29"/>
              <a:buFont typeface="Inter"/>
              <a:buNone/>
            </a:pPr>
            <a:r>
              <a:rPr b="1" i="0" lang="en-US" sz="1830" u="none" cap="none" strike="noStrike">
                <a:solidFill>
                  <a:srgbClr val="1C2B34"/>
                </a:solidFill>
                <a:latin typeface="Inter"/>
                <a:ea typeface="Inter"/>
                <a:cs typeface="Inter"/>
                <a:sym typeface="Inter"/>
              </a:rPr>
              <a:t>Tái dựng từ video</a:t>
            </a:r>
            <a:endParaRPr b="0" i="0" sz="1830" u="none" cap="none" strike="noStrike">
              <a:solidFill>
                <a:schemeClr val="dk1"/>
              </a:solidFill>
              <a:latin typeface="Inter"/>
              <a:ea typeface="Inter"/>
              <a:cs typeface="Inter"/>
              <a:sym typeface="Inter"/>
            </a:endParaRPr>
          </a:p>
        </p:txBody>
      </p:sp>
      <p:sp>
        <p:nvSpPr>
          <p:cNvPr id="186" name="Google Shape;186;h575f3ee0b5d7ded4_143_155"/>
          <p:cNvSpPr/>
          <p:nvPr/>
        </p:nvSpPr>
        <p:spPr>
          <a:xfrm>
            <a:off x="905256" y="3520440"/>
            <a:ext cx="3017520" cy="108813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10"/>
              <a:buFont typeface="Inter"/>
              <a:buNone/>
            </a:pPr>
            <a:r>
              <a:rPr b="0" i="0" lang="en-US" sz="1610" u="none" cap="none" strike="noStrike">
                <a:solidFill>
                  <a:srgbClr val="63747B"/>
                </a:solidFill>
                <a:latin typeface="Inter"/>
                <a:ea typeface="Inter"/>
                <a:cs typeface="Inter"/>
                <a:sym typeface="Inter"/>
              </a:rPr>
              <a:t>Hệ thống xử lý frame, ước lượng vị trí camera và tạo 3DGS. Người dùng kiểm tra hệ mét trước khi sử dụng scene.</a:t>
            </a:r>
            <a:endParaRPr b="0" i="0" sz="1610" u="none" cap="none" strike="noStrike">
              <a:solidFill>
                <a:schemeClr val="dk1"/>
              </a:solidFill>
              <a:latin typeface="Inter"/>
              <a:ea typeface="Inter"/>
              <a:cs typeface="Inter"/>
              <a:sym typeface="Inter"/>
            </a:endParaRPr>
          </a:p>
        </p:txBody>
      </p:sp>
      <p:sp>
        <p:nvSpPr>
          <p:cNvPr id="187" name="Google Shape;187;h575f3ee0b5d7ded4_143_155"/>
          <p:cNvSpPr/>
          <p:nvPr/>
        </p:nvSpPr>
        <p:spPr>
          <a:xfrm>
            <a:off x="4352544" y="2221992"/>
            <a:ext cx="3474720" cy="2935224"/>
          </a:xfrm>
          <a:prstGeom prst="roundRect">
            <a:avLst>
              <a:gd fmla="val 4361"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h575f3ee0b5d7ded4_143_155"/>
          <p:cNvSpPr/>
          <p:nvPr/>
        </p:nvSpPr>
        <p:spPr>
          <a:xfrm>
            <a:off x="4562856" y="2432304"/>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h575f3ee0b5d7ded4_143_155"/>
          <p:cNvSpPr/>
          <p:nvPr/>
        </p:nvSpPr>
        <p:spPr>
          <a:xfrm>
            <a:off x="4581144" y="2450592"/>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02</a:t>
            </a:r>
            <a:endParaRPr b="0" i="0" sz="1200" u="none" cap="none" strike="noStrike">
              <a:solidFill>
                <a:schemeClr val="dk1"/>
              </a:solidFill>
              <a:latin typeface="Inter"/>
              <a:ea typeface="Inter"/>
              <a:cs typeface="Inter"/>
              <a:sym typeface="Inter"/>
            </a:endParaRPr>
          </a:p>
        </p:txBody>
      </p:sp>
      <p:sp>
        <p:nvSpPr>
          <p:cNvPr id="190" name="Google Shape;190;h575f3ee0b5d7ded4_143_155"/>
          <p:cNvSpPr/>
          <p:nvPr/>
        </p:nvSpPr>
        <p:spPr>
          <a:xfrm>
            <a:off x="4581144" y="2889504"/>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29"/>
              <a:buFont typeface="Inter"/>
              <a:buNone/>
            </a:pPr>
            <a:r>
              <a:rPr b="1" i="0" lang="en-US" sz="1830" u="none" cap="none" strike="noStrike">
                <a:solidFill>
                  <a:srgbClr val="1C2B34"/>
                </a:solidFill>
                <a:latin typeface="Inter"/>
                <a:ea typeface="Inter"/>
                <a:cs typeface="Inter"/>
                <a:sym typeface="Inter"/>
              </a:rPr>
              <a:t>Duyệt và chỉnh vật thể</a:t>
            </a:r>
            <a:endParaRPr b="0" i="0" sz="1830" u="none" cap="none" strike="noStrike">
              <a:solidFill>
                <a:schemeClr val="dk1"/>
              </a:solidFill>
              <a:latin typeface="Inter"/>
              <a:ea typeface="Inter"/>
              <a:cs typeface="Inter"/>
              <a:sym typeface="Inter"/>
            </a:endParaRPr>
          </a:p>
        </p:txBody>
      </p:sp>
      <p:sp>
        <p:nvSpPr>
          <p:cNvPr id="191" name="Google Shape;191;h575f3ee0b5d7ded4_143_155"/>
          <p:cNvSpPr/>
          <p:nvPr/>
        </p:nvSpPr>
        <p:spPr>
          <a:xfrm>
            <a:off x="4581144" y="3520440"/>
            <a:ext cx="3017520" cy="108813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10"/>
              <a:buFont typeface="Inter"/>
              <a:buNone/>
            </a:pPr>
            <a:r>
              <a:rPr b="0" i="0" lang="en-US" sz="1610" u="none" cap="none" strike="noStrike">
                <a:solidFill>
                  <a:srgbClr val="63747B"/>
                </a:solidFill>
                <a:latin typeface="Inter"/>
                <a:ea typeface="Inter"/>
                <a:cs typeface="Inter"/>
                <a:sym typeface="Inter"/>
              </a:rPr>
              <a:t>AI đề xuất các object, nhưng người dùng có thể sửa vùng vật thể trên bản Draft trước khi dựng mesh.</a:t>
            </a:r>
            <a:endParaRPr b="0" i="0" sz="1610" u="none" cap="none" strike="noStrike">
              <a:solidFill>
                <a:schemeClr val="dk1"/>
              </a:solidFill>
              <a:latin typeface="Inter"/>
              <a:ea typeface="Inter"/>
              <a:cs typeface="Inter"/>
              <a:sym typeface="Inter"/>
            </a:endParaRPr>
          </a:p>
        </p:txBody>
      </p:sp>
      <p:sp>
        <p:nvSpPr>
          <p:cNvPr id="192" name="Google Shape;192;h575f3ee0b5d7ded4_143_155"/>
          <p:cNvSpPr/>
          <p:nvPr/>
        </p:nvSpPr>
        <p:spPr>
          <a:xfrm>
            <a:off x="8046720" y="2221992"/>
            <a:ext cx="3474720" cy="2935224"/>
          </a:xfrm>
          <a:prstGeom prst="roundRect">
            <a:avLst>
              <a:gd fmla="val 4361"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h575f3ee0b5d7ded4_143_155"/>
          <p:cNvSpPr/>
          <p:nvPr/>
        </p:nvSpPr>
        <p:spPr>
          <a:xfrm>
            <a:off x="8257032" y="2432304"/>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h575f3ee0b5d7ded4_143_155"/>
          <p:cNvSpPr/>
          <p:nvPr/>
        </p:nvSpPr>
        <p:spPr>
          <a:xfrm>
            <a:off x="8275320" y="2450592"/>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03</a:t>
            </a:r>
            <a:endParaRPr b="0" i="0" sz="1200" u="none" cap="none" strike="noStrike">
              <a:solidFill>
                <a:schemeClr val="dk1"/>
              </a:solidFill>
              <a:latin typeface="Inter"/>
              <a:ea typeface="Inter"/>
              <a:cs typeface="Inter"/>
              <a:sym typeface="Inter"/>
            </a:endParaRPr>
          </a:p>
        </p:txBody>
      </p:sp>
      <p:sp>
        <p:nvSpPr>
          <p:cNvPr id="195" name="Google Shape;195;h575f3ee0b5d7ded4_143_155"/>
          <p:cNvSpPr/>
          <p:nvPr/>
        </p:nvSpPr>
        <p:spPr>
          <a:xfrm>
            <a:off x="8275320" y="2889504"/>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29"/>
              <a:buFont typeface="Inter"/>
              <a:buNone/>
            </a:pPr>
            <a:r>
              <a:rPr b="1" i="0" lang="en-US" sz="1830" u="none" cap="none" strike="noStrike">
                <a:solidFill>
                  <a:srgbClr val="1C2B34"/>
                </a:solidFill>
                <a:latin typeface="Inter"/>
                <a:ea typeface="Inter"/>
                <a:cs typeface="Inter"/>
                <a:sym typeface="Inter"/>
              </a:rPr>
              <a:t>Chuẩn bị cho mô phỏng</a:t>
            </a:r>
            <a:endParaRPr b="0" i="0" sz="1830" u="none" cap="none" strike="noStrike">
              <a:solidFill>
                <a:schemeClr val="dk1"/>
              </a:solidFill>
              <a:latin typeface="Inter"/>
              <a:ea typeface="Inter"/>
              <a:cs typeface="Inter"/>
              <a:sym typeface="Inter"/>
            </a:endParaRPr>
          </a:p>
        </p:txBody>
      </p:sp>
      <p:sp>
        <p:nvSpPr>
          <p:cNvPr id="196" name="Google Shape;196;h575f3ee0b5d7ded4_143_155"/>
          <p:cNvSpPr/>
          <p:nvPr/>
        </p:nvSpPr>
        <p:spPr>
          <a:xfrm>
            <a:off x="8275320" y="3520440"/>
            <a:ext cx="3017520" cy="108813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10"/>
              <a:buFont typeface="Inter"/>
              <a:buNone/>
            </a:pPr>
            <a:r>
              <a:rPr b="0" i="0" lang="en-US" sz="1610" u="none" cap="none" strike="noStrike">
                <a:solidFill>
                  <a:srgbClr val="63747B"/>
                </a:solidFill>
                <a:latin typeface="Inter"/>
                <a:ea typeface="Inter"/>
                <a:cs typeface="Inter"/>
                <a:sym typeface="Inter"/>
              </a:rPr>
              <a:t>Pipeline tạo collider, hỗ trợ kiểm tra bằng chế độ đi bộ và xuất gói OpenUSD cho simulator.</a:t>
            </a:r>
            <a:endParaRPr b="0" i="0" sz="1610" u="none" cap="none" strike="noStrike">
              <a:solidFill>
                <a:schemeClr val="dk1"/>
              </a:solidFill>
              <a:latin typeface="Inter"/>
              <a:ea typeface="Inter"/>
              <a:cs typeface="Inter"/>
              <a:sym typeface="Inter"/>
            </a:endParaRPr>
          </a:p>
        </p:txBody>
      </p:sp>
      <p:sp>
        <p:nvSpPr>
          <p:cNvPr id="197" name="Google Shape;197;h575f3ee0b5d7ded4_143_155"/>
          <p:cNvSpPr/>
          <p:nvPr/>
        </p:nvSpPr>
        <p:spPr>
          <a:xfrm>
            <a:off x="713232" y="5394960"/>
            <a:ext cx="10789920" cy="566928"/>
          </a:xfrm>
          <a:prstGeom prst="roundRect">
            <a:avLst>
              <a:gd fmla="val 22581" name="adj"/>
            </a:avLst>
          </a:prstGeom>
          <a:solidFill>
            <a:srgbClr val="111D25"/>
          </a:solidFill>
          <a:ln cap="flat" cmpd="sng" w="12700">
            <a:solidFill>
              <a:srgbClr val="111D2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h575f3ee0b5d7ded4_143_155"/>
          <p:cNvSpPr/>
          <p:nvPr/>
        </p:nvSpPr>
        <p:spPr>
          <a:xfrm>
            <a:off x="932688" y="5513832"/>
            <a:ext cx="10341864" cy="35661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Định hướng dài hạn: giảm các thao tác chuẩn bị lặp lại và tăng độ tin cậy của scene 3D. Đây là mục tiêu cần đạt được và benchmark, chưa phải kết quả đã chứng minh.</a:t>
            </a:r>
            <a:endParaRPr b="0" i="0" sz="1400" u="none" cap="none" strike="noStrike">
              <a:solidFill>
                <a:schemeClr val="dk1"/>
              </a:solidFill>
              <a:latin typeface="Inter"/>
              <a:ea typeface="Inter"/>
              <a:cs typeface="Inter"/>
              <a:sym typeface="Inter"/>
            </a:endParaRPr>
          </a:p>
        </p:txBody>
      </p:sp>
      <p:sp>
        <p:nvSpPr>
          <p:cNvPr id="199" name="Google Shape;199;h575f3ee0b5d7ded4_143_155"/>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204" name="Shape 204"/>
        <p:cNvGrpSpPr/>
        <p:nvPr/>
      </p:nvGrpSpPr>
      <p:grpSpPr>
        <a:xfrm>
          <a:off x="0" y="0"/>
          <a:ext cx="0" cy="0"/>
          <a:chOff x="0" y="0"/>
          <a:chExt cx="0" cy="0"/>
        </a:xfrm>
      </p:grpSpPr>
      <p:sp>
        <p:nvSpPr>
          <p:cNvPr id="205" name="Google Shape;205;h575f3ee0b5d7ded4_143_183"/>
          <p:cNvSpPr/>
          <p:nvPr/>
        </p:nvSpPr>
        <p:spPr>
          <a:xfrm>
            <a:off x="0" y="0"/>
            <a:ext cx="12192000" cy="53100"/>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h575f3ee0b5d7ded4_143_183"/>
          <p:cNvSpPr/>
          <p:nvPr/>
        </p:nvSpPr>
        <p:spPr>
          <a:xfrm>
            <a:off x="640080" y="292608"/>
            <a:ext cx="10881300" cy="219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07   /   HÀNH TRÌNH NGƯỜI DÙNG</a:t>
            </a:r>
            <a:endParaRPr b="0" i="0" sz="1400" u="none" cap="none" strike="noStrike">
              <a:solidFill>
                <a:schemeClr val="dk1"/>
              </a:solidFill>
              <a:latin typeface="Inter"/>
              <a:ea typeface="Inter"/>
              <a:cs typeface="Inter"/>
              <a:sym typeface="Inter"/>
            </a:endParaRPr>
          </a:p>
        </p:txBody>
      </p:sp>
      <p:cxnSp>
        <p:nvCxnSpPr>
          <p:cNvPr id="207" name="Google Shape;207;h575f3ee0b5d7ded4_143_183"/>
          <p:cNvCxnSpPr/>
          <p:nvPr/>
        </p:nvCxnSpPr>
        <p:spPr>
          <a:xfrm>
            <a:off x="640080" y="6501384"/>
            <a:ext cx="10899600" cy="0"/>
          </a:xfrm>
          <a:prstGeom prst="straightConnector1">
            <a:avLst/>
          </a:prstGeom>
          <a:noFill/>
          <a:ln cap="flat" cmpd="sng" w="9525">
            <a:solidFill>
              <a:srgbClr val="DBE3DD"/>
            </a:solidFill>
            <a:prstDash val="solid"/>
            <a:round/>
            <a:headEnd len="sm" w="sm" type="none"/>
            <a:tailEnd len="sm" w="sm" type="none"/>
          </a:ln>
        </p:spPr>
      </p:cxnSp>
      <p:sp>
        <p:nvSpPr>
          <p:cNvPr id="208" name="Google Shape;208;h575f3ee0b5d7ded4_143_183"/>
          <p:cNvSpPr/>
          <p:nvPr/>
        </p:nvSpPr>
        <p:spPr>
          <a:xfrm>
            <a:off x="10844784" y="6565392"/>
            <a:ext cx="694800" cy="1554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07 / 12</a:t>
            </a:r>
            <a:endParaRPr b="0" i="0" sz="940" u="none" cap="none" strike="noStrike">
              <a:solidFill>
                <a:schemeClr val="dk1"/>
              </a:solidFill>
              <a:latin typeface="Inter"/>
              <a:ea typeface="Inter"/>
              <a:cs typeface="Inter"/>
              <a:sym typeface="Inter"/>
            </a:endParaRPr>
          </a:p>
        </p:txBody>
      </p:sp>
      <p:sp>
        <p:nvSpPr>
          <p:cNvPr id="209" name="Google Shape;209;h575f3ee0b5d7ded4_143_183"/>
          <p:cNvSpPr/>
          <p:nvPr/>
        </p:nvSpPr>
        <p:spPr>
          <a:xfrm>
            <a:off x="640080" y="768096"/>
            <a:ext cx="10954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C2B34"/>
                </a:solidFill>
                <a:latin typeface="Inter"/>
                <a:ea typeface="Inter"/>
                <a:cs typeface="Inter"/>
                <a:sym typeface="Inter"/>
              </a:rPr>
              <a:t>Từ video quay thực tế đến môi trường 3D có thể chỉnh sửa</a:t>
            </a:r>
            <a:endParaRPr b="1" i="0" sz="2600" u="none" cap="none" strike="noStrike">
              <a:solidFill>
                <a:srgbClr val="1C2B34"/>
              </a:solidFill>
              <a:latin typeface="Inter"/>
              <a:ea typeface="Inter"/>
              <a:cs typeface="Inter"/>
              <a:sym typeface="Inter"/>
            </a:endParaRPr>
          </a:p>
        </p:txBody>
      </p:sp>
      <p:grpSp>
        <p:nvGrpSpPr>
          <p:cNvPr id="210" name="Google Shape;210;h575f3ee0b5d7ded4_143_183"/>
          <p:cNvGrpSpPr/>
          <p:nvPr/>
        </p:nvGrpSpPr>
        <p:grpSpPr>
          <a:xfrm>
            <a:off x="638175" y="1571625"/>
            <a:ext cx="2571900" cy="2095500"/>
            <a:chOff x="0" y="0"/>
            <a:chExt cx="2571900" cy="2095500"/>
          </a:xfrm>
        </p:grpSpPr>
        <p:sp>
          <p:nvSpPr>
            <p:cNvPr id="211" name="Google Shape;211;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h575f3ee0b5d7ded4_143_183"/>
            <p:cNvSpPr/>
            <p:nvPr/>
          </p:nvSpPr>
          <p:spPr>
            <a:xfrm>
              <a:off x="190500" y="190500"/>
              <a:ext cx="362100" cy="247800"/>
            </a:xfrm>
            <a:prstGeom prst="roundRect">
              <a:avLst>
                <a:gd fmla="val 30769"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01</a:t>
              </a:r>
              <a:endParaRPr b="1" i="0" sz="1100" u="none" cap="none" strike="noStrike">
                <a:solidFill>
                  <a:srgbClr val="FFFFFF"/>
                </a:solidFill>
                <a:latin typeface="Inter"/>
                <a:ea typeface="Inter"/>
                <a:cs typeface="Inter"/>
                <a:sym typeface="Inter"/>
              </a:endParaRPr>
            </a:p>
          </p:txBody>
        </p:sp>
        <p:sp>
          <p:nvSpPr>
            <p:cNvPr id="214" name="Google Shape;214;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Tải video và thiết lập cấu hình</a:t>
              </a:r>
              <a:endParaRPr b="1" i="0" sz="1300" u="none" cap="none" strike="noStrike">
                <a:solidFill>
                  <a:srgbClr val="1C2B34"/>
                </a:solidFill>
                <a:latin typeface="Inter"/>
                <a:ea typeface="Inter"/>
                <a:cs typeface="Inter"/>
                <a:sym typeface="Inter"/>
              </a:endParaRPr>
            </a:p>
          </p:txBody>
        </p:sp>
        <p:sp>
          <p:nvSpPr>
            <p:cNvPr id="215" name="Google Shape;215;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Người dùng chọn dữ liệu đầu vào và các tùy chọn xử lý.</a:t>
              </a:r>
              <a:endParaRPr b="0" i="0" sz="1050" u="none" cap="none" strike="noStrike">
                <a:solidFill>
                  <a:srgbClr val="52606D"/>
                </a:solidFill>
                <a:latin typeface="Inter"/>
                <a:ea typeface="Inter"/>
                <a:cs typeface="Inter"/>
                <a:sym typeface="Inter"/>
              </a:endParaRPr>
            </a:p>
          </p:txBody>
        </p:sp>
      </p:grpSp>
      <p:grpSp>
        <p:nvGrpSpPr>
          <p:cNvPr id="216" name="Google Shape;216;h575f3ee0b5d7ded4_143_183"/>
          <p:cNvGrpSpPr/>
          <p:nvPr/>
        </p:nvGrpSpPr>
        <p:grpSpPr>
          <a:xfrm>
            <a:off x="3400425" y="1571625"/>
            <a:ext cx="2571900" cy="2095500"/>
            <a:chOff x="0" y="0"/>
            <a:chExt cx="2571900" cy="2095500"/>
          </a:xfrm>
        </p:grpSpPr>
        <p:sp>
          <p:nvSpPr>
            <p:cNvPr id="217" name="Google Shape;217;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h575f3ee0b5d7ded4_143_183"/>
            <p:cNvSpPr/>
            <p:nvPr/>
          </p:nvSpPr>
          <p:spPr>
            <a:xfrm>
              <a:off x="190500" y="190500"/>
              <a:ext cx="362100" cy="247800"/>
            </a:xfrm>
            <a:prstGeom prst="roundRect">
              <a:avLst>
                <a:gd fmla="val 30769"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02</a:t>
              </a:r>
              <a:endParaRPr b="1" i="0" sz="1100" u="none" cap="none" strike="noStrike">
                <a:solidFill>
                  <a:srgbClr val="FFFFFF"/>
                </a:solidFill>
                <a:latin typeface="Inter"/>
                <a:ea typeface="Inter"/>
                <a:cs typeface="Inter"/>
                <a:sym typeface="Inter"/>
              </a:endParaRPr>
            </a:p>
          </p:txBody>
        </p:sp>
        <p:sp>
          <p:nvSpPr>
            <p:cNvPr id="220" name="Google Shape;220;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Theo dõi quá trình tái dựng 3D</a:t>
              </a:r>
              <a:endParaRPr b="1" i="0" sz="1300" u="none" cap="none" strike="noStrike">
                <a:solidFill>
                  <a:srgbClr val="1C2B34"/>
                </a:solidFill>
                <a:latin typeface="Inter"/>
                <a:ea typeface="Inter"/>
                <a:cs typeface="Inter"/>
                <a:sym typeface="Inter"/>
              </a:endParaRPr>
            </a:p>
          </p:txBody>
        </p:sp>
        <p:sp>
          <p:nvSpPr>
            <p:cNvPr id="221" name="Google Shape;221;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Hệ thống xử lý video và tạo bản xem trước môi trường.</a:t>
              </a:r>
              <a:endParaRPr b="0" i="0" sz="1050" u="none" cap="none" strike="noStrike">
                <a:solidFill>
                  <a:srgbClr val="52606D"/>
                </a:solidFill>
                <a:latin typeface="Inter"/>
                <a:ea typeface="Inter"/>
                <a:cs typeface="Inter"/>
                <a:sym typeface="Inter"/>
              </a:endParaRPr>
            </a:p>
          </p:txBody>
        </p:sp>
      </p:grpSp>
      <p:grpSp>
        <p:nvGrpSpPr>
          <p:cNvPr id="222" name="Google Shape;222;h575f3ee0b5d7ded4_143_183"/>
          <p:cNvGrpSpPr/>
          <p:nvPr/>
        </p:nvGrpSpPr>
        <p:grpSpPr>
          <a:xfrm>
            <a:off x="6162675" y="1571625"/>
            <a:ext cx="2571900" cy="2095500"/>
            <a:chOff x="0" y="0"/>
            <a:chExt cx="2571900" cy="2095500"/>
          </a:xfrm>
        </p:grpSpPr>
        <p:sp>
          <p:nvSpPr>
            <p:cNvPr id="223" name="Google Shape;223;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h575f3ee0b5d7ded4_143_183"/>
            <p:cNvSpPr/>
            <p:nvPr/>
          </p:nvSpPr>
          <p:spPr>
            <a:xfrm>
              <a:off x="190500" y="190500"/>
              <a:ext cx="362100" cy="247800"/>
            </a:xfrm>
            <a:prstGeom prst="roundRect">
              <a:avLst>
                <a:gd fmla="val 30768" name="adj"/>
              </a:avLst>
            </a:prstGeom>
            <a:solidFill>
              <a:srgbClr val="EAB30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03</a:t>
              </a:r>
              <a:endParaRPr b="1" i="0" sz="1100" u="none" cap="none" strike="noStrike">
                <a:solidFill>
                  <a:srgbClr val="FFFFFF"/>
                </a:solidFill>
                <a:latin typeface="Inter"/>
                <a:ea typeface="Inter"/>
                <a:cs typeface="Inter"/>
                <a:sym typeface="Inter"/>
              </a:endParaRPr>
            </a:p>
          </p:txBody>
        </p:sp>
        <p:sp>
          <p:nvSpPr>
            <p:cNvPr id="226" name="Google Shape;226;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Xác nhận kích thước và mặt sàn</a:t>
              </a:r>
              <a:endParaRPr b="1" i="0" sz="1300" u="none" cap="none" strike="noStrike">
                <a:solidFill>
                  <a:srgbClr val="1C2B34"/>
                </a:solidFill>
                <a:latin typeface="Inter"/>
                <a:ea typeface="Inter"/>
                <a:cs typeface="Inter"/>
                <a:sym typeface="Inter"/>
              </a:endParaRPr>
            </a:p>
          </p:txBody>
        </p:sp>
        <p:sp>
          <p:nvSpPr>
            <p:cNvPr id="227" name="Google Shape;227;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Người dùng kiểm tra và xác nhận các thông số thực tế.</a:t>
              </a:r>
              <a:endParaRPr b="0" i="0" sz="1050" u="none" cap="none" strike="noStrike">
                <a:solidFill>
                  <a:srgbClr val="52606D"/>
                </a:solidFill>
                <a:latin typeface="Inter"/>
                <a:ea typeface="Inter"/>
                <a:cs typeface="Inter"/>
                <a:sym typeface="Inter"/>
              </a:endParaRPr>
            </a:p>
          </p:txBody>
        </p:sp>
      </p:grpSp>
      <p:grpSp>
        <p:nvGrpSpPr>
          <p:cNvPr id="228" name="Google Shape;228;h575f3ee0b5d7ded4_143_183"/>
          <p:cNvGrpSpPr/>
          <p:nvPr/>
        </p:nvGrpSpPr>
        <p:grpSpPr>
          <a:xfrm>
            <a:off x="8924925" y="1571625"/>
            <a:ext cx="2571900" cy="2095500"/>
            <a:chOff x="0" y="0"/>
            <a:chExt cx="2571900" cy="2095500"/>
          </a:xfrm>
        </p:grpSpPr>
        <p:sp>
          <p:nvSpPr>
            <p:cNvPr id="229" name="Google Shape;229;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h575f3ee0b5d7ded4_143_183"/>
            <p:cNvSpPr/>
            <p:nvPr/>
          </p:nvSpPr>
          <p:spPr>
            <a:xfrm>
              <a:off x="190500" y="190500"/>
              <a:ext cx="362100" cy="247800"/>
            </a:xfrm>
            <a:prstGeom prst="roundRect">
              <a:avLst>
                <a:gd fmla="val 30769"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04</a:t>
              </a:r>
              <a:endParaRPr b="1" i="0" sz="1100" u="none" cap="none" strike="noStrike">
                <a:solidFill>
                  <a:srgbClr val="FFFFFF"/>
                </a:solidFill>
                <a:latin typeface="Inter"/>
                <a:ea typeface="Inter"/>
                <a:cs typeface="Inter"/>
                <a:sym typeface="Inter"/>
              </a:endParaRPr>
            </a:p>
          </p:txBody>
        </p:sp>
        <p:sp>
          <p:nvSpPr>
            <p:cNvPr id="232" name="Google Shape;232;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Kiểm tra và duyệt vật thể</a:t>
              </a:r>
              <a:endParaRPr b="1" i="0" sz="1300" u="none" cap="none" strike="noStrike">
                <a:solidFill>
                  <a:srgbClr val="1C2B34"/>
                </a:solidFill>
                <a:latin typeface="Inter"/>
                <a:ea typeface="Inter"/>
                <a:cs typeface="Inter"/>
                <a:sym typeface="Inter"/>
              </a:endParaRPr>
            </a:p>
          </p:txBody>
        </p:sp>
        <p:sp>
          <p:nvSpPr>
            <p:cNvPr id="233" name="Google Shape;233;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Sau khi AI tự động tách vật thể và gom Gaussian, người dùng xem kết quả, chỉnh sửa nếu cần.</a:t>
              </a:r>
              <a:endParaRPr b="0" i="0" sz="1050" u="none" cap="none" strike="noStrike">
                <a:solidFill>
                  <a:srgbClr val="52606D"/>
                </a:solidFill>
                <a:latin typeface="Inter"/>
                <a:ea typeface="Inter"/>
                <a:cs typeface="Inter"/>
                <a:sym typeface="Inter"/>
              </a:endParaRPr>
            </a:p>
          </p:txBody>
        </p:sp>
      </p:grpSp>
      <p:grpSp>
        <p:nvGrpSpPr>
          <p:cNvPr id="234" name="Google Shape;234;h575f3ee0b5d7ded4_143_183"/>
          <p:cNvGrpSpPr/>
          <p:nvPr/>
        </p:nvGrpSpPr>
        <p:grpSpPr>
          <a:xfrm>
            <a:off x="2019300" y="3952875"/>
            <a:ext cx="2571900" cy="2095500"/>
            <a:chOff x="0" y="0"/>
            <a:chExt cx="2571900" cy="2095500"/>
          </a:xfrm>
        </p:grpSpPr>
        <p:sp>
          <p:nvSpPr>
            <p:cNvPr id="235" name="Google Shape;235;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h575f3ee0b5d7ded4_143_183"/>
            <p:cNvSpPr/>
            <p:nvPr/>
          </p:nvSpPr>
          <p:spPr>
            <a:xfrm>
              <a:off x="190500" y="190500"/>
              <a:ext cx="362100" cy="247800"/>
            </a:xfrm>
            <a:prstGeom prst="roundRect">
              <a:avLst>
                <a:gd fmla="val 30769"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05</a:t>
              </a:r>
              <a:endParaRPr b="1" i="0" sz="1100" u="none" cap="none" strike="noStrike">
                <a:solidFill>
                  <a:srgbClr val="FFFFFF"/>
                </a:solidFill>
                <a:latin typeface="Inter"/>
                <a:ea typeface="Inter"/>
                <a:cs typeface="Inter"/>
                <a:sym typeface="Inter"/>
              </a:endParaRPr>
            </a:p>
          </p:txBody>
        </p:sp>
        <p:sp>
          <p:nvSpPr>
            <p:cNvPr id="238" name="Google Shape;238;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Tạo mesh và collider</a:t>
              </a:r>
              <a:endParaRPr b="1" i="0" sz="1300" u="none" cap="none" strike="noStrike">
                <a:solidFill>
                  <a:srgbClr val="1C2B34"/>
                </a:solidFill>
                <a:latin typeface="Inter"/>
                <a:ea typeface="Inter"/>
                <a:cs typeface="Inter"/>
                <a:sym typeface="Inter"/>
              </a:endParaRPr>
            </a:p>
          </p:txBody>
        </p:sp>
        <p:sp>
          <p:nvSpPr>
            <p:cNvPr id="239" name="Google Shape;239;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Người dùng yêu cầu hệ thống tạo hình học và va chạm cho vật thể.</a:t>
              </a:r>
              <a:endParaRPr b="0" i="0" sz="1050" u="none" cap="none" strike="noStrike">
                <a:solidFill>
                  <a:srgbClr val="52606D"/>
                </a:solidFill>
                <a:latin typeface="Inter"/>
                <a:ea typeface="Inter"/>
                <a:cs typeface="Inter"/>
                <a:sym typeface="Inter"/>
              </a:endParaRPr>
            </a:p>
          </p:txBody>
        </p:sp>
      </p:grpSp>
      <p:grpSp>
        <p:nvGrpSpPr>
          <p:cNvPr id="240" name="Google Shape;240;h575f3ee0b5d7ded4_143_183"/>
          <p:cNvGrpSpPr/>
          <p:nvPr/>
        </p:nvGrpSpPr>
        <p:grpSpPr>
          <a:xfrm>
            <a:off x="4781550" y="3952875"/>
            <a:ext cx="2571900" cy="2095500"/>
            <a:chOff x="0" y="0"/>
            <a:chExt cx="2571900" cy="2095500"/>
          </a:xfrm>
        </p:grpSpPr>
        <p:sp>
          <p:nvSpPr>
            <p:cNvPr id="241" name="Google Shape;241;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h575f3ee0b5d7ded4_143_183"/>
            <p:cNvSpPr/>
            <p:nvPr/>
          </p:nvSpPr>
          <p:spPr>
            <a:xfrm>
              <a:off x="190500" y="190500"/>
              <a:ext cx="362100" cy="247800"/>
            </a:xfrm>
            <a:prstGeom prst="roundRect">
              <a:avLst>
                <a:gd fmla="val 30768" name="adj"/>
              </a:avLst>
            </a:prstGeom>
            <a:solidFill>
              <a:srgbClr val="EAB30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06</a:t>
              </a:r>
              <a:endParaRPr b="1" i="0" sz="1100" u="none" cap="none" strike="noStrike">
                <a:solidFill>
                  <a:srgbClr val="FFFFFF"/>
                </a:solidFill>
                <a:latin typeface="Inter"/>
                <a:ea typeface="Inter"/>
                <a:cs typeface="Inter"/>
                <a:sym typeface="Inter"/>
              </a:endParaRPr>
            </a:p>
          </p:txBody>
        </p:sp>
        <p:sp>
          <p:nvSpPr>
            <p:cNvPr id="244" name="Google Shape;244;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Chỉnh sửa và kiểm tra scene</a:t>
              </a:r>
              <a:endParaRPr b="1" i="0" sz="1300" u="none" cap="none" strike="noStrike">
                <a:solidFill>
                  <a:srgbClr val="1C2B34"/>
                </a:solidFill>
                <a:latin typeface="Inter"/>
                <a:ea typeface="Inter"/>
                <a:cs typeface="Inter"/>
                <a:sym typeface="Inter"/>
              </a:endParaRPr>
            </a:p>
          </p:txBody>
        </p:sp>
        <p:sp>
          <p:nvSpPr>
            <p:cNvPr id="245" name="Google Shape;245;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Di chuyển, xoay vật thể và sử dụng Walk để kiểm tra tương tác.</a:t>
              </a:r>
              <a:endParaRPr b="0" i="0" sz="1050" u="none" cap="none" strike="noStrike">
                <a:solidFill>
                  <a:srgbClr val="52606D"/>
                </a:solidFill>
                <a:latin typeface="Inter"/>
                <a:ea typeface="Inter"/>
                <a:cs typeface="Inter"/>
                <a:sym typeface="Inter"/>
              </a:endParaRPr>
            </a:p>
          </p:txBody>
        </p:sp>
      </p:grpSp>
      <p:grpSp>
        <p:nvGrpSpPr>
          <p:cNvPr id="246" name="Google Shape;246;h575f3ee0b5d7ded4_143_183"/>
          <p:cNvGrpSpPr/>
          <p:nvPr/>
        </p:nvGrpSpPr>
        <p:grpSpPr>
          <a:xfrm>
            <a:off x="7543800" y="3952875"/>
            <a:ext cx="2571900" cy="2095500"/>
            <a:chOff x="0" y="0"/>
            <a:chExt cx="2571900" cy="2095500"/>
          </a:xfrm>
        </p:grpSpPr>
        <p:sp>
          <p:nvSpPr>
            <p:cNvPr id="247" name="Google Shape;247;h575f3ee0b5d7ded4_143_183"/>
            <p:cNvSpPr/>
            <p:nvPr/>
          </p:nvSpPr>
          <p:spPr>
            <a:xfrm>
              <a:off x="0" y="0"/>
              <a:ext cx="2571900" cy="2095500"/>
            </a:xfrm>
            <a:prstGeom prst="roundRect">
              <a:avLst>
                <a:gd fmla="val 6363" name="adj"/>
              </a:avLst>
            </a:prstGeom>
            <a:solidFill>
              <a:srgbClr val="FFFFFF"/>
            </a:solidFill>
            <a:ln cap="flat" cmpd="sng" w="114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h575f3ee0b5d7ded4_143_183"/>
            <p:cNvSpPr/>
            <p:nvPr/>
          </p:nvSpPr>
          <p:spPr>
            <a:xfrm>
              <a:off x="190500" y="190500"/>
              <a:ext cx="362100" cy="247800"/>
            </a:xfrm>
            <a:prstGeom prst="roundRect">
              <a:avLst>
                <a:gd fmla="val 30769" name="adj"/>
              </a:avLst>
            </a:pr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h575f3ee0b5d7ded4_143_183"/>
            <p:cNvSpPr txBox="1"/>
            <p:nvPr/>
          </p:nvSpPr>
          <p:spPr>
            <a:xfrm>
              <a:off x="190500" y="190500"/>
              <a:ext cx="362100" cy="247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Inter"/>
                  <a:ea typeface="Inter"/>
                  <a:cs typeface="Inter"/>
                  <a:sym typeface="Inter"/>
                </a:rPr>
                <a:t>07</a:t>
              </a:r>
              <a:endParaRPr b="1" i="0" sz="1100" u="none" cap="none" strike="noStrike">
                <a:solidFill>
                  <a:srgbClr val="FFFFFF"/>
                </a:solidFill>
                <a:latin typeface="Inter"/>
                <a:ea typeface="Inter"/>
                <a:cs typeface="Inter"/>
                <a:sym typeface="Inter"/>
              </a:endParaRPr>
            </a:p>
          </p:txBody>
        </p:sp>
        <p:sp>
          <p:nvSpPr>
            <p:cNvPr id="250" name="Google Shape;250;h575f3ee0b5d7ded4_143_183"/>
            <p:cNvSpPr txBox="1"/>
            <p:nvPr/>
          </p:nvSpPr>
          <p:spPr>
            <a:xfrm>
              <a:off x="190500" y="533400"/>
              <a:ext cx="2190900" cy="4572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C2B34"/>
                  </a:solidFill>
                  <a:latin typeface="Inter"/>
                  <a:ea typeface="Inter"/>
                  <a:cs typeface="Inter"/>
                  <a:sym typeface="Inter"/>
                </a:rPr>
                <a:t>Xuất gói mô phỏng</a:t>
              </a:r>
              <a:endParaRPr b="1" i="0" sz="1300" u="none" cap="none" strike="noStrike">
                <a:solidFill>
                  <a:srgbClr val="1C2B34"/>
                </a:solidFill>
                <a:latin typeface="Inter"/>
                <a:ea typeface="Inter"/>
                <a:cs typeface="Inter"/>
                <a:sym typeface="Inter"/>
              </a:endParaRPr>
            </a:p>
          </p:txBody>
        </p:sp>
        <p:sp>
          <p:nvSpPr>
            <p:cNvPr id="251" name="Google Shape;251;h575f3ee0b5d7ded4_143_183"/>
            <p:cNvSpPr txBox="1"/>
            <p:nvPr/>
          </p:nvSpPr>
          <p:spPr>
            <a:xfrm>
              <a:off x="190500" y="1047750"/>
              <a:ext cx="2190900" cy="9048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52606D"/>
                  </a:solidFill>
                  <a:latin typeface="Inter"/>
                  <a:ea typeface="Inter"/>
                  <a:cs typeface="Inter"/>
                  <a:sym typeface="Inter"/>
                </a:rPr>
                <a:t>Kiểm tra điều kiện xuất và chuẩn bị gói OpenUSD cho Isaac Sim.</a:t>
              </a:r>
              <a:endParaRPr b="0" i="0" sz="1050" u="none" cap="none" strike="noStrike">
                <a:solidFill>
                  <a:srgbClr val="52606D"/>
                </a:solidFill>
                <a:latin typeface="Inter"/>
                <a:ea typeface="Inter"/>
                <a:cs typeface="Inter"/>
                <a:sym typeface="Inter"/>
              </a:endParaRPr>
            </a:p>
          </p:txBody>
        </p:sp>
      </p:grpSp>
      <p:sp>
        <p:nvSpPr>
          <p:cNvPr id="252" name="Google Shape;252;h575f3ee0b5d7ded4_143_183"/>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grpSp>
        <p:nvGrpSpPr>
          <p:cNvPr id="253" name="Google Shape;253;h575f3ee0b5d7ded4_143_183"/>
          <p:cNvGrpSpPr/>
          <p:nvPr/>
        </p:nvGrpSpPr>
        <p:grpSpPr>
          <a:xfrm>
            <a:off x="3238500" y="2581275"/>
            <a:ext cx="5676900" cy="2457450"/>
            <a:chOff x="3238500" y="2581275"/>
            <a:chExt cx="5676900" cy="2457450"/>
          </a:xfrm>
        </p:grpSpPr>
        <p:sp>
          <p:nvSpPr>
            <p:cNvPr id="254" name="Google Shape;254;h575f3ee0b5d7ded4_143_183"/>
            <p:cNvSpPr/>
            <p:nvPr/>
          </p:nvSpPr>
          <p:spPr>
            <a:xfrm>
              <a:off x="3238500" y="2619375"/>
              <a:ext cx="114300" cy="0"/>
            </a:xfrm>
            <a:custGeom>
              <a:rect b="b" l="l" r="r" t="t"/>
              <a:pathLst>
                <a:path extrusionOk="0" fill="none" h="120000" w="120000">
                  <a:moveTo>
                    <a:pt x="0" y="0"/>
                  </a:moveTo>
                  <a:lnTo>
                    <a:pt x="120000" y="0"/>
                  </a:lnTo>
                </a:path>
              </a:pathLst>
            </a:custGeom>
            <a:solidFill>
              <a:srgbClr val="FFFFFF"/>
            </a:solidFill>
            <a:ln cap="rnd" cmpd="sng" w="19050">
              <a:solidFill>
                <a:srgbClr val="0E828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h575f3ee0b5d7ded4_143_183"/>
            <p:cNvSpPr/>
            <p:nvPr/>
          </p:nvSpPr>
          <p:spPr>
            <a:xfrm>
              <a:off x="3352800" y="2581275"/>
              <a:ext cx="38100" cy="76200"/>
            </a:xfrm>
            <a:custGeom>
              <a:rect b="b" l="l" r="r" t="t"/>
              <a:pathLst>
                <a:path extrusionOk="0" h="120000" w="120000">
                  <a:moveTo>
                    <a:pt x="0" y="0"/>
                  </a:moveTo>
                  <a:lnTo>
                    <a:pt x="120000" y="60000"/>
                  </a:lnTo>
                  <a:lnTo>
                    <a:pt x="0" y="120000"/>
                  </a:lnTo>
                  <a:close/>
                </a:path>
              </a:pathLst>
            </a:cu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h575f3ee0b5d7ded4_143_183"/>
            <p:cNvSpPr/>
            <p:nvPr/>
          </p:nvSpPr>
          <p:spPr>
            <a:xfrm>
              <a:off x="6000750" y="2619375"/>
              <a:ext cx="114300" cy="0"/>
            </a:xfrm>
            <a:custGeom>
              <a:rect b="b" l="l" r="r" t="t"/>
              <a:pathLst>
                <a:path extrusionOk="0" fill="none" h="120000" w="120000">
                  <a:moveTo>
                    <a:pt x="0" y="0"/>
                  </a:moveTo>
                  <a:lnTo>
                    <a:pt x="120000" y="0"/>
                  </a:lnTo>
                </a:path>
              </a:pathLst>
            </a:custGeom>
            <a:solidFill>
              <a:srgbClr val="FFFFFF"/>
            </a:solidFill>
            <a:ln cap="rnd" cmpd="sng" w="19050">
              <a:solidFill>
                <a:srgbClr val="0E828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h575f3ee0b5d7ded4_143_183"/>
            <p:cNvSpPr/>
            <p:nvPr/>
          </p:nvSpPr>
          <p:spPr>
            <a:xfrm>
              <a:off x="6115050" y="2581275"/>
              <a:ext cx="38100" cy="76200"/>
            </a:xfrm>
            <a:custGeom>
              <a:rect b="b" l="l" r="r" t="t"/>
              <a:pathLst>
                <a:path extrusionOk="0" h="120000" w="120000">
                  <a:moveTo>
                    <a:pt x="0" y="0"/>
                  </a:moveTo>
                  <a:lnTo>
                    <a:pt x="120000" y="60000"/>
                  </a:lnTo>
                  <a:lnTo>
                    <a:pt x="0" y="120000"/>
                  </a:lnTo>
                  <a:close/>
                </a:path>
              </a:pathLst>
            </a:cu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h575f3ee0b5d7ded4_143_183"/>
            <p:cNvSpPr/>
            <p:nvPr/>
          </p:nvSpPr>
          <p:spPr>
            <a:xfrm>
              <a:off x="8763000" y="2619375"/>
              <a:ext cx="114300" cy="0"/>
            </a:xfrm>
            <a:custGeom>
              <a:rect b="b" l="l" r="r" t="t"/>
              <a:pathLst>
                <a:path extrusionOk="0" fill="none" h="120000" w="120000">
                  <a:moveTo>
                    <a:pt x="0" y="0"/>
                  </a:moveTo>
                  <a:lnTo>
                    <a:pt x="120000" y="0"/>
                  </a:lnTo>
                </a:path>
              </a:pathLst>
            </a:custGeom>
            <a:solidFill>
              <a:srgbClr val="FFFFFF"/>
            </a:solidFill>
            <a:ln cap="rnd" cmpd="sng" w="19050">
              <a:solidFill>
                <a:srgbClr val="0E828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h575f3ee0b5d7ded4_143_183"/>
            <p:cNvSpPr/>
            <p:nvPr/>
          </p:nvSpPr>
          <p:spPr>
            <a:xfrm>
              <a:off x="8877300" y="2581275"/>
              <a:ext cx="38100" cy="76200"/>
            </a:xfrm>
            <a:custGeom>
              <a:rect b="b" l="l" r="r" t="t"/>
              <a:pathLst>
                <a:path extrusionOk="0" h="120000" w="120000">
                  <a:moveTo>
                    <a:pt x="0" y="0"/>
                  </a:moveTo>
                  <a:lnTo>
                    <a:pt x="120000" y="60000"/>
                  </a:lnTo>
                  <a:lnTo>
                    <a:pt x="0" y="120000"/>
                  </a:lnTo>
                  <a:close/>
                </a:path>
              </a:pathLst>
            </a:cu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h575f3ee0b5d7ded4_143_183"/>
            <p:cNvSpPr/>
            <p:nvPr/>
          </p:nvSpPr>
          <p:spPr>
            <a:xfrm>
              <a:off x="4619625" y="5000625"/>
              <a:ext cx="114300" cy="0"/>
            </a:xfrm>
            <a:custGeom>
              <a:rect b="b" l="l" r="r" t="t"/>
              <a:pathLst>
                <a:path extrusionOk="0" fill="none" h="120000" w="120000">
                  <a:moveTo>
                    <a:pt x="0" y="0"/>
                  </a:moveTo>
                  <a:lnTo>
                    <a:pt x="120000" y="0"/>
                  </a:lnTo>
                </a:path>
              </a:pathLst>
            </a:custGeom>
            <a:solidFill>
              <a:srgbClr val="FFFFFF"/>
            </a:solidFill>
            <a:ln cap="rnd" cmpd="sng" w="19050">
              <a:solidFill>
                <a:srgbClr val="0E828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h575f3ee0b5d7ded4_143_183"/>
            <p:cNvSpPr/>
            <p:nvPr/>
          </p:nvSpPr>
          <p:spPr>
            <a:xfrm>
              <a:off x="4733925" y="4962525"/>
              <a:ext cx="38100" cy="76200"/>
            </a:xfrm>
            <a:custGeom>
              <a:rect b="b" l="l" r="r" t="t"/>
              <a:pathLst>
                <a:path extrusionOk="0" h="120000" w="120000">
                  <a:moveTo>
                    <a:pt x="0" y="0"/>
                  </a:moveTo>
                  <a:lnTo>
                    <a:pt x="120000" y="60000"/>
                  </a:lnTo>
                  <a:lnTo>
                    <a:pt x="0" y="120000"/>
                  </a:lnTo>
                  <a:close/>
                </a:path>
              </a:pathLst>
            </a:cu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h575f3ee0b5d7ded4_143_183"/>
            <p:cNvSpPr/>
            <p:nvPr/>
          </p:nvSpPr>
          <p:spPr>
            <a:xfrm>
              <a:off x="7381875" y="5000625"/>
              <a:ext cx="114300" cy="0"/>
            </a:xfrm>
            <a:custGeom>
              <a:rect b="b" l="l" r="r" t="t"/>
              <a:pathLst>
                <a:path extrusionOk="0" fill="none" h="120000" w="120000">
                  <a:moveTo>
                    <a:pt x="0" y="0"/>
                  </a:moveTo>
                  <a:lnTo>
                    <a:pt x="120000" y="0"/>
                  </a:lnTo>
                </a:path>
              </a:pathLst>
            </a:custGeom>
            <a:solidFill>
              <a:srgbClr val="FFFFFF"/>
            </a:solidFill>
            <a:ln cap="rnd" cmpd="sng" w="19050">
              <a:solidFill>
                <a:srgbClr val="0E828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h575f3ee0b5d7ded4_143_183"/>
            <p:cNvSpPr/>
            <p:nvPr/>
          </p:nvSpPr>
          <p:spPr>
            <a:xfrm>
              <a:off x="7496175" y="4962525"/>
              <a:ext cx="38100" cy="76200"/>
            </a:xfrm>
            <a:custGeom>
              <a:rect b="b" l="l" r="r" t="t"/>
              <a:pathLst>
                <a:path extrusionOk="0" h="120000" w="120000">
                  <a:moveTo>
                    <a:pt x="0" y="0"/>
                  </a:moveTo>
                  <a:lnTo>
                    <a:pt x="120000" y="60000"/>
                  </a:lnTo>
                  <a:lnTo>
                    <a:pt x="0" y="120000"/>
                  </a:lnTo>
                  <a:close/>
                </a:path>
              </a:pathLst>
            </a:custGeom>
            <a:solidFill>
              <a:srgbClr val="0E8283"/>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268" name="Shape 268"/>
        <p:cNvGrpSpPr/>
        <p:nvPr/>
      </p:nvGrpSpPr>
      <p:grpSpPr>
        <a:xfrm>
          <a:off x="0" y="0"/>
          <a:ext cx="0" cy="0"/>
          <a:chOff x="0" y="0"/>
          <a:chExt cx="0" cy="0"/>
        </a:xfrm>
      </p:grpSpPr>
      <p:sp>
        <p:nvSpPr>
          <p:cNvPr id="269" name="Google Shape;269;h575f3ee0b5d7ded4_143_246"/>
          <p:cNvSpPr/>
          <p:nvPr/>
        </p:nvSpPr>
        <p:spPr>
          <a:xfrm>
            <a:off x="0" y="0"/>
            <a:ext cx="12192000" cy="53035"/>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h575f3ee0b5d7ded4_143_246"/>
          <p:cNvSpPr/>
          <p:nvPr/>
        </p:nvSpPr>
        <p:spPr>
          <a:xfrm>
            <a:off x="640080" y="292608"/>
            <a:ext cx="108813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09   /   THIẾT KẾ HỆ THỐNG</a:t>
            </a:r>
            <a:endParaRPr b="0" i="0" sz="1400" u="none" cap="none" strike="noStrike">
              <a:solidFill>
                <a:schemeClr val="dk1"/>
              </a:solidFill>
              <a:latin typeface="Inter"/>
              <a:ea typeface="Inter"/>
              <a:cs typeface="Inter"/>
              <a:sym typeface="Inter"/>
            </a:endParaRPr>
          </a:p>
        </p:txBody>
      </p:sp>
      <p:cxnSp>
        <p:nvCxnSpPr>
          <p:cNvPr id="271" name="Google Shape;271;h575f3ee0b5d7ded4_143_246"/>
          <p:cNvCxnSpPr/>
          <p:nvPr/>
        </p:nvCxnSpPr>
        <p:spPr>
          <a:xfrm>
            <a:off x="640080" y="6501384"/>
            <a:ext cx="10899648" cy="0"/>
          </a:xfrm>
          <a:prstGeom prst="straightConnector1">
            <a:avLst/>
          </a:prstGeom>
          <a:noFill/>
          <a:ln cap="flat" cmpd="sng" w="9525">
            <a:solidFill>
              <a:srgbClr val="DBE3DD"/>
            </a:solidFill>
            <a:prstDash val="solid"/>
            <a:round/>
            <a:headEnd len="sm" w="sm" type="none"/>
            <a:tailEnd len="sm" w="sm" type="none"/>
          </a:ln>
        </p:spPr>
      </p:cxnSp>
      <p:sp>
        <p:nvSpPr>
          <p:cNvPr id="272" name="Google Shape;272;h575f3ee0b5d7ded4_143_246"/>
          <p:cNvSpPr/>
          <p:nvPr/>
        </p:nvSpPr>
        <p:spPr>
          <a:xfrm>
            <a:off x="10844784" y="6565392"/>
            <a:ext cx="694944" cy="155448"/>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09 / 12</a:t>
            </a:r>
            <a:endParaRPr b="0" i="0" sz="940" u="none" cap="none" strike="noStrike">
              <a:solidFill>
                <a:schemeClr val="dk1"/>
              </a:solidFill>
              <a:latin typeface="Inter"/>
              <a:ea typeface="Inter"/>
              <a:cs typeface="Inter"/>
              <a:sym typeface="Inter"/>
            </a:endParaRPr>
          </a:p>
        </p:txBody>
      </p:sp>
      <p:sp>
        <p:nvSpPr>
          <p:cNvPr id="273" name="Google Shape;273;h575f3ee0b5d7ded4_143_246"/>
          <p:cNvSpPr/>
          <p:nvPr/>
        </p:nvSpPr>
        <p:spPr>
          <a:xfrm>
            <a:off x="640080" y="768096"/>
            <a:ext cx="10954512" cy="70408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550"/>
              <a:buFont typeface="Inter"/>
              <a:buNone/>
            </a:pPr>
            <a:r>
              <a:rPr b="1" i="0" lang="en-US" sz="2550" u="none" cap="none" strike="noStrike">
                <a:solidFill>
                  <a:srgbClr val="1C2B34"/>
                </a:solidFill>
                <a:latin typeface="Inter"/>
                <a:ea typeface="Inter"/>
                <a:cs typeface="Inter"/>
                <a:sym typeface="Inter"/>
              </a:rPr>
              <a:t>Các thành phần kỹ thuật được kết nối như thế nào?</a:t>
            </a:r>
            <a:endParaRPr b="0" i="0" sz="2550" u="none" cap="none" strike="noStrike">
              <a:solidFill>
                <a:schemeClr val="dk1"/>
              </a:solidFill>
              <a:latin typeface="Inter"/>
              <a:ea typeface="Inter"/>
              <a:cs typeface="Inter"/>
              <a:sym typeface="Inter"/>
            </a:endParaRPr>
          </a:p>
        </p:txBody>
      </p:sp>
      <p:sp>
        <p:nvSpPr>
          <p:cNvPr id="274" name="Google Shape;274;h575f3ee0b5d7ded4_143_246"/>
          <p:cNvSpPr/>
          <p:nvPr/>
        </p:nvSpPr>
        <p:spPr>
          <a:xfrm>
            <a:off x="649224" y="1554480"/>
            <a:ext cx="10881360" cy="52120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Pipeline hiện tại chia thành tái dựng hình ảnh, tách vật thể và dựng hình học, rồi quản lý scene để xuất dữ liệu.</a:t>
            </a:r>
            <a:endParaRPr b="0" i="0" sz="1600" u="none" cap="none" strike="noStrike">
              <a:solidFill>
                <a:schemeClr val="dk1"/>
              </a:solidFill>
              <a:latin typeface="Inter"/>
              <a:ea typeface="Inter"/>
              <a:cs typeface="Inter"/>
              <a:sym typeface="Inter"/>
            </a:endParaRPr>
          </a:p>
        </p:txBody>
      </p:sp>
      <p:sp>
        <p:nvSpPr>
          <p:cNvPr id="275" name="Google Shape;275;h575f3ee0b5d7ded4_143_246"/>
          <p:cNvSpPr/>
          <p:nvPr/>
        </p:nvSpPr>
        <p:spPr>
          <a:xfrm>
            <a:off x="685800" y="2167128"/>
            <a:ext cx="1069848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150" u="none" cap="none" strike="noStrike">
                <a:solidFill>
                  <a:srgbClr val="0E8283"/>
                </a:solidFill>
                <a:latin typeface="Inter"/>
                <a:ea typeface="Inter"/>
                <a:cs typeface="Inter"/>
                <a:sym typeface="Inter"/>
              </a:rPr>
              <a:t>LỚP 1  ·  TÁI DỰNG &amp; CĂN CHỈNH</a:t>
            </a:r>
            <a:endParaRPr b="0" i="0" sz="1150" u="none" cap="none" strike="noStrike">
              <a:solidFill>
                <a:schemeClr val="dk1"/>
              </a:solidFill>
              <a:latin typeface="Inter"/>
              <a:ea typeface="Inter"/>
              <a:cs typeface="Inter"/>
              <a:sym typeface="Inter"/>
            </a:endParaRPr>
          </a:p>
        </p:txBody>
      </p:sp>
      <p:sp>
        <p:nvSpPr>
          <p:cNvPr id="276" name="Google Shape;276;h575f3ee0b5d7ded4_143_246"/>
          <p:cNvSpPr/>
          <p:nvPr/>
        </p:nvSpPr>
        <p:spPr>
          <a:xfrm>
            <a:off x="658368" y="2487168"/>
            <a:ext cx="2441448" cy="1088136"/>
          </a:xfrm>
          <a:prstGeom prst="roundRect">
            <a:avLst>
              <a:gd fmla="val 11765"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h575f3ee0b5d7ded4_143_246"/>
          <p:cNvSpPr/>
          <p:nvPr/>
        </p:nvSpPr>
        <p:spPr>
          <a:xfrm>
            <a:off x="832104" y="2679192"/>
            <a:ext cx="2093976" cy="310896"/>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729"/>
              <a:buFont typeface="Inter"/>
              <a:buNone/>
            </a:pPr>
            <a:r>
              <a:rPr b="1" i="0" lang="en-US" sz="1730" u="none" cap="none" strike="noStrike">
                <a:solidFill>
                  <a:srgbClr val="1C2B34"/>
                </a:solidFill>
                <a:latin typeface="Inter"/>
                <a:ea typeface="Inter"/>
                <a:cs typeface="Inter"/>
                <a:sym typeface="Inter"/>
              </a:rPr>
              <a:t>Video RGB</a:t>
            </a:r>
            <a:endParaRPr b="0" i="0" sz="1730" u="none" cap="none" strike="noStrike">
              <a:solidFill>
                <a:schemeClr val="dk1"/>
              </a:solidFill>
              <a:latin typeface="Inter"/>
              <a:ea typeface="Inter"/>
              <a:cs typeface="Inter"/>
              <a:sym typeface="Inter"/>
            </a:endParaRPr>
          </a:p>
        </p:txBody>
      </p:sp>
      <p:sp>
        <p:nvSpPr>
          <p:cNvPr id="278" name="Google Shape;278;h575f3ee0b5d7ded4_143_246"/>
          <p:cNvSpPr/>
          <p:nvPr/>
        </p:nvSpPr>
        <p:spPr>
          <a:xfrm>
            <a:off x="813816" y="3127248"/>
            <a:ext cx="2130552" cy="228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90"/>
              <a:buFont typeface="Inter"/>
              <a:buNone/>
            </a:pPr>
            <a:r>
              <a:rPr b="0" i="0" lang="en-US" sz="1390" u="none" cap="none" strike="noStrike">
                <a:solidFill>
                  <a:srgbClr val="63747B"/>
                </a:solidFill>
                <a:latin typeface="Inter"/>
                <a:ea typeface="Inter"/>
                <a:cs typeface="Inter"/>
                <a:sym typeface="Inter"/>
              </a:rPr>
              <a:t>FFmpeg / input checks</a:t>
            </a:r>
            <a:endParaRPr b="0" i="0" sz="1390" u="none" cap="none" strike="noStrike">
              <a:solidFill>
                <a:schemeClr val="dk1"/>
              </a:solidFill>
              <a:latin typeface="Inter"/>
              <a:ea typeface="Inter"/>
              <a:cs typeface="Inter"/>
              <a:sym typeface="Inter"/>
            </a:endParaRPr>
          </a:p>
        </p:txBody>
      </p:sp>
      <p:sp>
        <p:nvSpPr>
          <p:cNvPr id="279" name="Google Shape;279;h575f3ee0b5d7ded4_143_246"/>
          <p:cNvSpPr/>
          <p:nvPr/>
        </p:nvSpPr>
        <p:spPr>
          <a:xfrm>
            <a:off x="3200400" y="2871216"/>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280" name="Google Shape;280;h575f3ee0b5d7ded4_143_246"/>
          <p:cNvSpPr/>
          <p:nvPr/>
        </p:nvSpPr>
        <p:spPr>
          <a:xfrm>
            <a:off x="3474720" y="2487168"/>
            <a:ext cx="2441448" cy="1088136"/>
          </a:xfrm>
          <a:prstGeom prst="roundRect">
            <a:avLst>
              <a:gd fmla="val 11765"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h575f3ee0b5d7ded4_143_246"/>
          <p:cNvSpPr/>
          <p:nvPr/>
        </p:nvSpPr>
        <p:spPr>
          <a:xfrm>
            <a:off x="3648456" y="2679192"/>
            <a:ext cx="2093976" cy="310896"/>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729"/>
              <a:buFont typeface="Inter"/>
              <a:buNone/>
            </a:pPr>
            <a:r>
              <a:rPr b="1" i="0" lang="en-US" sz="1730" u="none" cap="none" strike="noStrike">
                <a:solidFill>
                  <a:srgbClr val="1C2B34"/>
                </a:solidFill>
                <a:latin typeface="Inter"/>
                <a:ea typeface="Inter"/>
                <a:cs typeface="Inter"/>
                <a:sym typeface="Inter"/>
              </a:rPr>
              <a:t>Camera Pose</a:t>
            </a:r>
            <a:endParaRPr b="0" i="0" sz="1730" u="none" cap="none" strike="noStrike">
              <a:solidFill>
                <a:schemeClr val="dk1"/>
              </a:solidFill>
              <a:latin typeface="Inter"/>
              <a:ea typeface="Inter"/>
              <a:cs typeface="Inter"/>
              <a:sym typeface="Inter"/>
            </a:endParaRPr>
          </a:p>
        </p:txBody>
      </p:sp>
      <p:sp>
        <p:nvSpPr>
          <p:cNvPr id="282" name="Google Shape;282;h575f3ee0b5d7ded4_143_246"/>
          <p:cNvSpPr/>
          <p:nvPr/>
        </p:nvSpPr>
        <p:spPr>
          <a:xfrm>
            <a:off x="3630168" y="3127248"/>
            <a:ext cx="2130552" cy="228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90"/>
              <a:buFont typeface="Inter"/>
              <a:buNone/>
            </a:pPr>
            <a:r>
              <a:rPr b="0" i="0" lang="en-US" sz="1390" u="none" cap="none" strike="noStrike">
                <a:solidFill>
                  <a:srgbClr val="63747B"/>
                </a:solidFill>
                <a:latin typeface="Inter"/>
                <a:ea typeface="Inter"/>
                <a:cs typeface="Inter"/>
                <a:sym typeface="Inter"/>
              </a:rPr>
              <a:t>COLMAP</a:t>
            </a:r>
            <a:endParaRPr b="0" i="0" sz="1390" u="none" cap="none" strike="noStrike">
              <a:solidFill>
                <a:schemeClr val="dk1"/>
              </a:solidFill>
              <a:latin typeface="Inter"/>
              <a:ea typeface="Inter"/>
              <a:cs typeface="Inter"/>
              <a:sym typeface="Inter"/>
            </a:endParaRPr>
          </a:p>
        </p:txBody>
      </p:sp>
      <p:sp>
        <p:nvSpPr>
          <p:cNvPr id="283" name="Google Shape;283;h575f3ee0b5d7ded4_143_246"/>
          <p:cNvSpPr/>
          <p:nvPr/>
        </p:nvSpPr>
        <p:spPr>
          <a:xfrm>
            <a:off x="6016752" y="2871216"/>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284" name="Google Shape;284;h575f3ee0b5d7ded4_143_246"/>
          <p:cNvSpPr/>
          <p:nvPr/>
        </p:nvSpPr>
        <p:spPr>
          <a:xfrm>
            <a:off x="6291072" y="2487168"/>
            <a:ext cx="2441448" cy="1088136"/>
          </a:xfrm>
          <a:prstGeom prst="roundRect">
            <a:avLst>
              <a:gd fmla="val 11765"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h575f3ee0b5d7ded4_143_246"/>
          <p:cNvSpPr/>
          <p:nvPr/>
        </p:nvSpPr>
        <p:spPr>
          <a:xfrm>
            <a:off x="6464808" y="2679192"/>
            <a:ext cx="2093976" cy="310896"/>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729"/>
              <a:buFont typeface="Inter"/>
              <a:buNone/>
            </a:pPr>
            <a:r>
              <a:rPr b="1" i="0" lang="en-US" sz="1730" u="none" cap="none" strike="noStrike">
                <a:solidFill>
                  <a:srgbClr val="1C2B34"/>
                </a:solidFill>
                <a:latin typeface="Inter"/>
                <a:ea typeface="Inter"/>
                <a:cs typeface="Inter"/>
                <a:sym typeface="Inter"/>
              </a:rPr>
              <a:t>Visual 3D</a:t>
            </a:r>
            <a:endParaRPr b="0" i="0" sz="1730" u="none" cap="none" strike="noStrike">
              <a:solidFill>
                <a:schemeClr val="dk1"/>
              </a:solidFill>
              <a:latin typeface="Inter"/>
              <a:ea typeface="Inter"/>
              <a:cs typeface="Inter"/>
              <a:sym typeface="Inter"/>
            </a:endParaRPr>
          </a:p>
        </p:txBody>
      </p:sp>
      <p:sp>
        <p:nvSpPr>
          <p:cNvPr id="286" name="Google Shape;286;h575f3ee0b5d7ded4_143_246"/>
          <p:cNvSpPr/>
          <p:nvPr/>
        </p:nvSpPr>
        <p:spPr>
          <a:xfrm>
            <a:off x="6446520" y="3127248"/>
            <a:ext cx="2130552" cy="228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90"/>
              <a:buFont typeface="Inter"/>
              <a:buNone/>
            </a:pPr>
            <a:r>
              <a:rPr b="0" i="0" lang="en-US" sz="1390" u="none" cap="none" strike="noStrike">
                <a:solidFill>
                  <a:srgbClr val="63747B"/>
                </a:solidFill>
                <a:latin typeface="Inter"/>
                <a:ea typeface="Inter"/>
                <a:cs typeface="Inter"/>
                <a:sym typeface="Inter"/>
              </a:rPr>
              <a:t>Brush / 3DGS</a:t>
            </a:r>
            <a:endParaRPr b="0" i="0" sz="1390" u="none" cap="none" strike="noStrike">
              <a:solidFill>
                <a:schemeClr val="dk1"/>
              </a:solidFill>
              <a:latin typeface="Inter"/>
              <a:ea typeface="Inter"/>
              <a:cs typeface="Inter"/>
              <a:sym typeface="Inter"/>
            </a:endParaRPr>
          </a:p>
        </p:txBody>
      </p:sp>
      <p:sp>
        <p:nvSpPr>
          <p:cNvPr id="287" name="Google Shape;287;h575f3ee0b5d7ded4_143_246"/>
          <p:cNvSpPr/>
          <p:nvPr/>
        </p:nvSpPr>
        <p:spPr>
          <a:xfrm>
            <a:off x="8833104" y="2871216"/>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288" name="Google Shape;288;h575f3ee0b5d7ded4_143_246"/>
          <p:cNvSpPr/>
          <p:nvPr/>
        </p:nvSpPr>
        <p:spPr>
          <a:xfrm>
            <a:off x="9107424" y="2487168"/>
            <a:ext cx="2441448" cy="1088136"/>
          </a:xfrm>
          <a:prstGeom prst="roundRect">
            <a:avLst>
              <a:gd fmla="val 11765" name="adj"/>
            </a:avLst>
          </a:prstGeom>
          <a:solidFill>
            <a:srgbClr val="E9F4EF"/>
          </a:solidFill>
          <a:ln cap="flat" cmpd="sng" w="12700">
            <a:solidFill>
              <a:srgbClr val="E9F4E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h575f3ee0b5d7ded4_143_246"/>
          <p:cNvSpPr/>
          <p:nvPr/>
        </p:nvSpPr>
        <p:spPr>
          <a:xfrm>
            <a:off x="9281160" y="2679192"/>
            <a:ext cx="2093976" cy="310896"/>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729"/>
              <a:buFont typeface="Inter"/>
              <a:buNone/>
            </a:pPr>
            <a:r>
              <a:rPr b="1" i="0" lang="en-US" sz="1730" u="none" cap="none" strike="noStrike">
                <a:solidFill>
                  <a:srgbClr val="1C2B34"/>
                </a:solidFill>
                <a:latin typeface="Inter"/>
                <a:ea typeface="Inter"/>
                <a:cs typeface="Inter"/>
                <a:sym typeface="Inter"/>
              </a:rPr>
              <a:t>Hệ mét</a:t>
            </a:r>
            <a:endParaRPr b="0" i="0" sz="1730" u="none" cap="none" strike="noStrike">
              <a:solidFill>
                <a:schemeClr val="dk1"/>
              </a:solidFill>
              <a:latin typeface="Inter"/>
              <a:ea typeface="Inter"/>
              <a:cs typeface="Inter"/>
              <a:sym typeface="Inter"/>
            </a:endParaRPr>
          </a:p>
        </p:txBody>
      </p:sp>
      <p:sp>
        <p:nvSpPr>
          <p:cNvPr id="290" name="Google Shape;290;h575f3ee0b5d7ded4_143_246"/>
          <p:cNvSpPr/>
          <p:nvPr/>
        </p:nvSpPr>
        <p:spPr>
          <a:xfrm>
            <a:off x="9262872" y="3127248"/>
            <a:ext cx="2130552" cy="2286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90"/>
              <a:buFont typeface="Inter"/>
              <a:buNone/>
            </a:pPr>
            <a:r>
              <a:rPr b="0" i="0" lang="en-US" sz="1390" u="none" cap="none" strike="noStrike">
                <a:solidFill>
                  <a:srgbClr val="63747B"/>
                </a:solidFill>
                <a:latin typeface="Inter"/>
                <a:ea typeface="Inter"/>
                <a:cs typeface="Inter"/>
                <a:sym typeface="Inter"/>
              </a:rPr>
              <a:t>User confirmation</a:t>
            </a:r>
            <a:endParaRPr b="0" i="0" sz="1390" u="none" cap="none" strike="noStrike">
              <a:solidFill>
                <a:schemeClr val="dk1"/>
              </a:solidFill>
              <a:latin typeface="Inter"/>
              <a:ea typeface="Inter"/>
              <a:cs typeface="Inter"/>
              <a:sym typeface="Inter"/>
            </a:endParaRPr>
          </a:p>
        </p:txBody>
      </p:sp>
      <p:sp>
        <p:nvSpPr>
          <p:cNvPr id="291" name="Google Shape;291;h575f3ee0b5d7ded4_143_246"/>
          <p:cNvSpPr/>
          <p:nvPr/>
        </p:nvSpPr>
        <p:spPr>
          <a:xfrm>
            <a:off x="685800" y="3822192"/>
            <a:ext cx="1078992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150" u="none" cap="none" strike="noStrike">
                <a:solidFill>
                  <a:srgbClr val="0E8283"/>
                </a:solidFill>
                <a:latin typeface="Inter"/>
                <a:ea typeface="Inter"/>
                <a:cs typeface="Inter"/>
                <a:sym typeface="Inter"/>
              </a:rPr>
              <a:t>LỚP 2  ·  OBJECT, PHYSICS &amp; TÀI LIỆU BÀN GIAO</a:t>
            </a:r>
            <a:endParaRPr b="0" i="0" sz="1150" u="none" cap="none" strike="noStrike">
              <a:solidFill>
                <a:schemeClr val="dk1"/>
              </a:solidFill>
              <a:latin typeface="Inter"/>
              <a:ea typeface="Inter"/>
              <a:cs typeface="Inter"/>
              <a:sym typeface="Inter"/>
            </a:endParaRPr>
          </a:p>
        </p:txBody>
      </p:sp>
      <p:sp>
        <p:nvSpPr>
          <p:cNvPr id="292" name="Google Shape;292;h575f3ee0b5d7ded4_143_246"/>
          <p:cNvSpPr/>
          <p:nvPr/>
        </p:nvSpPr>
        <p:spPr>
          <a:xfrm>
            <a:off x="658368" y="4142232"/>
            <a:ext cx="2441448" cy="1179576"/>
          </a:xfrm>
          <a:prstGeom prst="roundRect">
            <a:avLst>
              <a:gd fmla="val 10853"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h575f3ee0b5d7ded4_143_246"/>
          <p:cNvSpPr/>
          <p:nvPr/>
        </p:nvSpPr>
        <p:spPr>
          <a:xfrm>
            <a:off x="786384" y="4352544"/>
            <a:ext cx="2185416" cy="30175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660"/>
              <a:buFont typeface="Inter"/>
              <a:buNone/>
            </a:pPr>
            <a:r>
              <a:rPr b="1" i="0" lang="en-US" sz="1660" u="none" cap="none" strike="noStrike">
                <a:solidFill>
                  <a:srgbClr val="1C2B34"/>
                </a:solidFill>
                <a:latin typeface="Inter"/>
                <a:ea typeface="Inter"/>
                <a:cs typeface="Inter"/>
                <a:sym typeface="Inter"/>
              </a:rPr>
              <a:t>Đề xuất object</a:t>
            </a:r>
            <a:endParaRPr b="0" i="0" sz="1660" u="none" cap="none" strike="noStrike">
              <a:solidFill>
                <a:schemeClr val="dk1"/>
              </a:solidFill>
              <a:latin typeface="Inter"/>
              <a:ea typeface="Inter"/>
              <a:cs typeface="Inter"/>
              <a:sym typeface="Inter"/>
            </a:endParaRPr>
          </a:p>
        </p:txBody>
      </p:sp>
      <p:sp>
        <p:nvSpPr>
          <p:cNvPr id="294" name="Google Shape;294;h575f3ee0b5d7ded4_143_246"/>
          <p:cNvSpPr/>
          <p:nvPr/>
        </p:nvSpPr>
        <p:spPr>
          <a:xfrm>
            <a:off x="786384" y="4818888"/>
            <a:ext cx="2185416" cy="25603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10"/>
              <a:buFont typeface="Inter"/>
              <a:buNone/>
            </a:pPr>
            <a:r>
              <a:rPr b="0" i="0" lang="en-US" sz="1310" u="none" cap="none" strike="noStrike">
                <a:solidFill>
                  <a:srgbClr val="63747B"/>
                </a:solidFill>
                <a:latin typeface="Inter"/>
                <a:ea typeface="Inter"/>
                <a:cs typeface="Inter"/>
                <a:sym typeface="Inter"/>
              </a:rPr>
              <a:t>SAMPro3D / SAM2</a:t>
            </a:r>
            <a:endParaRPr b="0" i="0" sz="1310" u="none" cap="none" strike="noStrike">
              <a:solidFill>
                <a:schemeClr val="dk1"/>
              </a:solidFill>
              <a:latin typeface="Inter"/>
              <a:ea typeface="Inter"/>
              <a:cs typeface="Inter"/>
              <a:sym typeface="Inter"/>
            </a:endParaRPr>
          </a:p>
        </p:txBody>
      </p:sp>
      <p:sp>
        <p:nvSpPr>
          <p:cNvPr id="295" name="Google Shape;295;h575f3ee0b5d7ded4_143_246"/>
          <p:cNvSpPr/>
          <p:nvPr/>
        </p:nvSpPr>
        <p:spPr>
          <a:xfrm>
            <a:off x="3200400" y="4553712"/>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296" name="Google Shape;296;h575f3ee0b5d7ded4_143_246"/>
          <p:cNvSpPr/>
          <p:nvPr/>
        </p:nvSpPr>
        <p:spPr>
          <a:xfrm>
            <a:off x="3474720" y="4142232"/>
            <a:ext cx="2441448" cy="1179576"/>
          </a:xfrm>
          <a:prstGeom prst="roundRect">
            <a:avLst>
              <a:gd fmla="val 10853" name="adj"/>
            </a:avLst>
          </a:prstGeom>
          <a:solidFill>
            <a:srgbClr val="E9F4EF"/>
          </a:solidFill>
          <a:ln cap="flat" cmpd="sng" w="12700">
            <a:solidFill>
              <a:srgbClr val="E9F4E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h575f3ee0b5d7ded4_143_246"/>
          <p:cNvSpPr/>
          <p:nvPr/>
        </p:nvSpPr>
        <p:spPr>
          <a:xfrm>
            <a:off x="3602736" y="4352544"/>
            <a:ext cx="2185416" cy="30175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660"/>
              <a:buFont typeface="Inter"/>
              <a:buNone/>
            </a:pPr>
            <a:r>
              <a:rPr b="1" i="0" lang="en-US" sz="1660" u="none" cap="none" strike="noStrike">
                <a:solidFill>
                  <a:srgbClr val="1C2B34"/>
                </a:solidFill>
                <a:latin typeface="Inter"/>
                <a:ea typeface="Inter"/>
                <a:cs typeface="Inter"/>
                <a:sym typeface="Inter"/>
              </a:rPr>
              <a:t>Duyệt Draft</a:t>
            </a:r>
            <a:endParaRPr b="0" i="0" sz="1660" u="none" cap="none" strike="noStrike">
              <a:solidFill>
                <a:schemeClr val="dk1"/>
              </a:solidFill>
              <a:latin typeface="Inter"/>
              <a:ea typeface="Inter"/>
              <a:cs typeface="Inter"/>
              <a:sym typeface="Inter"/>
            </a:endParaRPr>
          </a:p>
        </p:txBody>
      </p:sp>
      <p:sp>
        <p:nvSpPr>
          <p:cNvPr id="298" name="Google Shape;298;h575f3ee0b5d7ded4_143_246"/>
          <p:cNvSpPr/>
          <p:nvPr/>
        </p:nvSpPr>
        <p:spPr>
          <a:xfrm>
            <a:off x="3602736" y="4818888"/>
            <a:ext cx="2185416" cy="25603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10"/>
              <a:buFont typeface="Inter"/>
              <a:buNone/>
            </a:pPr>
            <a:r>
              <a:rPr b="0" i="0" lang="en-US" sz="1310" u="none" cap="none" strike="noStrike">
                <a:solidFill>
                  <a:srgbClr val="63747B"/>
                </a:solidFill>
                <a:latin typeface="Inter"/>
                <a:ea typeface="Inter"/>
                <a:cs typeface="Inter"/>
                <a:sym typeface="Inter"/>
              </a:rPr>
              <a:t>Region boxes / HITL</a:t>
            </a:r>
            <a:endParaRPr b="0" i="0" sz="1310" u="none" cap="none" strike="noStrike">
              <a:solidFill>
                <a:schemeClr val="dk1"/>
              </a:solidFill>
              <a:latin typeface="Inter"/>
              <a:ea typeface="Inter"/>
              <a:cs typeface="Inter"/>
              <a:sym typeface="Inter"/>
            </a:endParaRPr>
          </a:p>
        </p:txBody>
      </p:sp>
      <p:sp>
        <p:nvSpPr>
          <p:cNvPr id="299" name="Google Shape;299;h575f3ee0b5d7ded4_143_246"/>
          <p:cNvSpPr/>
          <p:nvPr/>
        </p:nvSpPr>
        <p:spPr>
          <a:xfrm>
            <a:off x="6016752" y="4553712"/>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300" name="Google Shape;300;h575f3ee0b5d7ded4_143_246"/>
          <p:cNvSpPr/>
          <p:nvPr/>
        </p:nvSpPr>
        <p:spPr>
          <a:xfrm>
            <a:off x="6291072" y="4142232"/>
            <a:ext cx="2441448" cy="1179576"/>
          </a:xfrm>
          <a:prstGeom prst="roundRect">
            <a:avLst>
              <a:gd fmla="val 10853"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h575f3ee0b5d7ded4_143_246"/>
          <p:cNvSpPr/>
          <p:nvPr/>
        </p:nvSpPr>
        <p:spPr>
          <a:xfrm>
            <a:off x="6419088" y="4352544"/>
            <a:ext cx="2185416" cy="30175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660"/>
              <a:buFont typeface="Inter"/>
              <a:buNone/>
            </a:pPr>
            <a:r>
              <a:rPr b="1" i="0" lang="en-US" sz="1660" u="none" cap="none" strike="noStrike">
                <a:solidFill>
                  <a:srgbClr val="1C2B34"/>
                </a:solidFill>
                <a:latin typeface="Inter"/>
                <a:ea typeface="Inter"/>
                <a:cs typeface="Inter"/>
                <a:sym typeface="Inter"/>
              </a:rPr>
              <a:t>Mesh &amp; Collider</a:t>
            </a:r>
            <a:endParaRPr b="0" i="0" sz="1660" u="none" cap="none" strike="noStrike">
              <a:solidFill>
                <a:schemeClr val="dk1"/>
              </a:solidFill>
              <a:latin typeface="Inter"/>
              <a:ea typeface="Inter"/>
              <a:cs typeface="Inter"/>
              <a:sym typeface="Inter"/>
            </a:endParaRPr>
          </a:p>
        </p:txBody>
      </p:sp>
      <p:sp>
        <p:nvSpPr>
          <p:cNvPr id="302" name="Google Shape;302;h575f3ee0b5d7ded4_143_246"/>
          <p:cNvSpPr/>
          <p:nvPr/>
        </p:nvSpPr>
        <p:spPr>
          <a:xfrm>
            <a:off x="6419088" y="4818888"/>
            <a:ext cx="2185416" cy="25603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10"/>
              <a:buFont typeface="Inter"/>
              <a:buNone/>
            </a:pPr>
            <a:r>
              <a:rPr b="0" i="0" lang="en-US" sz="1310" u="none" cap="none" strike="noStrike">
                <a:solidFill>
                  <a:srgbClr val="63747B"/>
                </a:solidFill>
                <a:latin typeface="Inter"/>
                <a:ea typeface="Inter"/>
                <a:cs typeface="Inter"/>
                <a:sym typeface="Inter"/>
              </a:rPr>
              <a:t>Gaussian shell + CoACD</a:t>
            </a:r>
            <a:endParaRPr b="0" i="0" sz="1310" u="none" cap="none" strike="noStrike">
              <a:solidFill>
                <a:schemeClr val="dk1"/>
              </a:solidFill>
              <a:latin typeface="Inter"/>
              <a:ea typeface="Inter"/>
              <a:cs typeface="Inter"/>
              <a:sym typeface="Inter"/>
            </a:endParaRPr>
          </a:p>
        </p:txBody>
      </p:sp>
      <p:sp>
        <p:nvSpPr>
          <p:cNvPr id="303" name="Google Shape;303;h575f3ee0b5d7ded4_143_246"/>
          <p:cNvSpPr/>
          <p:nvPr/>
        </p:nvSpPr>
        <p:spPr>
          <a:xfrm>
            <a:off x="8833104" y="4553712"/>
            <a:ext cx="246888" cy="33832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0E8283"/>
              </a:buClr>
              <a:buSzPts val="2700"/>
              <a:buFont typeface="Inter"/>
              <a:buNone/>
            </a:pPr>
            <a:r>
              <a:rPr b="1" i="0" lang="en-US" sz="2700" u="none" cap="none" strike="noStrike">
                <a:solidFill>
                  <a:srgbClr val="0E8283"/>
                </a:solidFill>
                <a:latin typeface="Inter"/>
                <a:ea typeface="Inter"/>
                <a:cs typeface="Inter"/>
                <a:sym typeface="Inter"/>
              </a:rPr>
              <a:t>›</a:t>
            </a:r>
            <a:endParaRPr b="0" i="0" sz="2700" u="none" cap="none" strike="noStrike">
              <a:solidFill>
                <a:schemeClr val="dk1"/>
              </a:solidFill>
              <a:latin typeface="Inter"/>
              <a:ea typeface="Inter"/>
              <a:cs typeface="Inter"/>
              <a:sym typeface="Inter"/>
            </a:endParaRPr>
          </a:p>
        </p:txBody>
      </p:sp>
      <p:sp>
        <p:nvSpPr>
          <p:cNvPr id="304" name="Google Shape;304;h575f3ee0b5d7ded4_143_246"/>
          <p:cNvSpPr/>
          <p:nvPr/>
        </p:nvSpPr>
        <p:spPr>
          <a:xfrm>
            <a:off x="9107424" y="4142232"/>
            <a:ext cx="2441448" cy="1179576"/>
          </a:xfrm>
          <a:prstGeom prst="roundRect">
            <a:avLst>
              <a:gd fmla="val 10853"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h575f3ee0b5d7ded4_143_246"/>
          <p:cNvSpPr/>
          <p:nvPr/>
        </p:nvSpPr>
        <p:spPr>
          <a:xfrm>
            <a:off x="9235440" y="4352544"/>
            <a:ext cx="2185416" cy="30175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C2B34"/>
              </a:buClr>
              <a:buSzPts val="1660"/>
              <a:buFont typeface="Inter"/>
              <a:buNone/>
            </a:pPr>
            <a:r>
              <a:rPr b="1" i="0" lang="en-US" sz="1660" u="none" cap="none" strike="noStrike">
                <a:solidFill>
                  <a:srgbClr val="1C2B34"/>
                </a:solidFill>
                <a:latin typeface="Inter"/>
                <a:ea typeface="Inter"/>
                <a:cs typeface="Inter"/>
                <a:sym typeface="Inter"/>
              </a:rPr>
              <a:t>Scene &amp; Export</a:t>
            </a:r>
            <a:endParaRPr b="0" i="0" sz="1660" u="none" cap="none" strike="noStrike">
              <a:solidFill>
                <a:schemeClr val="dk1"/>
              </a:solidFill>
              <a:latin typeface="Inter"/>
              <a:ea typeface="Inter"/>
              <a:cs typeface="Inter"/>
              <a:sym typeface="Inter"/>
            </a:endParaRPr>
          </a:p>
        </p:txBody>
      </p:sp>
      <p:sp>
        <p:nvSpPr>
          <p:cNvPr id="306" name="Google Shape;306;h575f3ee0b5d7ded4_143_246"/>
          <p:cNvSpPr/>
          <p:nvPr/>
        </p:nvSpPr>
        <p:spPr>
          <a:xfrm>
            <a:off x="9235440" y="4818888"/>
            <a:ext cx="2185416" cy="256032"/>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63747B"/>
              </a:buClr>
              <a:buSzPts val="1310"/>
              <a:buFont typeface="Inter"/>
              <a:buNone/>
            </a:pPr>
            <a:r>
              <a:rPr b="0" i="0" lang="en-US" sz="1310" u="none" cap="none" strike="noStrike">
                <a:solidFill>
                  <a:srgbClr val="63747B"/>
                </a:solidFill>
                <a:latin typeface="Inter"/>
                <a:ea typeface="Inter"/>
                <a:cs typeface="Inter"/>
                <a:sym typeface="Inter"/>
              </a:rPr>
              <a:t>SceneIR / OpenUSD</a:t>
            </a:r>
            <a:endParaRPr b="0" i="0" sz="1310" u="none" cap="none" strike="noStrike">
              <a:solidFill>
                <a:schemeClr val="dk1"/>
              </a:solidFill>
              <a:latin typeface="Inter"/>
              <a:ea typeface="Inter"/>
              <a:cs typeface="Inter"/>
              <a:sym typeface="Inter"/>
            </a:endParaRPr>
          </a:p>
        </p:txBody>
      </p:sp>
      <p:sp>
        <p:nvSpPr>
          <p:cNvPr id="307" name="Google Shape;307;h575f3ee0b5d7ded4_143_246"/>
          <p:cNvSpPr/>
          <p:nvPr/>
        </p:nvSpPr>
        <p:spPr>
          <a:xfrm>
            <a:off x="722376" y="5641848"/>
            <a:ext cx="5797296" cy="420624"/>
          </a:xfrm>
          <a:prstGeom prst="roundRect">
            <a:avLst>
              <a:gd fmla="val 30435" name="adj"/>
            </a:avLst>
          </a:prstGeom>
          <a:solidFill>
            <a:srgbClr val="111D25"/>
          </a:solidFill>
          <a:ln cap="flat" cmpd="sng" w="12700">
            <a:solidFill>
              <a:srgbClr val="111D2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h575f3ee0b5d7ded4_143_246"/>
          <p:cNvSpPr/>
          <p:nvPr/>
        </p:nvSpPr>
        <p:spPr>
          <a:xfrm>
            <a:off x="914400" y="5733288"/>
            <a:ext cx="53949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420"/>
              <a:buFont typeface="Inter"/>
              <a:buNone/>
            </a:pPr>
            <a:r>
              <a:rPr b="1" i="0" lang="en-US" sz="1420" u="none" cap="none" strike="noStrike">
                <a:solidFill>
                  <a:srgbClr val="FFFFFF"/>
                </a:solidFill>
                <a:latin typeface="Inter"/>
                <a:ea typeface="Inter"/>
                <a:cs typeface="Inter"/>
                <a:sym typeface="Inter"/>
              </a:rPr>
              <a:t>Preview / Walk: PlayCanvas + Ammo.js</a:t>
            </a:r>
            <a:endParaRPr b="0" i="0" sz="1420" u="none" cap="none" strike="noStrike">
              <a:solidFill>
                <a:schemeClr val="dk1"/>
              </a:solidFill>
              <a:latin typeface="Inter"/>
              <a:ea typeface="Inter"/>
              <a:cs typeface="Inter"/>
              <a:sym typeface="Inter"/>
            </a:endParaRPr>
          </a:p>
        </p:txBody>
      </p:sp>
      <p:sp>
        <p:nvSpPr>
          <p:cNvPr id="309" name="Google Shape;309;h575f3ee0b5d7ded4_143_246"/>
          <p:cNvSpPr/>
          <p:nvPr/>
        </p:nvSpPr>
        <p:spPr>
          <a:xfrm>
            <a:off x="6711696" y="5641848"/>
            <a:ext cx="4800600" cy="420624"/>
          </a:xfrm>
          <a:prstGeom prst="roundRect">
            <a:avLst>
              <a:gd fmla="val 26087" name="adj"/>
            </a:avLst>
          </a:prstGeom>
          <a:solidFill>
            <a:srgbClr val="FFFFFF">
              <a:alpha val="0"/>
            </a:srgbClr>
          </a:solidFill>
          <a:ln cap="flat" cmpd="sng" w="16500">
            <a:solidFill>
              <a:srgbClr val="0E8283"/>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h575f3ee0b5d7ded4_143_246"/>
          <p:cNvSpPr/>
          <p:nvPr/>
        </p:nvSpPr>
        <p:spPr>
          <a:xfrm>
            <a:off x="6903720" y="5733288"/>
            <a:ext cx="4462272"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410"/>
              <a:buFont typeface="Inter"/>
              <a:buNone/>
            </a:pPr>
            <a:r>
              <a:rPr b="1" i="0" lang="en-US" sz="1410" u="none" cap="none" strike="noStrike">
                <a:solidFill>
                  <a:srgbClr val="0E8283"/>
                </a:solidFill>
                <a:latin typeface="Inter"/>
                <a:ea typeface="Inter"/>
                <a:cs typeface="Inter"/>
                <a:sym typeface="Inter"/>
              </a:rPr>
              <a:t>Isaac Sim validation: bước tiếp theo</a:t>
            </a:r>
            <a:endParaRPr b="0" i="0" sz="1410" u="none" cap="none" strike="noStrike">
              <a:solidFill>
                <a:schemeClr val="dk1"/>
              </a:solidFill>
              <a:latin typeface="Inter"/>
              <a:ea typeface="Inter"/>
              <a:cs typeface="Inter"/>
              <a:sym typeface="Inter"/>
            </a:endParaRPr>
          </a:p>
        </p:txBody>
      </p:sp>
      <p:sp>
        <p:nvSpPr>
          <p:cNvPr id="311" name="Google Shape;311;h575f3ee0b5d7ded4_143_246"/>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316" name="Shape 316"/>
        <p:cNvGrpSpPr/>
        <p:nvPr/>
      </p:nvGrpSpPr>
      <p:grpSpPr>
        <a:xfrm>
          <a:off x="0" y="0"/>
          <a:ext cx="0" cy="0"/>
          <a:chOff x="0" y="0"/>
          <a:chExt cx="0" cy="0"/>
        </a:xfrm>
      </p:grpSpPr>
      <p:sp>
        <p:nvSpPr>
          <p:cNvPr id="317" name="Google Shape;317;h575f3ee0b5d7ded4_23_1458"/>
          <p:cNvSpPr/>
          <p:nvPr/>
        </p:nvSpPr>
        <p:spPr>
          <a:xfrm>
            <a:off x="0" y="0"/>
            <a:ext cx="12192000" cy="50400"/>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h575f3ee0b5d7ded4_23_1458"/>
          <p:cNvSpPr/>
          <p:nvPr/>
        </p:nvSpPr>
        <p:spPr>
          <a:xfrm>
            <a:off x="640080" y="292608"/>
            <a:ext cx="108813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60"/>
              <a:buFont typeface="Arial"/>
              <a:buNone/>
            </a:pPr>
            <a:r>
              <a:rPr b="1" i="0" lang="en-US" u="none" cap="none" strike="noStrike">
                <a:solidFill>
                  <a:srgbClr val="0E8283"/>
                </a:solidFill>
                <a:latin typeface="Inter"/>
                <a:ea typeface="Inter"/>
                <a:cs typeface="Inter"/>
                <a:sym typeface="Inter"/>
              </a:rPr>
              <a:t>10 / KẾT QUẢ THỰC NGHIỆM · 1/2</a:t>
            </a:r>
            <a:endParaRPr b="0" i="0" u="none" cap="none" strike="noStrike">
              <a:solidFill>
                <a:srgbClr val="000000"/>
              </a:solidFill>
              <a:latin typeface="Arial"/>
              <a:ea typeface="Arial"/>
              <a:cs typeface="Arial"/>
              <a:sym typeface="Arial"/>
            </a:endParaRPr>
          </a:p>
        </p:txBody>
      </p:sp>
      <p:sp>
        <p:nvSpPr>
          <p:cNvPr id="319" name="Google Shape;319;h575f3ee0b5d7ded4_23_1458"/>
          <p:cNvSpPr/>
          <p:nvPr/>
        </p:nvSpPr>
        <p:spPr>
          <a:xfrm>
            <a:off x="640080" y="786384"/>
            <a:ext cx="109911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1C2B34"/>
                </a:solidFill>
                <a:latin typeface="Inter"/>
                <a:ea typeface="Inter"/>
                <a:cs typeface="Inter"/>
                <a:sym typeface="Inter"/>
              </a:rPr>
              <a:t>Chất lượng tái dựng 3D và cấu hình training</a:t>
            </a:r>
            <a:endParaRPr b="0" i="0" sz="2500" u="none" cap="none" strike="noStrike">
              <a:solidFill>
                <a:srgbClr val="000000"/>
              </a:solidFill>
              <a:latin typeface="Arial"/>
              <a:ea typeface="Arial"/>
              <a:cs typeface="Arial"/>
              <a:sym typeface="Arial"/>
            </a:endParaRPr>
          </a:p>
        </p:txBody>
      </p:sp>
      <p:sp>
        <p:nvSpPr>
          <p:cNvPr id="320" name="Google Shape;320;h575f3ee0b5d7ded4_23_1458"/>
          <p:cNvSpPr/>
          <p:nvPr/>
        </p:nvSpPr>
        <p:spPr>
          <a:xfrm>
            <a:off x="681174" y="1280043"/>
            <a:ext cx="10908900" cy="356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60"/>
              <a:buFont typeface="Arial"/>
              <a:buNone/>
            </a:pPr>
            <a:r>
              <a:rPr b="0" i="0" lang="en-US" sz="1460" u="none" cap="none" strike="noStrike">
                <a:solidFill>
                  <a:srgbClr val="63747B"/>
                </a:solidFill>
                <a:latin typeface="Inter"/>
                <a:ea typeface="Inter"/>
                <a:cs typeface="Inter"/>
                <a:sym typeface="Inter"/>
              </a:rPr>
              <a:t>Bốn lượt chạy trên ba môi trường trong nhà; PSNR/SSIM/LPIPS đo trên ảnh giữ lại để đánh giá.</a:t>
            </a:r>
            <a:endParaRPr b="0" i="0" sz="1460" u="none" cap="none" strike="noStrike">
              <a:solidFill>
                <a:srgbClr val="000000"/>
              </a:solidFill>
              <a:latin typeface="Arial"/>
              <a:ea typeface="Arial"/>
              <a:cs typeface="Arial"/>
              <a:sym typeface="Arial"/>
            </a:endParaRPr>
          </a:p>
        </p:txBody>
      </p:sp>
      <p:cxnSp>
        <p:nvCxnSpPr>
          <p:cNvPr id="321" name="Google Shape;321;h575f3ee0b5d7ded4_23_1458"/>
          <p:cNvCxnSpPr/>
          <p:nvPr/>
        </p:nvCxnSpPr>
        <p:spPr>
          <a:xfrm>
            <a:off x="640080" y="6501384"/>
            <a:ext cx="10899600" cy="0"/>
          </a:xfrm>
          <a:prstGeom prst="straightConnector1">
            <a:avLst/>
          </a:prstGeom>
          <a:noFill/>
          <a:ln cap="flat" cmpd="sng" w="9525">
            <a:solidFill>
              <a:srgbClr val="D8E0E2"/>
            </a:solidFill>
            <a:prstDash val="solid"/>
            <a:round/>
            <a:headEnd len="sm" w="sm" type="none"/>
            <a:tailEnd len="sm" w="sm" type="none"/>
          </a:ln>
        </p:spPr>
      </p:cxnSp>
      <p:sp>
        <p:nvSpPr>
          <p:cNvPr id="322" name="Google Shape;322;h575f3ee0b5d7ded4_23_1458"/>
          <p:cNvSpPr/>
          <p:nvPr/>
        </p:nvSpPr>
        <p:spPr>
          <a:xfrm>
            <a:off x="649224" y="6565392"/>
            <a:ext cx="72696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63747B"/>
                </a:solidFill>
                <a:latin typeface="Inter"/>
                <a:ea typeface="Inter"/>
                <a:cs typeface="Inter"/>
                <a:sym typeface="Inter"/>
              </a:rPr>
              <a:t>REAL2SIM STUDIO • T087 • AI20K • Cohort 4</a:t>
            </a:r>
            <a:endParaRPr b="0" i="0" sz="900" u="none" cap="none" strike="noStrike">
              <a:solidFill>
                <a:srgbClr val="000000"/>
              </a:solidFill>
              <a:latin typeface="Arial"/>
              <a:ea typeface="Arial"/>
              <a:cs typeface="Arial"/>
              <a:sym typeface="Arial"/>
            </a:endParaRPr>
          </a:p>
        </p:txBody>
      </p:sp>
      <p:sp>
        <p:nvSpPr>
          <p:cNvPr id="323" name="Google Shape;323;h575f3ee0b5d7ded4_23_1458"/>
          <p:cNvSpPr/>
          <p:nvPr/>
        </p:nvSpPr>
        <p:spPr>
          <a:xfrm>
            <a:off x="10195560" y="6565392"/>
            <a:ext cx="1362600" cy="173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39"/>
              <a:buFont typeface="Arial"/>
              <a:buNone/>
            </a:pPr>
            <a:r>
              <a:rPr b="0" i="0" lang="en-US" sz="940" u="none" cap="none" strike="noStrike">
                <a:solidFill>
                  <a:srgbClr val="63747B"/>
                </a:solidFill>
                <a:latin typeface="Inter"/>
                <a:ea typeface="Inter"/>
                <a:cs typeface="Inter"/>
                <a:sym typeface="Inter"/>
              </a:rPr>
              <a:t>10A / 12</a:t>
            </a:r>
            <a:endParaRPr b="0" i="0" sz="940" u="none" cap="none" strike="noStrike">
              <a:solidFill>
                <a:srgbClr val="000000"/>
              </a:solidFill>
              <a:latin typeface="Arial"/>
              <a:ea typeface="Arial"/>
              <a:cs typeface="Arial"/>
              <a:sym typeface="Arial"/>
            </a:endParaRPr>
          </a:p>
        </p:txBody>
      </p:sp>
      <p:pic>
        <p:nvPicPr>
          <p:cNvPr id="324" name="Google Shape;324;h575f3ee0b5d7ded4_23_1458"/>
          <p:cNvPicPr preferRelativeResize="0"/>
          <p:nvPr/>
        </p:nvPicPr>
        <p:blipFill rotWithShape="1">
          <a:blip r:embed="rId3">
            <a:alphaModFix/>
          </a:blip>
          <a:srcRect b="0" l="0" r="0" t="0"/>
          <a:stretch/>
        </p:blipFill>
        <p:spPr>
          <a:xfrm>
            <a:off x="638175" y="1638300"/>
            <a:ext cx="5295900" cy="1657500"/>
          </a:xfrm>
          <a:prstGeom prst="rect">
            <a:avLst/>
          </a:prstGeom>
          <a:noFill/>
          <a:ln>
            <a:noFill/>
          </a:ln>
        </p:spPr>
      </p:pic>
      <p:sp>
        <p:nvSpPr>
          <p:cNvPr id="325" name="Google Shape;325;h575f3ee0b5d7ded4_23_1458"/>
          <p:cNvSpPr/>
          <p:nvPr/>
        </p:nvSpPr>
        <p:spPr>
          <a:xfrm>
            <a:off x="640080" y="1638300"/>
            <a:ext cx="50400" cy="1657500"/>
          </a:xfrm>
          <a:prstGeom prst="rect">
            <a:avLst/>
          </a:prstGeom>
          <a:solidFill>
            <a:srgbClr val="0E8283"/>
          </a:solidFill>
          <a:ln cap="flat" cmpd="sng">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6" name="Google Shape;326;h575f3ee0b5d7ded4_23_1458"/>
          <p:cNvSpPr/>
          <p:nvPr/>
        </p:nvSpPr>
        <p:spPr>
          <a:xfrm>
            <a:off x="854917" y="1821561"/>
            <a:ext cx="29079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40"/>
              <a:buFont typeface="Arial"/>
              <a:buNone/>
            </a:pPr>
            <a:r>
              <a:rPr b="1" i="0" lang="en-US" sz="1340" u="none" cap="none" strike="noStrike">
                <a:solidFill>
                  <a:srgbClr val="0E8283"/>
                </a:solidFill>
                <a:latin typeface="Inter"/>
                <a:ea typeface="Inter"/>
                <a:cs typeface="Inter"/>
                <a:sym typeface="Inter"/>
              </a:rPr>
              <a:t>ROOM  ·  1280px</a:t>
            </a:r>
            <a:endParaRPr b="0" i="0" sz="1340" u="none" cap="none" strike="noStrike">
              <a:solidFill>
                <a:srgbClr val="000000"/>
              </a:solidFill>
              <a:latin typeface="Arial"/>
              <a:ea typeface="Arial"/>
              <a:cs typeface="Arial"/>
              <a:sym typeface="Arial"/>
            </a:endParaRPr>
          </a:p>
        </p:txBody>
      </p:sp>
      <p:sp>
        <p:nvSpPr>
          <p:cNvPr id="327" name="Google Shape;327;h575f3ee0b5d7ded4_23_1458"/>
          <p:cNvSpPr/>
          <p:nvPr/>
        </p:nvSpPr>
        <p:spPr>
          <a:xfrm>
            <a:off x="3927302" y="1775841"/>
            <a:ext cx="1764900" cy="265200"/>
          </a:xfrm>
          <a:prstGeom prst="roundRect">
            <a:avLst>
              <a:gd fmla="val 16667" name="adj"/>
            </a:avLst>
          </a:prstGeom>
          <a:solidFill>
            <a:srgbClr val="E8F4F2"/>
          </a:solidFill>
          <a:ln cap="flat" cmpd="sng" w="12700">
            <a:solidFill>
              <a:srgbClr val="E8F4F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h575f3ee0b5d7ded4_23_1458"/>
          <p:cNvSpPr/>
          <p:nvPr/>
        </p:nvSpPr>
        <p:spPr>
          <a:xfrm>
            <a:off x="3982166" y="1794129"/>
            <a:ext cx="1655100" cy="21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4"/>
              <a:buFont typeface="Arial"/>
              <a:buNone/>
            </a:pPr>
            <a:r>
              <a:rPr b="1" i="0" lang="en-US" sz="1015" u="none" cap="none" strike="noStrike">
                <a:solidFill>
                  <a:srgbClr val="0E8283"/>
                </a:solidFill>
                <a:latin typeface="Inter"/>
                <a:ea typeface="Inter"/>
                <a:cs typeface="Inter"/>
                <a:sym typeface="Inter"/>
              </a:rPr>
              <a:t>30K ITER · 1M MAX</a:t>
            </a:r>
            <a:endParaRPr b="0" i="0" sz="1015" u="none" cap="none" strike="noStrike">
              <a:solidFill>
                <a:srgbClr val="000000"/>
              </a:solidFill>
              <a:latin typeface="Arial"/>
              <a:ea typeface="Arial"/>
              <a:cs typeface="Arial"/>
              <a:sym typeface="Arial"/>
            </a:endParaRPr>
          </a:p>
        </p:txBody>
      </p:sp>
      <p:sp>
        <p:nvSpPr>
          <p:cNvPr id="329" name="Google Shape;329;h575f3ee0b5d7ded4_23_1458"/>
          <p:cNvSpPr/>
          <p:nvPr/>
        </p:nvSpPr>
        <p:spPr>
          <a:xfrm>
            <a:off x="845774" y="2159889"/>
            <a:ext cx="1326000" cy="44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C2B34"/>
                </a:solidFill>
                <a:latin typeface="Inter"/>
                <a:ea typeface="Inter"/>
                <a:cs typeface="Inter"/>
                <a:sym typeface="Inter"/>
              </a:rPr>
              <a:t>33,09</a:t>
            </a:r>
            <a:endParaRPr b="0" i="0" sz="2800" u="none" cap="none" strike="noStrike">
              <a:solidFill>
                <a:srgbClr val="000000"/>
              </a:solidFill>
              <a:latin typeface="Arial"/>
              <a:ea typeface="Arial"/>
              <a:cs typeface="Arial"/>
              <a:sym typeface="Arial"/>
            </a:endParaRPr>
          </a:p>
        </p:txBody>
      </p:sp>
      <p:sp>
        <p:nvSpPr>
          <p:cNvPr id="330" name="Google Shape;330;h575f3ee0b5d7ded4_23_1458"/>
          <p:cNvSpPr/>
          <p:nvPr/>
        </p:nvSpPr>
        <p:spPr>
          <a:xfrm>
            <a:off x="2336246" y="2278761"/>
            <a:ext cx="1600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60"/>
              <a:buFont typeface="Arial"/>
              <a:buNone/>
            </a:pPr>
            <a:r>
              <a:rPr b="1" i="0" lang="en-US" sz="1160" u="none" cap="none" strike="noStrike">
                <a:solidFill>
                  <a:srgbClr val="63747B"/>
                </a:solidFill>
                <a:latin typeface="Inter"/>
                <a:ea typeface="Inter"/>
                <a:cs typeface="Inter"/>
                <a:sym typeface="Inter"/>
              </a:rPr>
              <a:t>dB   PSNR ↑</a:t>
            </a:r>
            <a:endParaRPr b="0" i="0" sz="1160" u="none" cap="none" strike="noStrike">
              <a:solidFill>
                <a:srgbClr val="000000"/>
              </a:solidFill>
              <a:latin typeface="Arial"/>
              <a:ea typeface="Arial"/>
              <a:cs typeface="Arial"/>
              <a:sym typeface="Arial"/>
            </a:endParaRPr>
          </a:p>
        </p:txBody>
      </p:sp>
      <p:sp>
        <p:nvSpPr>
          <p:cNvPr id="331" name="Google Shape;331;h575f3ee0b5d7ded4_23_1458"/>
          <p:cNvSpPr/>
          <p:nvPr/>
        </p:nvSpPr>
        <p:spPr>
          <a:xfrm>
            <a:off x="4055318" y="2169033"/>
            <a:ext cx="16185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115"/>
              <a:buFont typeface="Arial"/>
              <a:buNone/>
            </a:pPr>
            <a:r>
              <a:rPr b="1" i="0" lang="en-US" sz="1115" u="none" cap="none" strike="noStrike">
                <a:solidFill>
                  <a:srgbClr val="04767A"/>
                </a:solidFill>
                <a:latin typeface="Inter"/>
                <a:ea typeface="Inter"/>
                <a:cs typeface="Inter"/>
                <a:sym typeface="Inter"/>
              </a:rPr>
              <a:t>SSIM  0,9505</a:t>
            </a:r>
            <a:endParaRPr b="0" i="0" sz="1115" u="none" cap="none" strike="noStrike">
              <a:solidFill>
                <a:srgbClr val="000000"/>
              </a:solidFill>
              <a:latin typeface="Arial"/>
              <a:ea typeface="Arial"/>
              <a:cs typeface="Arial"/>
              <a:sym typeface="Arial"/>
            </a:endParaRPr>
          </a:p>
        </p:txBody>
      </p:sp>
      <p:sp>
        <p:nvSpPr>
          <p:cNvPr id="332" name="Google Shape;332;h575f3ee0b5d7ded4_23_1458"/>
          <p:cNvSpPr/>
          <p:nvPr/>
        </p:nvSpPr>
        <p:spPr>
          <a:xfrm>
            <a:off x="3973022" y="2425065"/>
            <a:ext cx="17007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40"/>
              <a:buFont typeface="Arial"/>
              <a:buNone/>
            </a:pPr>
            <a:r>
              <a:rPr b="0" i="0" lang="en-US" sz="1040" u="none" cap="none" strike="noStrike">
                <a:solidFill>
                  <a:srgbClr val="04767A"/>
                </a:solidFill>
                <a:latin typeface="Inter"/>
                <a:ea typeface="Inter"/>
                <a:cs typeface="Inter"/>
                <a:sym typeface="Inter"/>
              </a:rPr>
              <a:t>LPIPS  0,2154</a:t>
            </a:r>
            <a:endParaRPr b="0" i="0" sz="1040" u="none" cap="none" strike="noStrike">
              <a:solidFill>
                <a:srgbClr val="000000"/>
              </a:solidFill>
              <a:latin typeface="Arial"/>
              <a:ea typeface="Arial"/>
              <a:cs typeface="Arial"/>
              <a:sym typeface="Arial"/>
            </a:endParaRPr>
          </a:p>
        </p:txBody>
      </p:sp>
      <p:cxnSp>
        <p:nvCxnSpPr>
          <p:cNvPr id="333" name="Google Shape;333;h575f3ee0b5d7ded4_23_1458"/>
          <p:cNvCxnSpPr/>
          <p:nvPr/>
        </p:nvCxnSpPr>
        <p:spPr>
          <a:xfrm>
            <a:off x="854918" y="2690241"/>
            <a:ext cx="4855500" cy="0"/>
          </a:xfrm>
          <a:prstGeom prst="straightConnector1">
            <a:avLst/>
          </a:prstGeom>
          <a:noFill/>
          <a:ln cap="flat" cmpd="sng" w="9525">
            <a:solidFill>
              <a:srgbClr val="D8E0E2"/>
            </a:solidFill>
            <a:prstDash val="solid"/>
            <a:round/>
            <a:headEnd len="sm" w="sm" type="none"/>
            <a:tailEnd len="sm" w="sm" type="none"/>
          </a:ln>
        </p:spPr>
      </p:cxnSp>
      <p:sp>
        <p:nvSpPr>
          <p:cNvPr id="334" name="Google Shape;334;h575f3ee0b5d7ded4_23_1458"/>
          <p:cNvSpPr/>
          <p:nvPr/>
        </p:nvSpPr>
        <p:spPr>
          <a:xfrm>
            <a:off x="854917" y="2772537"/>
            <a:ext cx="25419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30"/>
              <a:buFont typeface="Arial"/>
              <a:buNone/>
            </a:pPr>
            <a:r>
              <a:rPr b="1" i="0" lang="en-US" sz="1030" u="none" cap="none" strike="noStrike">
                <a:solidFill>
                  <a:srgbClr val="1C2B34"/>
                </a:solidFill>
                <a:latin typeface="Inter"/>
                <a:ea typeface="Inter"/>
                <a:cs typeface="Inter"/>
                <a:sym typeface="Inter"/>
              </a:rPr>
              <a:t>COLMAP: 311 / 311 (100%)</a:t>
            </a:r>
            <a:endParaRPr b="0" i="0" sz="1030" u="none" cap="none" strike="noStrike">
              <a:solidFill>
                <a:srgbClr val="000000"/>
              </a:solidFill>
              <a:latin typeface="Arial"/>
              <a:ea typeface="Arial"/>
              <a:cs typeface="Arial"/>
              <a:sym typeface="Arial"/>
            </a:endParaRPr>
          </a:p>
        </p:txBody>
      </p:sp>
      <p:sp>
        <p:nvSpPr>
          <p:cNvPr id="335" name="Google Shape;335;h575f3ee0b5d7ded4_23_1458"/>
          <p:cNvSpPr/>
          <p:nvPr/>
        </p:nvSpPr>
        <p:spPr>
          <a:xfrm>
            <a:off x="3406093" y="2772537"/>
            <a:ext cx="22860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20"/>
              <a:buFont typeface="Arial"/>
              <a:buNone/>
            </a:pPr>
            <a:r>
              <a:rPr b="0" i="0" lang="en-US" sz="1020" u="none" cap="none" strike="noStrike">
                <a:solidFill>
                  <a:srgbClr val="63747B"/>
                </a:solidFill>
                <a:latin typeface="Inter"/>
                <a:ea typeface="Inter"/>
                <a:cs typeface="Inter"/>
                <a:sym typeface="Inter"/>
              </a:rPr>
              <a:t>Train / Eval: 272 / 39</a:t>
            </a:r>
            <a:endParaRPr b="0" i="0" sz="1020" u="none" cap="none" strike="noStrike">
              <a:solidFill>
                <a:srgbClr val="000000"/>
              </a:solidFill>
              <a:latin typeface="Arial"/>
              <a:ea typeface="Arial"/>
              <a:cs typeface="Arial"/>
              <a:sym typeface="Arial"/>
            </a:endParaRPr>
          </a:p>
        </p:txBody>
      </p:sp>
      <p:sp>
        <p:nvSpPr>
          <p:cNvPr id="336" name="Google Shape;336;h575f3ee0b5d7ded4_23_1458"/>
          <p:cNvSpPr/>
          <p:nvPr/>
        </p:nvSpPr>
        <p:spPr>
          <a:xfrm>
            <a:off x="854917" y="3037713"/>
            <a:ext cx="23592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10"/>
              <a:buFont typeface="Arial"/>
              <a:buNone/>
            </a:pPr>
            <a:r>
              <a:rPr b="0" i="0" lang="en-US" sz="1010" u="none" cap="none" strike="noStrike">
                <a:solidFill>
                  <a:srgbClr val="63747B"/>
                </a:solidFill>
                <a:latin typeface="Inter"/>
                <a:ea typeface="Inter"/>
                <a:cs typeface="Inter"/>
                <a:sym typeface="Inter"/>
              </a:rPr>
              <a:t>Gaussian: 830.376</a:t>
            </a:r>
            <a:endParaRPr b="0" i="0" sz="1010" u="none" cap="none" strike="noStrike">
              <a:solidFill>
                <a:srgbClr val="000000"/>
              </a:solidFill>
              <a:latin typeface="Arial"/>
              <a:ea typeface="Arial"/>
              <a:cs typeface="Arial"/>
              <a:sym typeface="Arial"/>
            </a:endParaRPr>
          </a:p>
        </p:txBody>
      </p:sp>
      <p:sp>
        <p:nvSpPr>
          <p:cNvPr id="337" name="Google Shape;337;h575f3ee0b5d7ded4_23_1458"/>
          <p:cNvSpPr/>
          <p:nvPr/>
        </p:nvSpPr>
        <p:spPr>
          <a:xfrm>
            <a:off x="3058621" y="3037713"/>
            <a:ext cx="26334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70"/>
              <a:buFont typeface="Arial"/>
              <a:buNone/>
            </a:pPr>
            <a:r>
              <a:rPr b="0" i="0" lang="en-US" sz="970" u="none" cap="none" strike="noStrike">
                <a:solidFill>
                  <a:srgbClr val="63747B"/>
                </a:solidFill>
                <a:latin typeface="Inter"/>
                <a:ea typeface="Inter"/>
                <a:cs typeface="Inter"/>
                <a:sym typeface="Inter"/>
              </a:rPr>
              <a:t>Brush max_res: 1280 px</a:t>
            </a:r>
            <a:endParaRPr b="0" i="0" sz="970" u="none" cap="none" strike="noStrike">
              <a:solidFill>
                <a:srgbClr val="000000"/>
              </a:solidFill>
              <a:latin typeface="Arial"/>
              <a:ea typeface="Arial"/>
              <a:cs typeface="Arial"/>
              <a:sym typeface="Arial"/>
            </a:endParaRPr>
          </a:p>
        </p:txBody>
      </p:sp>
      <p:pic>
        <p:nvPicPr>
          <p:cNvPr id="338" name="Google Shape;338;h575f3ee0b5d7ded4_23_1458"/>
          <p:cNvPicPr preferRelativeResize="0"/>
          <p:nvPr/>
        </p:nvPicPr>
        <p:blipFill rotWithShape="1">
          <a:blip r:embed="rId4">
            <a:alphaModFix/>
          </a:blip>
          <a:srcRect b="0" l="0" r="0" t="0"/>
          <a:stretch/>
        </p:blipFill>
        <p:spPr>
          <a:xfrm>
            <a:off x="6257925" y="1638300"/>
            <a:ext cx="5295900" cy="1657500"/>
          </a:xfrm>
          <a:prstGeom prst="rect">
            <a:avLst/>
          </a:prstGeom>
          <a:noFill/>
          <a:ln>
            <a:noFill/>
          </a:ln>
        </p:spPr>
      </p:pic>
      <p:sp>
        <p:nvSpPr>
          <p:cNvPr id="339" name="Google Shape;339;h575f3ee0b5d7ded4_23_1458"/>
          <p:cNvSpPr/>
          <p:nvPr/>
        </p:nvSpPr>
        <p:spPr>
          <a:xfrm>
            <a:off x="6257544" y="1638300"/>
            <a:ext cx="50400" cy="1657500"/>
          </a:xfrm>
          <a:prstGeom prst="rect">
            <a:avLst/>
          </a:prstGeom>
          <a:solidFill>
            <a:srgbClr val="0E8283"/>
          </a:solidFill>
          <a:ln cap="flat" cmpd="sng">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0" name="Google Shape;340;h575f3ee0b5d7ded4_23_1458"/>
          <p:cNvSpPr/>
          <p:nvPr/>
        </p:nvSpPr>
        <p:spPr>
          <a:xfrm>
            <a:off x="6451046" y="1821561"/>
            <a:ext cx="29079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40"/>
              <a:buFont typeface="Arial"/>
              <a:buNone/>
            </a:pPr>
            <a:r>
              <a:rPr b="1" i="0" lang="en-US" sz="1340" u="none" cap="none" strike="noStrike">
                <a:solidFill>
                  <a:srgbClr val="0E8283"/>
                </a:solidFill>
                <a:latin typeface="Inter"/>
                <a:ea typeface="Inter"/>
                <a:cs typeface="Inter"/>
                <a:sym typeface="Inter"/>
              </a:rPr>
              <a:t>ROOM  ·  800px</a:t>
            </a:r>
            <a:endParaRPr b="0" i="0" sz="1340" u="none" cap="none" strike="noStrike">
              <a:solidFill>
                <a:srgbClr val="000000"/>
              </a:solidFill>
              <a:latin typeface="Arial"/>
              <a:ea typeface="Arial"/>
              <a:cs typeface="Arial"/>
              <a:sym typeface="Arial"/>
            </a:endParaRPr>
          </a:p>
        </p:txBody>
      </p:sp>
      <p:sp>
        <p:nvSpPr>
          <p:cNvPr id="341" name="Google Shape;341;h575f3ee0b5d7ded4_23_1458"/>
          <p:cNvSpPr/>
          <p:nvPr/>
        </p:nvSpPr>
        <p:spPr>
          <a:xfrm>
            <a:off x="9523430" y="1775841"/>
            <a:ext cx="1764900" cy="265200"/>
          </a:xfrm>
          <a:prstGeom prst="roundRect">
            <a:avLst>
              <a:gd fmla="val 16667" name="adj"/>
            </a:avLst>
          </a:prstGeom>
          <a:solidFill>
            <a:srgbClr val="E8F4F2"/>
          </a:solidFill>
          <a:ln cap="flat" cmpd="sng" w="12700">
            <a:solidFill>
              <a:srgbClr val="E8F4F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h575f3ee0b5d7ded4_23_1458"/>
          <p:cNvSpPr/>
          <p:nvPr/>
        </p:nvSpPr>
        <p:spPr>
          <a:xfrm>
            <a:off x="9578294" y="1794129"/>
            <a:ext cx="1655100" cy="21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4"/>
              <a:buFont typeface="Arial"/>
              <a:buNone/>
            </a:pPr>
            <a:r>
              <a:rPr b="1" i="0" lang="en-US" sz="1015" u="none" cap="none" strike="noStrike">
                <a:solidFill>
                  <a:srgbClr val="0E8283"/>
                </a:solidFill>
                <a:latin typeface="Inter"/>
                <a:ea typeface="Inter"/>
                <a:cs typeface="Inter"/>
                <a:sym typeface="Inter"/>
              </a:rPr>
              <a:t>40K ITER · 1,2M MAX</a:t>
            </a:r>
            <a:endParaRPr b="0" i="0" sz="1015" u="none" cap="none" strike="noStrike">
              <a:solidFill>
                <a:srgbClr val="000000"/>
              </a:solidFill>
              <a:latin typeface="Arial"/>
              <a:ea typeface="Arial"/>
              <a:cs typeface="Arial"/>
              <a:sym typeface="Arial"/>
            </a:endParaRPr>
          </a:p>
        </p:txBody>
      </p:sp>
      <p:sp>
        <p:nvSpPr>
          <p:cNvPr id="343" name="Google Shape;343;h575f3ee0b5d7ded4_23_1458"/>
          <p:cNvSpPr/>
          <p:nvPr/>
        </p:nvSpPr>
        <p:spPr>
          <a:xfrm>
            <a:off x="6441902" y="2159889"/>
            <a:ext cx="1326000" cy="44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C2B34"/>
                </a:solidFill>
                <a:latin typeface="Inter"/>
                <a:ea typeface="Inter"/>
                <a:cs typeface="Inter"/>
                <a:sym typeface="Inter"/>
              </a:rPr>
              <a:t>33,88</a:t>
            </a:r>
            <a:endParaRPr b="0" i="0" sz="2800" u="none" cap="none" strike="noStrike">
              <a:solidFill>
                <a:srgbClr val="000000"/>
              </a:solidFill>
              <a:latin typeface="Arial"/>
              <a:ea typeface="Arial"/>
              <a:cs typeface="Arial"/>
              <a:sym typeface="Arial"/>
            </a:endParaRPr>
          </a:p>
        </p:txBody>
      </p:sp>
      <p:sp>
        <p:nvSpPr>
          <p:cNvPr id="344" name="Google Shape;344;h575f3ee0b5d7ded4_23_1458"/>
          <p:cNvSpPr/>
          <p:nvPr/>
        </p:nvSpPr>
        <p:spPr>
          <a:xfrm>
            <a:off x="7932374" y="2278761"/>
            <a:ext cx="1600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60"/>
              <a:buFont typeface="Arial"/>
              <a:buNone/>
            </a:pPr>
            <a:r>
              <a:rPr b="1" i="0" lang="en-US" sz="1160" u="none" cap="none" strike="noStrike">
                <a:solidFill>
                  <a:srgbClr val="63747B"/>
                </a:solidFill>
                <a:latin typeface="Inter"/>
                <a:ea typeface="Inter"/>
                <a:cs typeface="Inter"/>
                <a:sym typeface="Inter"/>
              </a:rPr>
              <a:t>dB   PSNR ↑</a:t>
            </a:r>
            <a:endParaRPr b="0" i="0" sz="1160" u="none" cap="none" strike="noStrike">
              <a:solidFill>
                <a:srgbClr val="000000"/>
              </a:solidFill>
              <a:latin typeface="Arial"/>
              <a:ea typeface="Arial"/>
              <a:cs typeface="Arial"/>
              <a:sym typeface="Arial"/>
            </a:endParaRPr>
          </a:p>
        </p:txBody>
      </p:sp>
      <p:sp>
        <p:nvSpPr>
          <p:cNvPr id="345" name="Google Shape;345;h575f3ee0b5d7ded4_23_1458"/>
          <p:cNvSpPr/>
          <p:nvPr/>
        </p:nvSpPr>
        <p:spPr>
          <a:xfrm>
            <a:off x="9651446" y="2169033"/>
            <a:ext cx="16185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115"/>
              <a:buFont typeface="Arial"/>
              <a:buNone/>
            </a:pPr>
            <a:r>
              <a:rPr b="1" i="0" lang="en-US" sz="1115" u="none" cap="none" strike="noStrike">
                <a:solidFill>
                  <a:srgbClr val="04767A"/>
                </a:solidFill>
                <a:latin typeface="Inter"/>
                <a:ea typeface="Inter"/>
                <a:cs typeface="Inter"/>
                <a:sym typeface="Inter"/>
              </a:rPr>
              <a:t>SSIM  0,9606</a:t>
            </a:r>
            <a:endParaRPr b="0" i="0" sz="1115" u="none" cap="none" strike="noStrike">
              <a:solidFill>
                <a:srgbClr val="000000"/>
              </a:solidFill>
              <a:latin typeface="Arial"/>
              <a:ea typeface="Arial"/>
              <a:cs typeface="Arial"/>
              <a:sym typeface="Arial"/>
            </a:endParaRPr>
          </a:p>
        </p:txBody>
      </p:sp>
      <p:sp>
        <p:nvSpPr>
          <p:cNvPr id="346" name="Google Shape;346;h575f3ee0b5d7ded4_23_1458"/>
          <p:cNvSpPr/>
          <p:nvPr/>
        </p:nvSpPr>
        <p:spPr>
          <a:xfrm>
            <a:off x="9569150" y="2425065"/>
            <a:ext cx="17007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40"/>
              <a:buFont typeface="Arial"/>
              <a:buNone/>
            </a:pPr>
            <a:r>
              <a:rPr b="0" i="0" lang="en-US" sz="1040" u="none" cap="none" strike="noStrike">
                <a:solidFill>
                  <a:srgbClr val="04767A"/>
                </a:solidFill>
                <a:latin typeface="Inter"/>
                <a:ea typeface="Inter"/>
                <a:cs typeface="Inter"/>
                <a:sym typeface="Inter"/>
              </a:rPr>
              <a:t>LPIPS  0,1303</a:t>
            </a:r>
            <a:endParaRPr b="0" i="0" sz="1040" u="none" cap="none" strike="noStrike">
              <a:solidFill>
                <a:srgbClr val="000000"/>
              </a:solidFill>
              <a:latin typeface="Arial"/>
              <a:ea typeface="Arial"/>
              <a:cs typeface="Arial"/>
              <a:sym typeface="Arial"/>
            </a:endParaRPr>
          </a:p>
        </p:txBody>
      </p:sp>
      <p:cxnSp>
        <p:nvCxnSpPr>
          <p:cNvPr id="347" name="Google Shape;347;h575f3ee0b5d7ded4_23_1458"/>
          <p:cNvCxnSpPr/>
          <p:nvPr/>
        </p:nvCxnSpPr>
        <p:spPr>
          <a:xfrm>
            <a:off x="6451046" y="2690241"/>
            <a:ext cx="4855500" cy="0"/>
          </a:xfrm>
          <a:prstGeom prst="straightConnector1">
            <a:avLst/>
          </a:prstGeom>
          <a:noFill/>
          <a:ln cap="flat" cmpd="sng" w="9525">
            <a:solidFill>
              <a:srgbClr val="D8E0E2"/>
            </a:solidFill>
            <a:prstDash val="solid"/>
            <a:round/>
            <a:headEnd len="sm" w="sm" type="none"/>
            <a:tailEnd len="sm" w="sm" type="none"/>
          </a:ln>
        </p:spPr>
      </p:cxnSp>
      <p:sp>
        <p:nvSpPr>
          <p:cNvPr id="348" name="Google Shape;348;h575f3ee0b5d7ded4_23_1458"/>
          <p:cNvSpPr/>
          <p:nvPr/>
        </p:nvSpPr>
        <p:spPr>
          <a:xfrm>
            <a:off x="6451046" y="2772537"/>
            <a:ext cx="25419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30"/>
              <a:buFont typeface="Arial"/>
              <a:buNone/>
            </a:pPr>
            <a:r>
              <a:rPr b="1" i="0" lang="en-US" sz="1030" u="none" cap="none" strike="noStrike">
                <a:solidFill>
                  <a:srgbClr val="1C2B34"/>
                </a:solidFill>
                <a:latin typeface="Inter"/>
                <a:ea typeface="Inter"/>
                <a:cs typeface="Inter"/>
                <a:sym typeface="Inter"/>
              </a:rPr>
              <a:t>COLMAP: 311 / 311 (100%)</a:t>
            </a:r>
            <a:endParaRPr b="0" i="0" sz="1030" u="none" cap="none" strike="noStrike">
              <a:solidFill>
                <a:srgbClr val="000000"/>
              </a:solidFill>
              <a:latin typeface="Arial"/>
              <a:ea typeface="Arial"/>
              <a:cs typeface="Arial"/>
              <a:sym typeface="Arial"/>
            </a:endParaRPr>
          </a:p>
        </p:txBody>
      </p:sp>
      <p:sp>
        <p:nvSpPr>
          <p:cNvPr id="349" name="Google Shape;349;h575f3ee0b5d7ded4_23_1458"/>
          <p:cNvSpPr/>
          <p:nvPr/>
        </p:nvSpPr>
        <p:spPr>
          <a:xfrm>
            <a:off x="9002222" y="2772537"/>
            <a:ext cx="22860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20"/>
              <a:buFont typeface="Arial"/>
              <a:buNone/>
            </a:pPr>
            <a:r>
              <a:rPr b="0" i="0" lang="en-US" sz="1020" u="none" cap="none" strike="noStrike">
                <a:solidFill>
                  <a:srgbClr val="63747B"/>
                </a:solidFill>
                <a:latin typeface="Inter"/>
                <a:ea typeface="Inter"/>
                <a:cs typeface="Inter"/>
                <a:sym typeface="Inter"/>
              </a:rPr>
              <a:t>Eval split: 1 / 8 frame</a:t>
            </a:r>
            <a:endParaRPr b="0" i="0" sz="1020" u="none" cap="none" strike="noStrike">
              <a:solidFill>
                <a:srgbClr val="000000"/>
              </a:solidFill>
              <a:latin typeface="Arial"/>
              <a:ea typeface="Arial"/>
              <a:cs typeface="Arial"/>
              <a:sym typeface="Arial"/>
            </a:endParaRPr>
          </a:p>
        </p:txBody>
      </p:sp>
      <p:sp>
        <p:nvSpPr>
          <p:cNvPr id="350" name="Google Shape;350;h575f3ee0b5d7ded4_23_1458"/>
          <p:cNvSpPr/>
          <p:nvPr/>
        </p:nvSpPr>
        <p:spPr>
          <a:xfrm>
            <a:off x="6451046" y="3037713"/>
            <a:ext cx="23592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10"/>
              <a:buFont typeface="Arial"/>
              <a:buNone/>
            </a:pPr>
            <a:r>
              <a:rPr b="0" i="0" lang="en-US" sz="1010" u="none" cap="none" strike="noStrike">
                <a:solidFill>
                  <a:srgbClr val="63747B"/>
                </a:solidFill>
                <a:latin typeface="Inter"/>
                <a:ea typeface="Inter"/>
                <a:cs typeface="Inter"/>
                <a:sym typeface="Inter"/>
              </a:rPr>
              <a:t>Gaussian: 541.064</a:t>
            </a:r>
            <a:endParaRPr b="0" i="0" sz="1010" u="none" cap="none" strike="noStrike">
              <a:solidFill>
                <a:srgbClr val="000000"/>
              </a:solidFill>
              <a:latin typeface="Arial"/>
              <a:ea typeface="Arial"/>
              <a:cs typeface="Arial"/>
              <a:sym typeface="Arial"/>
            </a:endParaRPr>
          </a:p>
        </p:txBody>
      </p:sp>
      <p:sp>
        <p:nvSpPr>
          <p:cNvPr id="351" name="Google Shape;351;h575f3ee0b5d7ded4_23_1458"/>
          <p:cNvSpPr/>
          <p:nvPr/>
        </p:nvSpPr>
        <p:spPr>
          <a:xfrm>
            <a:off x="8654750" y="3037713"/>
            <a:ext cx="26334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70"/>
              <a:buFont typeface="Arial"/>
              <a:buNone/>
            </a:pPr>
            <a:r>
              <a:rPr b="0" i="0" lang="en-US" sz="970" u="none" cap="none" strike="noStrike">
                <a:solidFill>
                  <a:srgbClr val="63747B"/>
                </a:solidFill>
                <a:latin typeface="Inter"/>
                <a:ea typeface="Inter"/>
                <a:cs typeface="Inter"/>
                <a:sym typeface="Inter"/>
              </a:rPr>
              <a:t>Brush max_res: 800 px</a:t>
            </a:r>
            <a:endParaRPr b="0" i="0" sz="970" u="none" cap="none" strike="noStrike">
              <a:solidFill>
                <a:srgbClr val="000000"/>
              </a:solidFill>
              <a:latin typeface="Arial"/>
              <a:ea typeface="Arial"/>
              <a:cs typeface="Arial"/>
              <a:sym typeface="Arial"/>
            </a:endParaRPr>
          </a:p>
        </p:txBody>
      </p:sp>
      <p:pic>
        <p:nvPicPr>
          <p:cNvPr id="352" name="Google Shape;352;h575f3ee0b5d7ded4_23_1458"/>
          <p:cNvPicPr preferRelativeResize="0"/>
          <p:nvPr/>
        </p:nvPicPr>
        <p:blipFill rotWithShape="1">
          <a:blip r:embed="rId3">
            <a:alphaModFix/>
          </a:blip>
          <a:srcRect b="0" l="0" r="0" t="0"/>
          <a:stretch/>
        </p:blipFill>
        <p:spPr>
          <a:xfrm>
            <a:off x="638175" y="3448050"/>
            <a:ext cx="5295900" cy="1657500"/>
          </a:xfrm>
          <a:prstGeom prst="rect">
            <a:avLst/>
          </a:prstGeom>
          <a:noFill/>
          <a:ln>
            <a:noFill/>
          </a:ln>
        </p:spPr>
      </p:pic>
      <p:sp>
        <p:nvSpPr>
          <p:cNvPr id="353" name="Google Shape;353;h575f3ee0b5d7ded4_23_1458"/>
          <p:cNvSpPr/>
          <p:nvPr/>
        </p:nvSpPr>
        <p:spPr>
          <a:xfrm>
            <a:off x="640080" y="3448050"/>
            <a:ext cx="50400" cy="1657500"/>
          </a:xfrm>
          <a:prstGeom prst="rect">
            <a:avLst/>
          </a:prstGeom>
          <a:solidFill>
            <a:srgbClr val="0E8283"/>
          </a:solidFill>
          <a:ln cap="flat" cmpd="sng">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4" name="Google Shape;354;h575f3ee0b5d7ded4_23_1458"/>
          <p:cNvSpPr/>
          <p:nvPr/>
        </p:nvSpPr>
        <p:spPr>
          <a:xfrm>
            <a:off x="854917" y="3604641"/>
            <a:ext cx="29079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40"/>
              <a:buFont typeface="Arial"/>
              <a:buNone/>
            </a:pPr>
            <a:r>
              <a:rPr b="1" i="0" lang="en-US" sz="1340" u="none" cap="none" strike="noStrike">
                <a:solidFill>
                  <a:srgbClr val="0E8283"/>
                </a:solidFill>
                <a:latin typeface="Inter"/>
                <a:ea typeface="Inter"/>
                <a:cs typeface="Inter"/>
                <a:sym typeface="Inter"/>
              </a:rPr>
              <a:t>PLAYROOM</a:t>
            </a:r>
            <a:endParaRPr b="0" i="0" sz="1340" u="none" cap="none" strike="noStrike">
              <a:solidFill>
                <a:srgbClr val="000000"/>
              </a:solidFill>
              <a:latin typeface="Arial"/>
              <a:ea typeface="Arial"/>
              <a:cs typeface="Arial"/>
              <a:sym typeface="Arial"/>
            </a:endParaRPr>
          </a:p>
        </p:txBody>
      </p:sp>
      <p:sp>
        <p:nvSpPr>
          <p:cNvPr id="355" name="Google Shape;355;h575f3ee0b5d7ded4_23_1458"/>
          <p:cNvSpPr/>
          <p:nvPr/>
        </p:nvSpPr>
        <p:spPr>
          <a:xfrm>
            <a:off x="3927302" y="3558921"/>
            <a:ext cx="1764900" cy="265200"/>
          </a:xfrm>
          <a:prstGeom prst="roundRect">
            <a:avLst>
              <a:gd fmla="val 16667" name="adj"/>
            </a:avLst>
          </a:prstGeom>
          <a:solidFill>
            <a:srgbClr val="E8F4F2"/>
          </a:solidFill>
          <a:ln cap="flat" cmpd="sng" w="12700">
            <a:solidFill>
              <a:srgbClr val="E8F4F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h575f3ee0b5d7ded4_23_1458"/>
          <p:cNvSpPr/>
          <p:nvPr/>
        </p:nvSpPr>
        <p:spPr>
          <a:xfrm>
            <a:off x="3982166" y="3577209"/>
            <a:ext cx="1655100" cy="21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4"/>
              <a:buFont typeface="Arial"/>
              <a:buNone/>
            </a:pPr>
            <a:r>
              <a:rPr b="1" i="0" lang="en-US" sz="1015" u="none" cap="none" strike="noStrike">
                <a:solidFill>
                  <a:srgbClr val="0E8283"/>
                </a:solidFill>
                <a:latin typeface="Inter"/>
                <a:ea typeface="Inter"/>
                <a:cs typeface="Inter"/>
                <a:sym typeface="Inter"/>
              </a:rPr>
              <a:t>40K ITER · 2M MAX</a:t>
            </a:r>
            <a:endParaRPr b="0" i="0" sz="1015" u="none" cap="none" strike="noStrike">
              <a:solidFill>
                <a:srgbClr val="000000"/>
              </a:solidFill>
              <a:latin typeface="Arial"/>
              <a:ea typeface="Arial"/>
              <a:cs typeface="Arial"/>
              <a:sym typeface="Arial"/>
            </a:endParaRPr>
          </a:p>
        </p:txBody>
      </p:sp>
      <p:sp>
        <p:nvSpPr>
          <p:cNvPr id="357" name="Google Shape;357;h575f3ee0b5d7ded4_23_1458"/>
          <p:cNvSpPr/>
          <p:nvPr/>
        </p:nvSpPr>
        <p:spPr>
          <a:xfrm>
            <a:off x="845774" y="3942969"/>
            <a:ext cx="1326000" cy="44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C2B34"/>
                </a:solidFill>
                <a:latin typeface="Inter"/>
                <a:ea typeface="Inter"/>
                <a:cs typeface="Inter"/>
                <a:sym typeface="Inter"/>
              </a:rPr>
              <a:t>28,63</a:t>
            </a:r>
            <a:endParaRPr b="0" i="0" sz="2800" u="none" cap="none" strike="noStrike">
              <a:solidFill>
                <a:srgbClr val="000000"/>
              </a:solidFill>
              <a:latin typeface="Arial"/>
              <a:ea typeface="Arial"/>
              <a:cs typeface="Arial"/>
              <a:sym typeface="Arial"/>
            </a:endParaRPr>
          </a:p>
        </p:txBody>
      </p:sp>
      <p:sp>
        <p:nvSpPr>
          <p:cNvPr id="358" name="Google Shape;358;h575f3ee0b5d7ded4_23_1458"/>
          <p:cNvSpPr/>
          <p:nvPr/>
        </p:nvSpPr>
        <p:spPr>
          <a:xfrm>
            <a:off x="2336246" y="4061841"/>
            <a:ext cx="1600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60"/>
              <a:buFont typeface="Arial"/>
              <a:buNone/>
            </a:pPr>
            <a:r>
              <a:rPr b="1" i="0" lang="en-US" sz="1160" u="none" cap="none" strike="noStrike">
                <a:solidFill>
                  <a:srgbClr val="63747B"/>
                </a:solidFill>
                <a:latin typeface="Inter"/>
                <a:ea typeface="Inter"/>
                <a:cs typeface="Inter"/>
                <a:sym typeface="Inter"/>
              </a:rPr>
              <a:t>dB   PSNR ↑</a:t>
            </a:r>
            <a:endParaRPr b="0" i="0" sz="1160" u="none" cap="none" strike="noStrike">
              <a:solidFill>
                <a:srgbClr val="000000"/>
              </a:solidFill>
              <a:latin typeface="Arial"/>
              <a:ea typeface="Arial"/>
              <a:cs typeface="Arial"/>
              <a:sym typeface="Arial"/>
            </a:endParaRPr>
          </a:p>
        </p:txBody>
      </p:sp>
      <p:sp>
        <p:nvSpPr>
          <p:cNvPr id="359" name="Google Shape;359;h575f3ee0b5d7ded4_23_1458"/>
          <p:cNvSpPr/>
          <p:nvPr/>
        </p:nvSpPr>
        <p:spPr>
          <a:xfrm>
            <a:off x="4055318" y="3952113"/>
            <a:ext cx="16185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115"/>
              <a:buFont typeface="Arial"/>
              <a:buNone/>
            </a:pPr>
            <a:r>
              <a:rPr b="1" i="0" lang="en-US" sz="1115" u="none" cap="none" strike="noStrike">
                <a:solidFill>
                  <a:srgbClr val="04767A"/>
                </a:solidFill>
                <a:latin typeface="Inter"/>
                <a:ea typeface="Inter"/>
                <a:cs typeface="Inter"/>
                <a:sym typeface="Inter"/>
              </a:rPr>
              <a:t>SSIM  0,9004</a:t>
            </a:r>
            <a:endParaRPr b="0" i="0" sz="1115" u="none" cap="none" strike="noStrike">
              <a:solidFill>
                <a:srgbClr val="000000"/>
              </a:solidFill>
              <a:latin typeface="Arial"/>
              <a:ea typeface="Arial"/>
              <a:cs typeface="Arial"/>
              <a:sym typeface="Arial"/>
            </a:endParaRPr>
          </a:p>
        </p:txBody>
      </p:sp>
      <p:sp>
        <p:nvSpPr>
          <p:cNvPr id="360" name="Google Shape;360;h575f3ee0b5d7ded4_23_1458"/>
          <p:cNvSpPr/>
          <p:nvPr/>
        </p:nvSpPr>
        <p:spPr>
          <a:xfrm>
            <a:off x="3973022" y="4208145"/>
            <a:ext cx="17007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40"/>
              <a:buFont typeface="Arial"/>
              <a:buNone/>
            </a:pPr>
            <a:r>
              <a:rPr b="0" i="0" lang="en-US" sz="1040" u="none" cap="none" strike="noStrike">
                <a:solidFill>
                  <a:srgbClr val="63747B"/>
                </a:solidFill>
                <a:latin typeface="Inter"/>
                <a:ea typeface="Inter"/>
                <a:cs typeface="Inter"/>
                <a:sym typeface="Inter"/>
              </a:rPr>
              <a:t>LPIPS  —</a:t>
            </a:r>
            <a:endParaRPr b="0" i="0" sz="1040" u="none" cap="none" strike="noStrike">
              <a:solidFill>
                <a:srgbClr val="000000"/>
              </a:solidFill>
              <a:latin typeface="Arial"/>
              <a:ea typeface="Arial"/>
              <a:cs typeface="Arial"/>
              <a:sym typeface="Arial"/>
            </a:endParaRPr>
          </a:p>
        </p:txBody>
      </p:sp>
      <p:cxnSp>
        <p:nvCxnSpPr>
          <p:cNvPr id="361" name="Google Shape;361;h575f3ee0b5d7ded4_23_1458"/>
          <p:cNvCxnSpPr/>
          <p:nvPr/>
        </p:nvCxnSpPr>
        <p:spPr>
          <a:xfrm>
            <a:off x="854918" y="4473321"/>
            <a:ext cx="4855500" cy="0"/>
          </a:xfrm>
          <a:prstGeom prst="straightConnector1">
            <a:avLst/>
          </a:prstGeom>
          <a:noFill/>
          <a:ln cap="flat" cmpd="sng" w="9525">
            <a:solidFill>
              <a:srgbClr val="D8E0E2"/>
            </a:solidFill>
            <a:prstDash val="solid"/>
            <a:round/>
            <a:headEnd len="sm" w="sm" type="none"/>
            <a:tailEnd len="sm" w="sm" type="none"/>
          </a:ln>
        </p:spPr>
      </p:cxnSp>
      <p:sp>
        <p:nvSpPr>
          <p:cNvPr id="362" name="Google Shape;362;h575f3ee0b5d7ded4_23_1458"/>
          <p:cNvSpPr/>
          <p:nvPr/>
        </p:nvSpPr>
        <p:spPr>
          <a:xfrm>
            <a:off x="854917" y="4555617"/>
            <a:ext cx="25419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30"/>
              <a:buFont typeface="Arial"/>
              <a:buNone/>
            </a:pPr>
            <a:r>
              <a:rPr b="1" i="0" lang="en-US" sz="1030" u="none" cap="none" strike="noStrike">
                <a:solidFill>
                  <a:srgbClr val="1C2B34"/>
                </a:solidFill>
                <a:latin typeface="Inter"/>
                <a:ea typeface="Inter"/>
                <a:cs typeface="Inter"/>
                <a:sym typeface="Inter"/>
              </a:rPr>
              <a:t>COLMAP: 149 / 225 (66,22%)</a:t>
            </a:r>
            <a:endParaRPr b="0" i="0" sz="1030" u="none" cap="none" strike="noStrike">
              <a:solidFill>
                <a:srgbClr val="000000"/>
              </a:solidFill>
              <a:latin typeface="Arial"/>
              <a:ea typeface="Arial"/>
              <a:cs typeface="Arial"/>
              <a:sym typeface="Arial"/>
            </a:endParaRPr>
          </a:p>
        </p:txBody>
      </p:sp>
      <p:sp>
        <p:nvSpPr>
          <p:cNvPr id="363" name="Google Shape;363;h575f3ee0b5d7ded4_23_1458"/>
          <p:cNvSpPr/>
          <p:nvPr/>
        </p:nvSpPr>
        <p:spPr>
          <a:xfrm>
            <a:off x="3406093" y="4555617"/>
            <a:ext cx="22860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20"/>
              <a:buFont typeface="Arial"/>
              <a:buNone/>
            </a:pPr>
            <a:r>
              <a:rPr b="0" i="0" lang="en-US" sz="1020" u="none" cap="none" strike="noStrike">
                <a:solidFill>
                  <a:srgbClr val="63747B"/>
                </a:solidFill>
                <a:latin typeface="Inter"/>
                <a:ea typeface="Inter"/>
                <a:cs typeface="Inter"/>
                <a:sym typeface="Inter"/>
              </a:rPr>
              <a:t>Train / Eval: 130 / 19</a:t>
            </a:r>
            <a:endParaRPr b="0" i="0" sz="1020" u="none" cap="none" strike="noStrike">
              <a:solidFill>
                <a:srgbClr val="000000"/>
              </a:solidFill>
              <a:latin typeface="Arial"/>
              <a:ea typeface="Arial"/>
              <a:cs typeface="Arial"/>
              <a:sym typeface="Arial"/>
            </a:endParaRPr>
          </a:p>
        </p:txBody>
      </p:sp>
      <p:sp>
        <p:nvSpPr>
          <p:cNvPr id="364" name="Google Shape;364;h575f3ee0b5d7ded4_23_1458"/>
          <p:cNvSpPr/>
          <p:nvPr/>
        </p:nvSpPr>
        <p:spPr>
          <a:xfrm>
            <a:off x="854917" y="4820793"/>
            <a:ext cx="23592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10"/>
              <a:buFont typeface="Arial"/>
              <a:buNone/>
            </a:pPr>
            <a:r>
              <a:rPr b="0" i="0" lang="en-US" sz="1010" u="none" cap="none" strike="noStrike">
                <a:solidFill>
                  <a:srgbClr val="63747B"/>
                </a:solidFill>
                <a:latin typeface="Inter"/>
                <a:ea typeface="Inter"/>
                <a:cs typeface="Inter"/>
                <a:sym typeface="Inter"/>
              </a:rPr>
              <a:t>Gaussian: 959.925</a:t>
            </a:r>
            <a:endParaRPr b="0" i="0" sz="1010" u="none" cap="none" strike="noStrike">
              <a:solidFill>
                <a:srgbClr val="000000"/>
              </a:solidFill>
              <a:latin typeface="Arial"/>
              <a:ea typeface="Arial"/>
              <a:cs typeface="Arial"/>
              <a:sym typeface="Arial"/>
            </a:endParaRPr>
          </a:p>
        </p:txBody>
      </p:sp>
      <p:sp>
        <p:nvSpPr>
          <p:cNvPr id="365" name="Google Shape;365;h575f3ee0b5d7ded4_23_1458"/>
          <p:cNvSpPr/>
          <p:nvPr/>
        </p:nvSpPr>
        <p:spPr>
          <a:xfrm>
            <a:off x="3058621" y="4820793"/>
            <a:ext cx="26334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70"/>
              <a:buFont typeface="Arial"/>
              <a:buNone/>
            </a:pPr>
            <a:r>
              <a:rPr b="0" i="0" lang="en-US" sz="970" u="none" cap="none" strike="noStrike">
                <a:solidFill>
                  <a:srgbClr val="63747B"/>
                </a:solidFill>
                <a:latin typeface="Inter"/>
                <a:ea typeface="Inter"/>
                <a:cs typeface="Inter"/>
                <a:sym typeface="Inter"/>
              </a:rPr>
              <a:t>Brush max_res: 1920 px</a:t>
            </a:r>
            <a:endParaRPr b="0" i="0" sz="970" u="none" cap="none" strike="noStrike">
              <a:solidFill>
                <a:srgbClr val="000000"/>
              </a:solidFill>
              <a:latin typeface="Arial"/>
              <a:ea typeface="Arial"/>
              <a:cs typeface="Arial"/>
              <a:sym typeface="Arial"/>
            </a:endParaRPr>
          </a:p>
        </p:txBody>
      </p:sp>
      <p:pic>
        <p:nvPicPr>
          <p:cNvPr id="366" name="Google Shape;366;h575f3ee0b5d7ded4_23_1458"/>
          <p:cNvPicPr preferRelativeResize="0"/>
          <p:nvPr/>
        </p:nvPicPr>
        <p:blipFill rotWithShape="1">
          <a:blip r:embed="rId4">
            <a:alphaModFix/>
          </a:blip>
          <a:srcRect b="0" l="0" r="0" t="0"/>
          <a:stretch/>
        </p:blipFill>
        <p:spPr>
          <a:xfrm>
            <a:off x="6257925" y="3448050"/>
            <a:ext cx="5263500" cy="1657500"/>
          </a:xfrm>
          <a:prstGeom prst="rect">
            <a:avLst/>
          </a:prstGeom>
          <a:noFill/>
          <a:ln>
            <a:noFill/>
          </a:ln>
        </p:spPr>
      </p:pic>
      <p:sp>
        <p:nvSpPr>
          <p:cNvPr id="367" name="Google Shape;367;h575f3ee0b5d7ded4_23_1458"/>
          <p:cNvSpPr/>
          <p:nvPr/>
        </p:nvSpPr>
        <p:spPr>
          <a:xfrm>
            <a:off x="6257544" y="3448050"/>
            <a:ext cx="50400" cy="1657500"/>
          </a:xfrm>
          <a:prstGeom prst="rect">
            <a:avLst/>
          </a:prstGeom>
          <a:solidFill>
            <a:srgbClr val="0E8283"/>
          </a:solidFill>
          <a:ln cap="flat" cmpd="sng">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8" name="Google Shape;368;h575f3ee0b5d7ded4_23_1458"/>
          <p:cNvSpPr/>
          <p:nvPr/>
        </p:nvSpPr>
        <p:spPr>
          <a:xfrm>
            <a:off x="6451046" y="3604641"/>
            <a:ext cx="29079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40"/>
              <a:buFont typeface="Arial"/>
              <a:buNone/>
            </a:pPr>
            <a:r>
              <a:rPr b="1" i="0" lang="en-US" sz="1340" u="none" cap="none" strike="noStrike">
                <a:solidFill>
                  <a:srgbClr val="0E8283"/>
                </a:solidFill>
                <a:latin typeface="Inter"/>
                <a:ea typeface="Inter"/>
                <a:cs typeface="Inter"/>
                <a:sym typeface="Inter"/>
              </a:rPr>
              <a:t>DRJOHNSON</a:t>
            </a:r>
            <a:endParaRPr b="0" i="0" sz="1340" u="none" cap="none" strike="noStrike">
              <a:solidFill>
                <a:srgbClr val="000000"/>
              </a:solidFill>
              <a:latin typeface="Arial"/>
              <a:ea typeface="Arial"/>
              <a:cs typeface="Arial"/>
              <a:sym typeface="Arial"/>
            </a:endParaRPr>
          </a:p>
        </p:txBody>
      </p:sp>
      <p:sp>
        <p:nvSpPr>
          <p:cNvPr id="369" name="Google Shape;369;h575f3ee0b5d7ded4_23_1458"/>
          <p:cNvSpPr/>
          <p:nvPr/>
        </p:nvSpPr>
        <p:spPr>
          <a:xfrm>
            <a:off x="9523430" y="3558921"/>
            <a:ext cx="1764900" cy="265200"/>
          </a:xfrm>
          <a:prstGeom prst="roundRect">
            <a:avLst>
              <a:gd fmla="val 16667" name="adj"/>
            </a:avLst>
          </a:prstGeom>
          <a:solidFill>
            <a:srgbClr val="E8F4F2"/>
          </a:solidFill>
          <a:ln cap="flat" cmpd="sng" w="12700">
            <a:solidFill>
              <a:srgbClr val="E8F4F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h575f3ee0b5d7ded4_23_1458"/>
          <p:cNvSpPr/>
          <p:nvPr/>
        </p:nvSpPr>
        <p:spPr>
          <a:xfrm>
            <a:off x="9578294" y="3577209"/>
            <a:ext cx="1655100" cy="21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14"/>
              <a:buFont typeface="Arial"/>
              <a:buNone/>
            </a:pPr>
            <a:r>
              <a:rPr b="1" i="0" lang="en-US" sz="1015" u="none" cap="none" strike="noStrike">
                <a:solidFill>
                  <a:srgbClr val="0E8283"/>
                </a:solidFill>
                <a:latin typeface="Inter"/>
                <a:ea typeface="Inter"/>
                <a:cs typeface="Inter"/>
                <a:sym typeface="Inter"/>
              </a:rPr>
              <a:t>40K ITER · 2M MAX</a:t>
            </a:r>
            <a:endParaRPr b="0" i="0" sz="1015" u="none" cap="none" strike="noStrike">
              <a:solidFill>
                <a:srgbClr val="000000"/>
              </a:solidFill>
              <a:latin typeface="Arial"/>
              <a:ea typeface="Arial"/>
              <a:cs typeface="Arial"/>
              <a:sym typeface="Arial"/>
            </a:endParaRPr>
          </a:p>
        </p:txBody>
      </p:sp>
      <p:sp>
        <p:nvSpPr>
          <p:cNvPr id="371" name="Google Shape;371;h575f3ee0b5d7ded4_23_1458"/>
          <p:cNvSpPr/>
          <p:nvPr/>
        </p:nvSpPr>
        <p:spPr>
          <a:xfrm>
            <a:off x="6441902" y="3942969"/>
            <a:ext cx="1326000" cy="44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C2B34"/>
                </a:solidFill>
                <a:latin typeface="Inter"/>
                <a:ea typeface="Inter"/>
                <a:cs typeface="Inter"/>
                <a:sym typeface="Inter"/>
              </a:rPr>
              <a:t>29,74</a:t>
            </a:r>
            <a:endParaRPr b="0" i="0" sz="2800" u="none" cap="none" strike="noStrike">
              <a:solidFill>
                <a:srgbClr val="000000"/>
              </a:solidFill>
              <a:latin typeface="Arial"/>
              <a:ea typeface="Arial"/>
              <a:cs typeface="Arial"/>
              <a:sym typeface="Arial"/>
            </a:endParaRPr>
          </a:p>
        </p:txBody>
      </p:sp>
      <p:sp>
        <p:nvSpPr>
          <p:cNvPr id="372" name="Google Shape;372;h575f3ee0b5d7ded4_23_1458"/>
          <p:cNvSpPr/>
          <p:nvPr/>
        </p:nvSpPr>
        <p:spPr>
          <a:xfrm>
            <a:off x="7932374" y="4061841"/>
            <a:ext cx="1600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60"/>
              <a:buFont typeface="Arial"/>
              <a:buNone/>
            </a:pPr>
            <a:r>
              <a:rPr b="1" i="0" lang="en-US" sz="1160" u="none" cap="none" strike="noStrike">
                <a:solidFill>
                  <a:srgbClr val="63747B"/>
                </a:solidFill>
                <a:latin typeface="Inter"/>
                <a:ea typeface="Inter"/>
                <a:cs typeface="Inter"/>
                <a:sym typeface="Inter"/>
              </a:rPr>
              <a:t>dB   PSNR ↑</a:t>
            </a:r>
            <a:endParaRPr b="0" i="0" sz="1160" u="none" cap="none" strike="noStrike">
              <a:solidFill>
                <a:srgbClr val="000000"/>
              </a:solidFill>
              <a:latin typeface="Arial"/>
              <a:ea typeface="Arial"/>
              <a:cs typeface="Arial"/>
              <a:sym typeface="Arial"/>
            </a:endParaRPr>
          </a:p>
        </p:txBody>
      </p:sp>
      <p:sp>
        <p:nvSpPr>
          <p:cNvPr id="373" name="Google Shape;373;h575f3ee0b5d7ded4_23_1458"/>
          <p:cNvSpPr/>
          <p:nvPr/>
        </p:nvSpPr>
        <p:spPr>
          <a:xfrm>
            <a:off x="9651446" y="3952113"/>
            <a:ext cx="16185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115"/>
              <a:buFont typeface="Arial"/>
              <a:buNone/>
            </a:pPr>
            <a:r>
              <a:rPr b="1" i="0" lang="en-US" sz="1115" u="none" cap="none" strike="noStrike">
                <a:solidFill>
                  <a:srgbClr val="04767A"/>
                </a:solidFill>
                <a:latin typeface="Inter"/>
                <a:ea typeface="Inter"/>
                <a:cs typeface="Inter"/>
                <a:sym typeface="Inter"/>
              </a:rPr>
              <a:t>SSIM  0,9214</a:t>
            </a:r>
            <a:endParaRPr b="0" i="0" sz="1115" u="none" cap="none" strike="noStrike">
              <a:solidFill>
                <a:srgbClr val="000000"/>
              </a:solidFill>
              <a:latin typeface="Arial"/>
              <a:ea typeface="Arial"/>
              <a:cs typeface="Arial"/>
              <a:sym typeface="Arial"/>
            </a:endParaRPr>
          </a:p>
        </p:txBody>
      </p:sp>
      <p:sp>
        <p:nvSpPr>
          <p:cNvPr id="374" name="Google Shape;374;h575f3ee0b5d7ded4_23_1458"/>
          <p:cNvSpPr/>
          <p:nvPr/>
        </p:nvSpPr>
        <p:spPr>
          <a:xfrm>
            <a:off x="9569150" y="4208145"/>
            <a:ext cx="17007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40"/>
              <a:buFont typeface="Arial"/>
              <a:buNone/>
            </a:pPr>
            <a:r>
              <a:rPr b="0" i="0" lang="en-US" sz="1040" u="none" cap="none" strike="noStrike">
                <a:solidFill>
                  <a:srgbClr val="63747B"/>
                </a:solidFill>
                <a:latin typeface="Inter"/>
                <a:ea typeface="Inter"/>
                <a:cs typeface="Inter"/>
                <a:sym typeface="Inter"/>
              </a:rPr>
              <a:t>LPIPS  —</a:t>
            </a:r>
            <a:endParaRPr b="0" i="0" sz="1040" u="none" cap="none" strike="noStrike">
              <a:solidFill>
                <a:srgbClr val="000000"/>
              </a:solidFill>
              <a:latin typeface="Arial"/>
              <a:ea typeface="Arial"/>
              <a:cs typeface="Arial"/>
              <a:sym typeface="Arial"/>
            </a:endParaRPr>
          </a:p>
        </p:txBody>
      </p:sp>
      <p:cxnSp>
        <p:nvCxnSpPr>
          <p:cNvPr id="375" name="Google Shape;375;h575f3ee0b5d7ded4_23_1458"/>
          <p:cNvCxnSpPr/>
          <p:nvPr/>
        </p:nvCxnSpPr>
        <p:spPr>
          <a:xfrm>
            <a:off x="6451046" y="4473321"/>
            <a:ext cx="4855500" cy="0"/>
          </a:xfrm>
          <a:prstGeom prst="straightConnector1">
            <a:avLst/>
          </a:prstGeom>
          <a:noFill/>
          <a:ln cap="flat" cmpd="sng" w="9525">
            <a:solidFill>
              <a:srgbClr val="D8E0E2"/>
            </a:solidFill>
            <a:prstDash val="solid"/>
            <a:round/>
            <a:headEnd len="sm" w="sm" type="none"/>
            <a:tailEnd len="sm" w="sm" type="none"/>
          </a:ln>
        </p:spPr>
      </p:cxnSp>
      <p:sp>
        <p:nvSpPr>
          <p:cNvPr id="376" name="Google Shape;376;h575f3ee0b5d7ded4_23_1458"/>
          <p:cNvSpPr/>
          <p:nvPr/>
        </p:nvSpPr>
        <p:spPr>
          <a:xfrm>
            <a:off x="6451046" y="4555617"/>
            <a:ext cx="25419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30"/>
              <a:buFont typeface="Arial"/>
              <a:buNone/>
            </a:pPr>
            <a:r>
              <a:rPr b="1" i="0" lang="en-US" sz="1030" u="none" cap="none" strike="noStrike">
                <a:solidFill>
                  <a:srgbClr val="1C2B34"/>
                </a:solidFill>
                <a:latin typeface="Inter"/>
                <a:ea typeface="Inter"/>
                <a:cs typeface="Inter"/>
                <a:sym typeface="Inter"/>
              </a:rPr>
              <a:t>COLMAP: 263 / 263 (100%)</a:t>
            </a:r>
            <a:endParaRPr b="0" i="0" sz="1030" u="none" cap="none" strike="noStrike">
              <a:solidFill>
                <a:srgbClr val="000000"/>
              </a:solidFill>
              <a:latin typeface="Arial"/>
              <a:ea typeface="Arial"/>
              <a:cs typeface="Arial"/>
              <a:sym typeface="Arial"/>
            </a:endParaRPr>
          </a:p>
        </p:txBody>
      </p:sp>
      <p:sp>
        <p:nvSpPr>
          <p:cNvPr id="377" name="Google Shape;377;h575f3ee0b5d7ded4_23_1458"/>
          <p:cNvSpPr/>
          <p:nvPr/>
        </p:nvSpPr>
        <p:spPr>
          <a:xfrm>
            <a:off x="9002222" y="4555617"/>
            <a:ext cx="2286000" cy="2013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020"/>
              <a:buFont typeface="Arial"/>
              <a:buNone/>
            </a:pPr>
            <a:r>
              <a:rPr b="0" i="0" lang="en-US" sz="1020" u="none" cap="none" strike="noStrike">
                <a:solidFill>
                  <a:srgbClr val="63747B"/>
                </a:solidFill>
                <a:latin typeface="Inter"/>
                <a:ea typeface="Inter"/>
                <a:cs typeface="Inter"/>
                <a:sym typeface="Inter"/>
              </a:rPr>
              <a:t>Train / Eval: 230 / 33</a:t>
            </a:r>
            <a:endParaRPr b="0" i="0" sz="1020" u="none" cap="none" strike="noStrike">
              <a:solidFill>
                <a:srgbClr val="000000"/>
              </a:solidFill>
              <a:latin typeface="Arial"/>
              <a:ea typeface="Arial"/>
              <a:cs typeface="Arial"/>
              <a:sym typeface="Arial"/>
            </a:endParaRPr>
          </a:p>
        </p:txBody>
      </p:sp>
      <p:sp>
        <p:nvSpPr>
          <p:cNvPr id="378" name="Google Shape;378;h575f3ee0b5d7ded4_23_1458"/>
          <p:cNvSpPr/>
          <p:nvPr/>
        </p:nvSpPr>
        <p:spPr>
          <a:xfrm>
            <a:off x="6451046" y="4820793"/>
            <a:ext cx="23592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10"/>
              <a:buFont typeface="Arial"/>
              <a:buNone/>
            </a:pPr>
            <a:r>
              <a:rPr b="0" i="0" lang="en-US" sz="1010" u="none" cap="none" strike="noStrike">
                <a:solidFill>
                  <a:srgbClr val="63747B"/>
                </a:solidFill>
                <a:latin typeface="Inter"/>
                <a:ea typeface="Inter"/>
                <a:cs typeface="Inter"/>
                <a:sym typeface="Inter"/>
              </a:rPr>
              <a:t>Gaussian: 2.000.000</a:t>
            </a:r>
            <a:endParaRPr b="0" i="0" sz="1010" u="none" cap="none" strike="noStrike">
              <a:solidFill>
                <a:srgbClr val="000000"/>
              </a:solidFill>
              <a:latin typeface="Arial"/>
              <a:ea typeface="Arial"/>
              <a:cs typeface="Arial"/>
              <a:sym typeface="Arial"/>
            </a:endParaRPr>
          </a:p>
        </p:txBody>
      </p:sp>
      <p:sp>
        <p:nvSpPr>
          <p:cNvPr id="379" name="Google Shape;379;h575f3ee0b5d7ded4_23_1458"/>
          <p:cNvSpPr/>
          <p:nvPr/>
        </p:nvSpPr>
        <p:spPr>
          <a:xfrm>
            <a:off x="8654750" y="4820793"/>
            <a:ext cx="26334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70"/>
              <a:buFont typeface="Arial"/>
              <a:buNone/>
            </a:pPr>
            <a:r>
              <a:rPr b="0" i="0" lang="en-US" sz="970" u="none" cap="none" strike="noStrike">
                <a:solidFill>
                  <a:srgbClr val="63747B"/>
                </a:solidFill>
                <a:latin typeface="Inter"/>
                <a:ea typeface="Inter"/>
                <a:cs typeface="Inter"/>
                <a:sym typeface="Inter"/>
              </a:rPr>
              <a:t>Brush max_res: 1920 px</a:t>
            </a:r>
            <a:endParaRPr b="0" i="0" sz="970" u="none" cap="none" strike="noStrike">
              <a:solidFill>
                <a:srgbClr val="000000"/>
              </a:solidFill>
              <a:latin typeface="Arial"/>
              <a:ea typeface="Arial"/>
              <a:cs typeface="Arial"/>
              <a:sym typeface="Arial"/>
            </a:endParaRPr>
          </a:p>
        </p:txBody>
      </p:sp>
      <p:sp>
        <p:nvSpPr>
          <p:cNvPr id="380" name="Google Shape;380;h575f3ee0b5d7ded4_23_1458"/>
          <p:cNvSpPr/>
          <p:nvPr/>
        </p:nvSpPr>
        <p:spPr>
          <a:xfrm>
            <a:off x="640080" y="5257800"/>
            <a:ext cx="10909500" cy="1009800"/>
          </a:xfrm>
          <a:prstGeom prst="roundRect">
            <a:avLst>
              <a:gd fmla="val 11320" name="adj"/>
            </a:avLst>
          </a:prstGeom>
          <a:solidFill>
            <a:srgbClr val="0F1E27"/>
          </a:solidFill>
          <a:ln cap="flat" cmpd="sng">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1" name="Google Shape;381;h575f3ee0b5d7ded4_23_1458"/>
          <p:cNvSpPr/>
          <p:nvPr/>
        </p:nvSpPr>
        <p:spPr>
          <a:xfrm>
            <a:off x="868680" y="5353050"/>
            <a:ext cx="10454700" cy="8193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50">
                <a:solidFill>
                  <a:srgbClr val="F2AD62"/>
                </a:solidFill>
                <a:latin typeface="Inter"/>
                <a:ea typeface="Inter"/>
                <a:cs typeface="Inter"/>
                <a:sym typeface="Inter"/>
              </a:rPr>
              <a:t>Insight:</a:t>
            </a:r>
            <a:endParaRPr b="0" i="0" sz="1050">
              <a:solidFill>
                <a:srgbClr val="FFFFFF"/>
              </a:solidFill>
              <a:latin typeface="Inter"/>
              <a:ea typeface="Inter"/>
              <a:cs typeface="Inter"/>
              <a:sym typeface="Inter"/>
            </a:endParaRPr>
          </a:p>
          <a:p>
            <a:pPr indent="0" lvl="0" marL="0" rtl="0" algn="l">
              <a:spcBef>
                <a:spcPts val="450"/>
              </a:spcBef>
              <a:spcAft>
                <a:spcPts val="0"/>
              </a:spcAft>
              <a:buNone/>
            </a:pPr>
            <a:r>
              <a:rPr b="0" i="0" lang="en-US" sz="1050">
                <a:solidFill>
                  <a:srgbClr val="FFFFFF"/>
                </a:solidFill>
                <a:latin typeface="Inter"/>
                <a:ea typeface="Inter"/>
                <a:cs typeface="Inter"/>
                <a:sym typeface="Inter"/>
              </a:rPr>
              <a:t>• </a:t>
            </a:r>
            <a:r>
              <a:rPr b="1" i="0" lang="en-US" sz="1050">
                <a:solidFill>
                  <a:srgbClr val="FFFFFF"/>
                </a:solidFill>
                <a:latin typeface="Inter"/>
                <a:ea typeface="Inter"/>
                <a:cs typeface="Inter"/>
                <a:sym typeface="Inter"/>
              </a:rPr>
              <a:t>Room 800px</a:t>
            </a:r>
            <a:r>
              <a:rPr b="0" i="0" lang="en-US" sz="1050">
                <a:solidFill>
                  <a:srgbClr val="FFFFFF"/>
                </a:solidFill>
                <a:latin typeface="Inter"/>
                <a:ea typeface="Inter"/>
                <a:cs typeface="Inter"/>
                <a:sym typeface="Inter"/>
              </a:rPr>
              <a:t> đạt chất lượng render cao hơn với ít Gaussian hơn, cho thấy cần tối ưu cấu hình training thay vì chỉ tăng độ phân giải.</a:t>
            </a:r>
            <a:endParaRPr b="0" i="0" sz="1050">
              <a:solidFill>
                <a:srgbClr val="FFFFFF"/>
              </a:solidFill>
              <a:latin typeface="Inter"/>
              <a:ea typeface="Inter"/>
              <a:cs typeface="Inter"/>
              <a:sym typeface="Inter"/>
            </a:endParaRPr>
          </a:p>
          <a:p>
            <a:pPr indent="0" lvl="0" marL="0" rtl="0" algn="l">
              <a:spcBef>
                <a:spcPts val="300"/>
              </a:spcBef>
              <a:spcAft>
                <a:spcPts val="0"/>
              </a:spcAft>
              <a:buNone/>
            </a:pPr>
            <a:r>
              <a:rPr b="0" i="0" lang="en-US" sz="1050">
                <a:solidFill>
                  <a:srgbClr val="FFFFFF"/>
                </a:solidFill>
                <a:latin typeface="Inter"/>
                <a:ea typeface="Inter"/>
                <a:cs typeface="Inter"/>
                <a:sym typeface="Inter"/>
              </a:rPr>
              <a:t>• </a:t>
            </a:r>
            <a:r>
              <a:rPr b="1" i="0" lang="en-US" sz="1050">
                <a:solidFill>
                  <a:srgbClr val="FFFFFF"/>
                </a:solidFill>
                <a:latin typeface="Inter"/>
                <a:ea typeface="Inter"/>
                <a:cs typeface="Inter"/>
                <a:sym typeface="Inter"/>
              </a:rPr>
              <a:t>Playroom</a:t>
            </a:r>
            <a:r>
              <a:rPr b="0" i="0" lang="en-US" sz="1050">
                <a:solidFill>
                  <a:srgbClr val="FFFFFF"/>
                </a:solidFill>
                <a:latin typeface="Inter"/>
                <a:ea typeface="Inter"/>
                <a:cs typeface="Inter"/>
                <a:sym typeface="Inter"/>
              </a:rPr>
              <a:t> chỉ đăng ký được 66,22% camera, làm giảm số ảnh khả dụng cho tái dựng 3D.</a:t>
            </a:r>
            <a:endParaRPr b="0" i="0" sz="1050">
              <a:solidFill>
                <a:srgbClr val="FFFFFF"/>
              </a:solidFill>
              <a:latin typeface="Inter"/>
              <a:ea typeface="Inter"/>
              <a:cs typeface="Inter"/>
              <a:sym typeface="Inte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89" name="Shape 389"/>
        <p:cNvGrpSpPr/>
        <p:nvPr/>
      </p:nvGrpSpPr>
      <p:grpSpPr>
        <a:xfrm>
          <a:off x="0" y="0"/>
          <a:ext cx="0" cy="0"/>
          <a:chOff x="0" y="0"/>
          <a:chExt cx="0" cy="0"/>
        </a:xfrm>
      </p:grpSpPr>
      <p:sp>
        <p:nvSpPr>
          <p:cNvPr id="390" name="Google Shape;390;h575f3ee0b5d7ded4_23_1137"/>
          <p:cNvSpPr/>
          <p:nvPr/>
        </p:nvSpPr>
        <p:spPr>
          <a:xfrm>
            <a:off x="0" y="0"/>
            <a:ext cx="12192000" cy="47700"/>
          </a:xfrm>
          <a:prstGeom prst="rect">
            <a:avLst/>
          </a:prstGeom>
          <a:solidFill>
            <a:srgbClr val="0E828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1" name="Google Shape;391;h575f3ee0b5d7ded4_23_1137"/>
          <p:cNvSpPr txBox="1"/>
          <p:nvPr/>
        </p:nvSpPr>
        <p:spPr>
          <a:xfrm>
            <a:off x="609600" y="304800"/>
            <a:ext cx="10972800" cy="228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a:solidFill>
                  <a:srgbClr val="0E8283"/>
                </a:solidFill>
                <a:latin typeface="Inter"/>
                <a:ea typeface="Inter"/>
                <a:cs typeface="Inter"/>
                <a:sym typeface="Inter"/>
              </a:rPr>
              <a:t>10 / KẾT QUẢ THỰC NGHIỆM · 2/2</a:t>
            </a:r>
            <a:endParaRPr b="1">
              <a:solidFill>
                <a:srgbClr val="0E8283"/>
              </a:solidFill>
              <a:latin typeface="Inter"/>
              <a:ea typeface="Inter"/>
              <a:cs typeface="Inter"/>
              <a:sym typeface="Inter"/>
            </a:endParaRPr>
          </a:p>
        </p:txBody>
      </p:sp>
      <p:sp>
        <p:nvSpPr>
          <p:cNvPr id="392" name="Google Shape;392;h575f3ee0b5d7ded4_23_1137"/>
          <p:cNvSpPr txBox="1"/>
          <p:nvPr/>
        </p:nvSpPr>
        <p:spPr>
          <a:xfrm>
            <a:off x="609600" y="752475"/>
            <a:ext cx="109728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1C2B34"/>
                </a:solidFill>
                <a:latin typeface="Inter"/>
                <a:ea typeface="Inter"/>
                <a:cs typeface="Inter"/>
                <a:sym typeface="Inter"/>
              </a:rPr>
              <a:t>Thời gian xử lý và tài nguyên phần cứng</a:t>
            </a:r>
            <a:endParaRPr b="1" sz="2400">
              <a:solidFill>
                <a:srgbClr val="1C2B34"/>
              </a:solidFill>
              <a:latin typeface="Inter"/>
              <a:ea typeface="Inter"/>
              <a:cs typeface="Inter"/>
              <a:sym typeface="Inter"/>
            </a:endParaRPr>
          </a:p>
        </p:txBody>
      </p:sp>
      <p:grpSp>
        <p:nvGrpSpPr>
          <p:cNvPr id="393" name="Google Shape;393;h575f3ee0b5d7ded4_23_1137"/>
          <p:cNvGrpSpPr/>
          <p:nvPr/>
        </p:nvGrpSpPr>
        <p:grpSpPr>
          <a:xfrm>
            <a:off x="609600" y="1352550"/>
            <a:ext cx="10972800" cy="552600"/>
            <a:chOff x="0" y="0"/>
            <a:chExt cx="10972800" cy="552600"/>
          </a:xfrm>
        </p:grpSpPr>
        <p:sp>
          <p:nvSpPr>
            <p:cNvPr id="394" name="Google Shape;394;h575f3ee0b5d7ded4_23_1137"/>
            <p:cNvSpPr/>
            <p:nvPr/>
          </p:nvSpPr>
          <p:spPr>
            <a:xfrm>
              <a:off x="0" y="0"/>
              <a:ext cx="10972800" cy="552600"/>
            </a:xfrm>
            <a:prstGeom prst="roundRect">
              <a:avLst>
                <a:gd fmla="val 13793" name="adj"/>
              </a:avLst>
            </a:prstGeom>
            <a:solidFill>
              <a:srgbClr val="0F1E2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5" name="Google Shape;395;h575f3ee0b5d7ded4_23_1137"/>
            <p:cNvSpPr txBox="1"/>
            <p:nvPr/>
          </p:nvSpPr>
          <p:spPr>
            <a:xfrm>
              <a:off x="228600" y="95250"/>
              <a:ext cx="3238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00">
                  <a:solidFill>
                    <a:srgbClr val="F2AD62"/>
                  </a:solidFill>
                  <a:latin typeface="Inter"/>
                  <a:ea typeface="Inter"/>
                  <a:cs typeface="Inter"/>
                  <a:sym typeface="Inter"/>
                </a:rPr>
                <a:t>GPU</a:t>
              </a:r>
              <a:endParaRPr b="1" sz="900">
                <a:solidFill>
                  <a:srgbClr val="F2AD62"/>
                </a:solidFill>
                <a:latin typeface="Inter"/>
                <a:ea typeface="Inter"/>
                <a:cs typeface="Inter"/>
                <a:sym typeface="Inter"/>
              </a:endParaRPr>
            </a:p>
          </p:txBody>
        </p:sp>
        <p:sp>
          <p:nvSpPr>
            <p:cNvPr id="396" name="Google Shape;396;h575f3ee0b5d7ded4_23_1137"/>
            <p:cNvSpPr txBox="1"/>
            <p:nvPr/>
          </p:nvSpPr>
          <p:spPr>
            <a:xfrm>
              <a:off x="228600" y="266700"/>
              <a:ext cx="32385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250">
                  <a:solidFill>
                    <a:srgbClr val="FFFFFF"/>
                  </a:solidFill>
                  <a:latin typeface="Inter"/>
                  <a:ea typeface="Inter"/>
                  <a:cs typeface="Inter"/>
                  <a:sym typeface="Inter"/>
                </a:rPr>
                <a:t>Quadro T2000 · 4 GiB VRAM</a:t>
              </a:r>
              <a:endParaRPr b="1" sz="1250">
                <a:solidFill>
                  <a:srgbClr val="FFFFFF"/>
                </a:solidFill>
                <a:latin typeface="Inter"/>
                <a:ea typeface="Inter"/>
                <a:cs typeface="Inter"/>
                <a:sym typeface="Inter"/>
              </a:endParaRPr>
            </a:p>
          </p:txBody>
        </p:sp>
        <p:cxnSp>
          <p:nvCxnSpPr>
            <p:cNvPr id="397" name="Google Shape;397;h575f3ee0b5d7ded4_23_1137"/>
            <p:cNvCxnSpPr/>
            <p:nvPr/>
          </p:nvCxnSpPr>
          <p:spPr>
            <a:xfrm>
              <a:off x="3695700" y="114300"/>
              <a:ext cx="0" cy="324000"/>
            </a:xfrm>
            <a:prstGeom prst="straightConnector1">
              <a:avLst/>
            </a:prstGeom>
            <a:solidFill>
              <a:srgbClr val="FFFFFF"/>
            </a:solidFill>
            <a:ln cap="flat" cmpd="sng" w="9525">
              <a:solidFill>
                <a:srgbClr val="253540"/>
              </a:solidFill>
              <a:prstDash val="solid"/>
              <a:round/>
              <a:headEnd len="sm" w="sm" type="none"/>
              <a:tailEnd len="sm" w="sm" type="none"/>
            </a:ln>
          </p:spPr>
        </p:cxnSp>
        <p:sp>
          <p:nvSpPr>
            <p:cNvPr id="398" name="Google Shape;398;h575f3ee0b5d7ded4_23_1137"/>
            <p:cNvSpPr txBox="1"/>
            <p:nvPr/>
          </p:nvSpPr>
          <p:spPr>
            <a:xfrm>
              <a:off x="3924300" y="95250"/>
              <a:ext cx="31434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00">
                  <a:solidFill>
                    <a:srgbClr val="F2AD62"/>
                  </a:solidFill>
                  <a:latin typeface="Inter"/>
                  <a:ea typeface="Inter"/>
                  <a:cs typeface="Inter"/>
                  <a:sym typeface="Inter"/>
                </a:rPr>
                <a:t>RAM HỆ THỐNG</a:t>
              </a:r>
              <a:endParaRPr b="1" sz="900">
                <a:solidFill>
                  <a:srgbClr val="F2AD62"/>
                </a:solidFill>
                <a:latin typeface="Inter"/>
                <a:ea typeface="Inter"/>
                <a:cs typeface="Inter"/>
                <a:sym typeface="Inter"/>
              </a:endParaRPr>
            </a:p>
          </p:txBody>
        </p:sp>
        <p:sp>
          <p:nvSpPr>
            <p:cNvPr id="399" name="Google Shape;399;h575f3ee0b5d7ded4_23_1137"/>
            <p:cNvSpPr txBox="1"/>
            <p:nvPr/>
          </p:nvSpPr>
          <p:spPr>
            <a:xfrm>
              <a:off x="3924300" y="266700"/>
              <a:ext cx="3143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250">
                  <a:solidFill>
                    <a:srgbClr val="FFFFFF"/>
                  </a:solidFill>
                  <a:latin typeface="Inter"/>
                  <a:ea typeface="Inter"/>
                  <a:cs typeface="Inter"/>
                  <a:sym typeface="Inter"/>
                </a:rPr>
                <a:t>30,96 GiB</a:t>
              </a:r>
              <a:endParaRPr b="1" sz="1250">
                <a:solidFill>
                  <a:srgbClr val="FFFFFF"/>
                </a:solidFill>
                <a:latin typeface="Inter"/>
                <a:ea typeface="Inter"/>
                <a:cs typeface="Inter"/>
                <a:sym typeface="Inter"/>
              </a:endParaRPr>
            </a:p>
          </p:txBody>
        </p:sp>
        <p:cxnSp>
          <p:nvCxnSpPr>
            <p:cNvPr id="400" name="Google Shape;400;h575f3ee0b5d7ded4_23_1137"/>
            <p:cNvCxnSpPr/>
            <p:nvPr/>
          </p:nvCxnSpPr>
          <p:spPr>
            <a:xfrm>
              <a:off x="7296150" y="114300"/>
              <a:ext cx="0" cy="324000"/>
            </a:xfrm>
            <a:prstGeom prst="straightConnector1">
              <a:avLst/>
            </a:prstGeom>
            <a:solidFill>
              <a:srgbClr val="FFFFFF"/>
            </a:solidFill>
            <a:ln cap="flat" cmpd="sng" w="9525">
              <a:solidFill>
                <a:srgbClr val="253540"/>
              </a:solidFill>
              <a:prstDash val="solid"/>
              <a:round/>
              <a:headEnd len="sm" w="sm" type="none"/>
              <a:tailEnd len="sm" w="sm" type="none"/>
            </a:ln>
          </p:spPr>
        </p:cxnSp>
        <p:sp>
          <p:nvSpPr>
            <p:cNvPr id="401" name="Google Shape;401;h575f3ee0b5d7ded4_23_1137"/>
            <p:cNvSpPr txBox="1"/>
            <p:nvPr/>
          </p:nvSpPr>
          <p:spPr>
            <a:xfrm>
              <a:off x="7524750" y="95250"/>
              <a:ext cx="32196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00">
                  <a:solidFill>
                    <a:srgbClr val="F2AD62"/>
                  </a:solidFill>
                  <a:latin typeface="Inter"/>
                  <a:ea typeface="Inter"/>
                  <a:cs typeface="Inter"/>
                  <a:sym typeface="Inter"/>
                </a:rPr>
                <a:t>CPU</a:t>
              </a:r>
              <a:endParaRPr b="1" sz="900">
                <a:solidFill>
                  <a:srgbClr val="F2AD62"/>
                </a:solidFill>
                <a:latin typeface="Inter"/>
                <a:ea typeface="Inter"/>
                <a:cs typeface="Inter"/>
                <a:sym typeface="Inter"/>
              </a:endParaRPr>
            </a:p>
          </p:txBody>
        </p:sp>
        <p:sp>
          <p:nvSpPr>
            <p:cNvPr id="402" name="Google Shape;402;h575f3ee0b5d7ded4_23_1137"/>
            <p:cNvSpPr txBox="1"/>
            <p:nvPr/>
          </p:nvSpPr>
          <p:spPr>
            <a:xfrm>
              <a:off x="7524750" y="266700"/>
              <a:ext cx="32196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250">
                  <a:solidFill>
                    <a:srgbClr val="FFFFFF"/>
                  </a:solidFill>
                  <a:latin typeface="Inter"/>
                  <a:ea typeface="Inter"/>
                  <a:cs typeface="Inter"/>
                  <a:sym typeface="Inter"/>
                </a:rPr>
                <a:t>12 logical threads</a:t>
              </a:r>
              <a:endParaRPr b="1" sz="1250">
                <a:solidFill>
                  <a:srgbClr val="FFFFFF"/>
                </a:solidFill>
                <a:latin typeface="Inter"/>
                <a:ea typeface="Inter"/>
                <a:cs typeface="Inter"/>
                <a:sym typeface="Inter"/>
              </a:endParaRPr>
            </a:p>
          </p:txBody>
        </p:sp>
      </p:grpSp>
      <p:sp>
        <p:nvSpPr>
          <p:cNvPr id="403" name="Google Shape;403;h575f3ee0b5d7ded4_23_1137"/>
          <p:cNvSpPr txBox="1"/>
          <p:nvPr/>
        </p:nvSpPr>
        <p:spPr>
          <a:xfrm>
            <a:off x="609600" y="2038350"/>
            <a:ext cx="53721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50">
                <a:solidFill>
                  <a:srgbClr val="0E8283"/>
                </a:solidFill>
                <a:latin typeface="Inter"/>
                <a:ea typeface="Inter"/>
                <a:cs typeface="Inter"/>
                <a:sym typeface="Inter"/>
              </a:rPr>
              <a:t>SO SÁNH THEO LƯỢT CHẠY</a:t>
            </a:r>
            <a:endParaRPr b="1" sz="1050">
              <a:solidFill>
                <a:srgbClr val="0E8283"/>
              </a:solidFill>
              <a:latin typeface="Inter"/>
              <a:ea typeface="Inter"/>
              <a:cs typeface="Inter"/>
              <a:sym typeface="Inter"/>
            </a:endParaRPr>
          </a:p>
        </p:txBody>
      </p:sp>
      <p:grpSp>
        <p:nvGrpSpPr>
          <p:cNvPr id="404" name="Google Shape;404;h575f3ee0b5d7ded4_23_1137"/>
          <p:cNvGrpSpPr/>
          <p:nvPr/>
        </p:nvGrpSpPr>
        <p:grpSpPr>
          <a:xfrm>
            <a:off x="609600" y="2286000"/>
            <a:ext cx="5372100" cy="495300"/>
            <a:chOff x="0" y="0"/>
            <a:chExt cx="5372100" cy="495300"/>
          </a:xfrm>
        </p:grpSpPr>
        <p:sp>
          <p:nvSpPr>
            <p:cNvPr id="405" name="Google Shape;405;h575f3ee0b5d7ded4_23_1137"/>
            <p:cNvSpPr/>
            <p:nvPr/>
          </p:nvSpPr>
          <p:spPr>
            <a:xfrm>
              <a:off x="0" y="0"/>
              <a:ext cx="5372100" cy="495300"/>
            </a:xfrm>
            <a:prstGeom prst="roundRect">
              <a:avLst>
                <a:gd fmla="val 15384"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6" name="Google Shape;406;h575f3ee0b5d7ded4_23_1137"/>
            <p:cNvSpPr txBox="1"/>
            <p:nvPr/>
          </p:nvSpPr>
          <p:spPr>
            <a:xfrm>
              <a:off x="152400" y="76200"/>
              <a:ext cx="2095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64">
                  <a:solidFill>
                    <a:srgbClr val="0E8283"/>
                  </a:solidFill>
                  <a:latin typeface="Inter"/>
                  <a:ea typeface="Inter"/>
                  <a:cs typeface="Inter"/>
                  <a:sym typeface="Inter"/>
                </a:rPr>
                <a:t>Room · 1280px</a:t>
              </a:r>
              <a:endParaRPr b="1" sz="1064">
                <a:solidFill>
                  <a:srgbClr val="0E8283"/>
                </a:solidFill>
                <a:latin typeface="Inter"/>
                <a:ea typeface="Inter"/>
                <a:cs typeface="Inter"/>
                <a:sym typeface="Inter"/>
              </a:endParaRPr>
            </a:p>
          </p:txBody>
        </p:sp>
        <p:sp>
          <p:nvSpPr>
            <p:cNvPr id="407" name="Google Shape;407;h575f3ee0b5d7ded4_23_1137"/>
            <p:cNvSpPr txBox="1"/>
            <p:nvPr/>
          </p:nvSpPr>
          <p:spPr>
            <a:xfrm>
              <a:off x="152400" y="266700"/>
              <a:ext cx="2095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850">
                  <a:solidFill>
                    <a:srgbClr val="63747B"/>
                  </a:solidFill>
                  <a:latin typeface="Inter"/>
                  <a:ea typeface="Inter"/>
                  <a:cs typeface="Inter"/>
                  <a:sym typeface="Inter"/>
                </a:rPr>
                <a:t>RAM 6,70 GiB / VRAM 2,70 GiB</a:t>
              </a:r>
              <a:endParaRPr b="0" sz="850">
                <a:solidFill>
                  <a:srgbClr val="63747B"/>
                </a:solidFill>
                <a:latin typeface="Inter"/>
                <a:ea typeface="Inter"/>
                <a:cs typeface="Inter"/>
                <a:sym typeface="Inter"/>
              </a:endParaRPr>
            </a:p>
          </p:txBody>
        </p:sp>
        <p:sp>
          <p:nvSpPr>
            <p:cNvPr id="408" name="Google Shape;408;h575f3ee0b5d7ded4_23_1137"/>
            <p:cNvSpPr txBox="1"/>
            <p:nvPr/>
          </p:nvSpPr>
          <p:spPr>
            <a:xfrm>
              <a:off x="2324100" y="76200"/>
              <a:ext cx="2895600" cy="171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1000">
                  <a:solidFill>
                    <a:srgbClr val="1C2B34"/>
                  </a:solidFill>
                  <a:latin typeface="Inter"/>
                  <a:ea typeface="Inter"/>
                  <a:cs typeface="Inter"/>
                  <a:sym typeface="Inter"/>
                </a:rPr>
                <a:t>Máy 106,9p · Người 10,22p</a:t>
              </a:r>
              <a:endParaRPr b="1" sz="1000">
                <a:solidFill>
                  <a:srgbClr val="1C2B34"/>
                </a:solidFill>
                <a:latin typeface="Inter"/>
                <a:ea typeface="Inter"/>
                <a:cs typeface="Inter"/>
                <a:sym typeface="Inter"/>
              </a:endParaRPr>
            </a:p>
          </p:txBody>
        </p:sp>
      </p:grpSp>
      <p:grpSp>
        <p:nvGrpSpPr>
          <p:cNvPr id="409" name="Google Shape;409;h575f3ee0b5d7ded4_23_1137"/>
          <p:cNvGrpSpPr/>
          <p:nvPr/>
        </p:nvGrpSpPr>
        <p:grpSpPr>
          <a:xfrm>
            <a:off x="609600" y="2838450"/>
            <a:ext cx="5372100" cy="495300"/>
            <a:chOff x="0" y="0"/>
            <a:chExt cx="5372100" cy="495300"/>
          </a:xfrm>
        </p:grpSpPr>
        <p:sp>
          <p:nvSpPr>
            <p:cNvPr id="410" name="Google Shape;410;h575f3ee0b5d7ded4_23_1137"/>
            <p:cNvSpPr/>
            <p:nvPr/>
          </p:nvSpPr>
          <p:spPr>
            <a:xfrm>
              <a:off x="0" y="0"/>
              <a:ext cx="5372100" cy="495300"/>
            </a:xfrm>
            <a:prstGeom prst="roundRect">
              <a:avLst>
                <a:gd fmla="val 15384"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1" name="Google Shape;411;h575f3ee0b5d7ded4_23_1137"/>
            <p:cNvSpPr txBox="1"/>
            <p:nvPr/>
          </p:nvSpPr>
          <p:spPr>
            <a:xfrm>
              <a:off x="152400" y="76200"/>
              <a:ext cx="2095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64">
                  <a:solidFill>
                    <a:srgbClr val="0E8283"/>
                  </a:solidFill>
                  <a:latin typeface="Inter"/>
                  <a:ea typeface="Inter"/>
                  <a:cs typeface="Inter"/>
                  <a:sym typeface="Inter"/>
                </a:rPr>
                <a:t>Room · 800px</a:t>
              </a:r>
              <a:endParaRPr b="1" sz="1064">
                <a:solidFill>
                  <a:srgbClr val="0E8283"/>
                </a:solidFill>
                <a:latin typeface="Inter"/>
                <a:ea typeface="Inter"/>
                <a:cs typeface="Inter"/>
                <a:sym typeface="Inter"/>
              </a:endParaRPr>
            </a:p>
          </p:txBody>
        </p:sp>
        <p:sp>
          <p:nvSpPr>
            <p:cNvPr id="412" name="Google Shape;412;h575f3ee0b5d7ded4_23_1137"/>
            <p:cNvSpPr txBox="1"/>
            <p:nvPr/>
          </p:nvSpPr>
          <p:spPr>
            <a:xfrm>
              <a:off x="152400" y="266700"/>
              <a:ext cx="2095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850">
                  <a:solidFill>
                    <a:srgbClr val="63747B"/>
                  </a:solidFill>
                  <a:latin typeface="Inter"/>
                  <a:ea typeface="Inter"/>
                  <a:cs typeface="Inter"/>
                  <a:sym typeface="Inter"/>
                </a:rPr>
                <a:t>RAM 2,52 GiB / VRAM 3,27 GiB</a:t>
              </a:r>
              <a:endParaRPr b="0" sz="850">
                <a:solidFill>
                  <a:srgbClr val="63747B"/>
                </a:solidFill>
                <a:latin typeface="Inter"/>
                <a:ea typeface="Inter"/>
                <a:cs typeface="Inter"/>
                <a:sym typeface="Inter"/>
              </a:endParaRPr>
            </a:p>
          </p:txBody>
        </p:sp>
        <p:sp>
          <p:nvSpPr>
            <p:cNvPr id="413" name="Google Shape;413;h575f3ee0b5d7ded4_23_1137"/>
            <p:cNvSpPr txBox="1"/>
            <p:nvPr/>
          </p:nvSpPr>
          <p:spPr>
            <a:xfrm>
              <a:off x="2324100" y="76200"/>
              <a:ext cx="2895600" cy="171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1000">
                  <a:solidFill>
                    <a:srgbClr val="1C2B34"/>
                  </a:solidFill>
                  <a:latin typeface="Inter"/>
                  <a:ea typeface="Inter"/>
                  <a:cs typeface="Inter"/>
                  <a:sym typeface="Inter"/>
                </a:rPr>
                <a:t>Máy 109,5p · Người 25,72p</a:t>
              </a:r>
              <a:endParaRPr b="1" sz="1000">
                <a:solidFill>
                  <a:srgbClr val="1C2B34"/>
                </a:solidFill>
                <a:latin typeface="Inter"/>
                <a:ea typeface="Inter"/>
                <a:cs typeface="Inter"/>
                <a:sym typeface="Inter"/>
              </a:endParaRPr>
            </a:p>
          </p:txBody>
        </p:sp>
      </p:grpSp>
      <p:grpSp>
        <p:nvGrpSpPr>
          <p:cNvPr id="414" name="Google Shape;414;h575f3ee0b5d7ded4_23_1137"/>
          <p:cNvGrpSpPr/>
          <p:nvPr/>
        </p:nvGrpSpPr>
        <p:grpSpPr>
          <a:xfrm>
            <a:off x="609600" y="3390900"/>
            <a:ext cx="5372100" cy="495300"/>
            <a:chOff x="0" y="0"/>
            <a:chExt cx="5372100" cy="495300"/>
          </a:xfrm>
        </p:grpSpPr>
        <p:sp>
          <p:nvSpPr>
            <p:cNvPr id="415" name="Google Shape;415;h575f3ee0b5d7ded4_23_1137"/>
            <p:cNvSpPr/>
            <p:nvPr/>
          </p:nvSpPr>
          <p:spPr>
            <a:xfrm>
              <a:off x="0" y="0"/>
              <a:ext cx="5372100" cy="495300"/>
            </a:xfrm>
            <a:prstGeom prst="roundRect">
              <a:avLst>
                <a:gd fmla="val 15384"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6" name="Google Shape;416;h575f3ee0b5d7ded4_23_1137"/>
            <p:cNvSpPr txBox="1"/>
            <p:nvPr/>
          </p:nvSpPr>
          <p:spPr>
            <a:xfrm>
              <a:off x="152400" y="76200"/>
              <a:ext cx="2095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64">
                  <a:solidFill>
                    <a:srgbClr val="0E8283"/>
                  </a:solidFill>
                  <a:latin typeface="Inter"/>
                  <a:ea typeface="Inter"/>
                  <a:cs typeface="Inter"/>
                  <a:sym typeface="Inter"/>
                </a:rPr>
                <a:t>playroom</a:t>
              </a:r>
              <a:endParaRPr b="1" sz="1064">
                <a:solidFill>
                  <a:srgbClr val="0E8283"/>
                </a:solidFill>
                <a:latin typeface="Inter"/>
                <a:ea typeface="Inter"/>
                <a:cs typeface="Inter"/>
                <a:sym typeface="Inter"/>
              </a:endParaRPr>
            </a:p>
          </p:txBody>
        </p:sp>
        <p:sp>
          <p:nvSpPr>
            <p:cNvPr id="417" name="Google Shape;417;h575f3ee0b5d7ded4_23_1137"/>
            <p:cNvSpPr txBox="1"/>
            <p:nvPr/>
          </p:nvSpPr>
          <p:spPr>
            <a:xfrm>
              <a:off x="152400" y="266700"/>
              <a:ext cx="2095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850">
                  <a:solidFill>
                    <a:srgbClr val="63747B"/>
                  </a:solidFill>
                  <a:latin typeface="Inter"/>
                  <a:ea typeface="Inter"/>
                  <a:cs typeface="Inter"/>
                  <a:sym typeface="Inter"/>
                </a:rPr>
                <a:t>RAM 3,07 GiB / VRAM 3,32 GiB</a:t>
              </a:r>
              <a:endParaRPr b="0" sz="850">
                <a:solidFill>
                  <a:srgbClr val="63747B"/>
                </a:solidFill>
                <a:latin typeface="Inter"/>
                <a:ea typeface="Inter"/>
                <a:cs typeface="Inter"/>
                <a:sym typeface="Inter"/>
              </a:endParaRPr>
            </a:p>
          </p:txBody>
        </p:sp>
        <p:sp>
          <p:nvSpPr>
            <p:cNvPr id="418" name="Google Shape;418;h575f3ee0b5d7ded4_23_1137"/>
            <p:cNvSpPr txBox="1"/>
            <p:nvPr/>
          </p:nvSpPr>
          <p:spPr>
            <a:xfrm>
              <a:off x="2324100" y="76200"/>
              <a:ext cx="2895600" cy="171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1000">
                  <a:solidFill>
                    <a:srgbClr val="1C2B34"/>
                  </a:solidFill>
                  <a:latin typeface="Inter"/>
                  <a:ea typeface="Inter"/>
                  <a:cs typeface="Inter"/>
                  <a:sym typeface="Inter"/>
                </a:rPr>
                <a:t>Máy 98,4p* · Người 22,88p</a:t>
              </a:r>
              <a:endParaRPr b="1" sz="1000">
                <a:solidFill>
                  <a:srgbClr val="1C2B34"/>
                </a:solidFill>
                <a:latin typeface="Inter"/>
                <a:ea typeface="Inter"/>
                <a:cs typeface="Inter"/>
                <a:sym typeface="Inter"/>
              </a:endParaRPr>
            </a:p>
          </p:txBody>
        </p:sp>
      </p:grpSp>
      <p:grpSp>
        <p:nvGrpSpPr>
          <p:cNvPr id="419" name="Google Shape;419;h575f3ee0b5d7ded4_23_1137"/>
          <p:cNvGrpSpPr/>
          <p:nvPr/>
        </p:nvGrpSpPr>
        <p:grpSpPr>
          <a:xfrm>
            <a:off x="609600" y="3943350"/>
            <a:ext cx="5372100" cy="495300"/>
            <a:chOff x="0" y="0"/>
            <a:chExt cx="5372100" cy="495300"/>
          </a:xfrm>
        </p:grpSpPr>
        <p:sp>
          <p:nvSpPr>
            <p:cNvPr id="420" name="Google Shape;420;h575f3ee0b5d7ded4_23_1137"/>
            <p:cNvSpPr/>
            <p:nvPr/>
          </p:nvSpPr>
          <p:spPr>
            <a:xfrm>
              <a:off x="0" y="0"/>
              <a:ext cx="5372100" cy="495300"/>
            </a:xfrm>
            <a:prstGeom prst="roundRect">
              <a:avLst>
                <a:gd fmla="val 15384"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1" name="Google Shape;421;h575f3ee0b5d7ded4_23_1137"/>
            <p:cNvSpPr txBox="1"/>
            <p:nvPr/>
          </p:nvSpPr>
          <p:spPr>
            <a:xfrm>
              <a:off x="152400" y="76200"/>
              <a:ext cx="2095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64">
                  <a:solidFill>
                    <a:srgbClr val="0E8283"/>
                  </a:solidFill>
                  <a:latin typeface="Inter"/>
                  <a:ea typeface="Inter"/>
                  <a:cs typeface="Inter"/>
                  <a:sym typeface="Inter"/>
                </a:rPr>
                <a:t>drjohnson</a:t>
              </a:r>
              <a:endParaRPr b="1" sz="1064">
                <a:solidFill>
                  <a:srgbClr val="0E8283"/>
                </a:solidFill>
                <a:latin typeface="Inter"/>
                <a:ea typeface="Inter"/>
                <a:cs typeface="Inter"/>
                <a:sym typeface="Inter"/>
              </a:endParaRPr>
            </a:p>
          </p:txBody>
        </p:sp>
        <p:sp>
          <p:nvSpPr>
            <p:cNvPr id="422" name="Google Shape;422;h575f3ee0b5d7ded4_23_1137"/>
            <p:cNvSpPr txBox="1"/>
            <p:nvPr/>
          </p:nvSpPr>
          <p:spPr>
            <a:xfrm>
              <a:off x="152400" y="266700"/>
              <a:ext cx="2095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850">
                  <a:solidFill>
                    <a:srgbClr val="63747B"/>
                  </a:solidFill>
                  <a:latin typeface="Inter"/>
                  <a:ea typeface="Inter"/>
                  <a:cs typeface="Inter"/>
                  <a:sym typeface="Inter"/>
                </a:rPr>
                <a:t>RAM 5,52 GiB / VRAM 3,62 GiB</a:t>
              </a:r>
              <a:endParaRPr b="0" sz="850">
                <a:solidFill>
                  <a:srgbClr val="63747B"/>
                </a:solidFill>
                <a:latin typeface="Inter"/>
                <a:ea typeface="Inter"/>
                <a:cs typeface="Inter"/>
                <a:sym typeface="Inter"/>
              </a:endParaRPr>
            </a:p>
          </p:txBody>
        </p:sp>
        <p:sp>
          <p:nvSpPr>
            <p:cNvPr id="423" name="Google Shape;423;h575f3ee0b5d7ded4_23_1137"/>
            <p:cNvSpPr txBox="1"/>
            <p:nvPr/>
          </p:nvSpPr>
          <p:spPr>
            <a:xfrm>
              <a:off x="2324100" y="76200"/>
              <a:ext cx="2895600" cy="171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1000">
                  <a:solidFill>
                    <a:srgbClr val="1C2B34"/>
                  </a:solidFill>
                  <a:latin typeface="Inter"/>
                  <a:ea typeface="Inter"/>
                  <a:cs typeface="Inter"/>
                  <a:sym typeface="Inter"/>
                </a:rPr>
                <a:t>Máy 255,1p · Người 156,27p</a:t>
              </a:r>
              <a:endParaRPr b="1" sz="1000">
                <a:solidFill>
                  <a:srgbClr val="1C2B34"/>
                </a:solidFill>
                <a:latin typeface="Inter"/>
                <a:ea typeface="Inter"/>
                <a:cs typeface="Inter"/>
                <a:sym typeface="Inter"/>
              </a:endParaRPr>
            </a:p>
          </p:txBody>
        </p:sp>
        <p:sp>
          <p:nvSpPr>
            <p:cNvPr id="424" name="Google Shape;424;h575f3ee0b5d7ded4_23_1137"/>
            <p:cNvSpPr txBox="1"/>
            <p:nvPr/>
          </p:nvSpPr>
          <p:spPr>
            <a:xfrm>
              <a:off x="2324100" y="266700"/>
              <a:ext cx="2895600" cy="1524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0" lang="en-US" sz="850">
                  <a:solidFill>
                    <a:srgbClr val="63747B"/>
                  </a:solidFill>
                  <a:latin typeface="Inter"/>
                  <a:ea typeface="Inter"/>
                  <a:cs typeface="Inter"/>
                  <a:sym typeface="Inter"/>
                </a:rPr>
                <a:t>Xuất 22 object OpenUSD</a:t>
              </a:r>
              <a:endParaRPr b="0" sz="850">
                <a:solidFill>
                  <a:srgbClr val="63747B"/>
                </a:solidFill>
                <a:latin typeface="Inter"/>
                <a:ea typeface="Inter"/>
                <a:cs typeface="Inter"/>
                <a:sym typeface="Inter"/>
              </a:endParaRPr>
            </a:p>
          </p:txBody>
        </p:sp>
      </p:grpSp>
      <p:sp>
        <p:nvSpPr>
          <p:cNvPr id="425" name="Google Shape;425;h575f3ee0b5d7ded4_23_1137"/>
          <p:cNvSpPr txBox="1"/>
          <p:nvPr/>
        </p:nvSpPr>
        <p:spPr>
          <a:xfrm>
            <a:off x="6210300" y="2038350"/>
            <a:ext cx="53721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50">
                <a:solidFill>
                  <a:srgbClr val="0E8283"/>
                </a:solidFill>
                <a:latin typeface="Inter"/>
                <a:ea typeface="Inter"/>
                <a:cs typeface="Inter"/>
                <a:sym typeface="Inter"/>
              </a:rPr>
              <a:t>DRJOHNSON · THỜI GIAN &amp; TÀI NGUYÊN</a:t>
            </a:r>
            <a:endParaRPr b="1" sz="1050">
              <a:solidFill>
                <a:srgbClr val="0E8283"/>
              </a:solidFill>
              <a:latin typeface="Inter"/>
              <a:ea typeface="Inter"/>
              <a:cs typeface="Inter"/>
              <a:sym typeface="Inter"/>
            </a:endParaRPr>
          </a:p>
        </p:txBody>
      </p:sp>
      <p:grpSp>
        <p:nvGrpSpPr>
          <p:cNvPr id="426" name="Google Shape;426;h575f3ee0b5d7ded4_23_1137"/>
          <p:cNvGrpSpPr/>
          <p:nvPr/>
        </p:nvGrpSpPr>
        <p:grpSpPr>
          <a:xfrm>
            <a:off x="6210300" y="2286000"/>
            <a:ext cx="5372100" cy="2152800"/>
            <a:chOff x="0" y="0"/>
            <a:chExt cx="5372100" cy="2152800"/>
          </a:xfrm>
        </p:grpSpPr>
        <p:sp>
          <p:nvSpPr>
            <p:cNvPr id="427" name="Google Shape;427;h575f3ee0b5d7ded4_23_1137"/>
            <p:cNvSpPr/>
            <p:nvPr/>
          </p:nvSpPr>
          <p:spPr>
            <a:xfrm>
              <a:off x="0" y="0"/>
              <a:ext cx="5372100" cy="2152800"/>
            </a:xfrm>
            <a:prstGeom prst="roundRect">
              <a:avLst>
                <a:gd fmla="val 3539"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8" name="Google Shape;428;h575f3ee0b5d7ded4_23_1137"/>
            <p:cNvSpPr txBox="1"/>
            <p:nvPr/>
          </p:nvSpPr>
          <p:spPr>
            <a:xfrm>
              <a:off x="152400" y="95250"/>
              <a:ext cx="2476500" cy="152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850">
                  <a:solidFill>
                    <a:srgbClr val="63747B"/>
                  </a:solidFill>
                  <a:latin typeface="Inter"/>
                  <a:ea typeface="Inter"/>
                  <a:cs typeface="Inter"/>
                  <a:sym typeface="Inter"/>
                </a:rPr>
                <a:t>GIAI ĐOẠN</a:t>
              </a:r>
              <a:endParaRPr b="1" sz="850">
                <a:solidFill>
                  <a:srgbClr val="63747B"/>
                </a:solidFill>
                <a:latin typeface="Inter"/>
                <a:ea typeface="Inter"/>
                <a:cs typeface="Inter"/>
                <a:sym typeface="Inter"/>
              </a:endParaRPr>
            </a:p>
          </p:txBody>
        </p:sp>
        <p:sp>
          <p:nvSpPr>
            <p:cNvPr id="429" name="Google Shape;429;h575f3ee0b5d7ded4_23_1137"/>
            <p:cNvSpPr txBox="1"/>
            <p:nvPr/>
          </p:nvSpPr>
          <p:spPr>
            <a:xfrm>
              <a:off x="2705100" y="95250"/>
              <a:ext cx="762000" cy="1524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850">
                  <a:solidFill>
                    <a:srgbClr val="63747B"/>
                  </a:solidFill>
                  <a:latin typeface="Inter"/>
                  <a:ea typeface="Inter"/>
                  <a:cs typeface="Inter"/>
                  <a:sym typeface="Inter"/>
                </a:rPr>
                <a:t>PHÚT</a:t>
              </a:r>
              <a:endParaRPr b="1" sz="850">
                <a:solidFill>
                  <a:srgbClr val="63747B"/>
                </a:solidFill>
                <a:latin typeface="Inter"/>
                <a:ea typeface="Inter"/>
                <a:cs typeface="Inter"/>
                <a:sym typeface="Inter"/>
              </a:endParaRPr>
            </a:p>
          </p:txBody>
        </p:sp>
        <p:sp>
          <p:nvSpPr>
            <p:cNvPr id="430" name="Google Shape;430;h575f3ee0b5d7ded4_23_1137"/>
            <p:cNvSpPr txBox="1"/>
            <p:nvPr/>
          </p:nvSpPr>
          <p:spPr>
            <a:xfrm>
              <a:off x="3543300" y="95250"/>
              <a:ext cx="762000" cy="1524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850">
                  <a:solidFill>
                    <a:srgbClr val="63747B"/>
                  </a:solidFill>
                  <a:latin typeface="Inter"/>
                  <a:ea typeface="Inter"/>
                  <a:cs typeface="Inter"/>
                  <a:sym typeface="Inter"/>
                </a:rPr>
                <a:t>RAM</a:t>
              </a:r>
              <a:endParaRPr b="1" sz="850">
                <a:solidFill>
                  <a:srgbClr val="63747B"/>
                </a:solidFill>
                <a:latin typeface="Inter"/>
                <a:ea typeface="Inter"/>
                <a:cs typeface="Inter"/>
                <a:sym typeface="Inter"/>
              </a:endParaRPr>
            </a:p>
          </p:txBody>
        </p:sp>
        <p:sp>
          <p:nvSpPr>
            <p:cNvPr id="431" name="Google Shape;431;h575f3ee0b5d7ded4_23_1137"/>
            <p:cNvSpPr txBox="1"/>
            <p:nvPr/>
          </p:nvSpPr>
          <p:spPr>
            <a:xfrm>
              <a:off x="4381500" y="95250"/>
              <a:ext cx="838200" cy="1524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850">
                  <a:solidFill>
                    <a:srgbClr val="63747B"/>
                  </a:solidFill>
                  <a:latin typeface="Inter"/>
                  <a:ea typeface="Inter"/>
                  <a:cs typeface="Inter"/>
                  <a:sym typeface="Inter"/>
                </a:rPr>
                <a:t>VRAM</a:t>
              </a:r>
              <a:endParaRPr b="1" sz="850">
                <a:solidFill>
                  <a:srgbClr val="63747B"/>
                </a:solidFill>
                <a:latin typeface="Inter"/>
                <a:ea typeface="Inter"/>
                <a:cs typeface="Inter"/>
                <a:sym typeface="Inter"/>
              </a:endParaRPr>
            </a:p>
          </p:txBody>
        </p:sp>
        <p:cxnSp>
          <p:nvCxnSpPr>
            <p:cNvPr id="432" name="Google Shape;432;h575f3ee0b5d7ded4_23_1137"/>
            <p:cNvCxnSpPr/>
            <p:nvPr/>
          </p:nvCxnSpPr>
          <p:spPr>
            <a:xfrm>
              <a:off x="152400" y="304800"/>
              <a:ext cx="5067300" cy="0"/>
            </a:xfrm>
            <a:prstGeom prst="straightConnector1">
              <a:avLst/>
            </a:prstGeom>
            <a:solidFill>
              <a:srgbClr val="FFFFFF"/>
            </a:solidFill>
            <a:ln cap="flat" cmpd="sng" w="9525">
              <a:solidFill>
                <a:srgbClr val="E2E8F0"/>
              </a:solidFill>
              <a:prstDash val="solid"/>
              <a:round/>
              <a:headEnd len="sm" w="sm" type="none"/>
              <a:tailEnd len="sm" w="sm" type="none"/>
            </a:ln>
          </p:spPr>
        </p:cxnSp>
        <p:grpSp>
          <p:nvGrpSpPr>
            <p:cNvPr id="433" name="Google Shape;433;h575f3ee0b5d7ded4_23_1137"/>
            <p:cNvGrpSpPr/>
            <p:nvPr/>
          </p:nvGrpSpPr>
          <p:grpSpPr>
            <a:xfrm>
              <a:off x="114300" y="342900"/>
              <a:ext cx="5143500" cy="324000"/>
              <a:chOff x="0" y="0"/>
              <a:chExt cx="5143500" cy="324000"/>
            </a:xfrm>
          </p:grpSpPr>
          <p:sp>
            <p:nvSpPr>
              <p:cNvPr id="434" name="Google Shape;434;h575f3ee0b5d7ded4_23_1137"/>
              <p:cNvSpPr/>
              <p:nvPr/>
            </p:nvSpPr>
            <p:spPr>
              <a:xfrm>
                <a:off x="0" y="0"/>
                <a:ext cx="5143500" cy="324000"/>
              </a:xfrm>
              <a:prstGeom prst="roundRect">
                <a:avLst>
                  <a:gd fmla="val 17647" name="adj"/>
                </a:avLst>
              </a:prstGeom>
              <a:solidFill>
                <a:srgbClr val="E8F4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5" name="Google Shape;435;h575f3ee0b5d7ded4_23_1137"/>
              <p:cNvSpPr txBox="1"/>
              <p:nvPr/>
            </p:nvSpPr>
            <p:spPr>
              <a:xfrm>
                <a:off x="76200" y="0"/>
                <a:ext cx="2476500" cy="3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50">
                    <a:solidFill>
                      <a:srgbClr val="1C2B34"/>
                    </a:solidFill>
                    <a:latin typeface="Inter"/>
                    <a:ea typeface="Inter"/>
                    <a:cs typeface="Inter"/>
                    <a:sym typeface="Inter"/>
                  </a:rPr>
                  <a:t>COLMAP + Brush (preview)</a:t>
                </a:r>
                <a:endParaRPr b="1" sz="950">
                  <a:solidFill>
                    <a:srgbClr val="1C2B34"/>
                  </a:solidFill>
                  <a:latin typeface="Inter"/>
                  <a:ea typeface="Inter"/>
                  <a:cs typeface="Inter"/>
                  <a:sym typeface="Inter"/>
                </a:endParaRPr>
              </a:p>
            </p:txBody>
          </p:sp>
          <p:sp>
            <p:nvSpPr>
              <p:cNvPr id="436" name="Google Shape;436;h575f3ee0b5d7ded4_23_1137"/>
              <p:cNvSpPr txBox="1"/>
              <p:nvPr/>
            </p:nvSpPr>
            <p:spPr>
              <a:xfrm>
                <a:off x="25908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225,4</a:t>
                </a:r>
                <a:endParaRPr b="1" sz="950">
                  <a:solidFill>
                    <a:srgbClr val="1C2B34"/>
                  </a:solidFill>
                  <a:latin typeface="Inter"/>
                  <a:ea typeface="Inter"/>
                  <a:cs typeface="Inter"/>
                  <a:sym typeface="Inter"/>
                </a:endParaRPr>
              </a:p>
            </p:txBody>
          </p:sp>
          <p:sp>
            <p:nvSpPr>
              <p:cNvPr id="437" name="Google Shape;437;h575f3ee0b5d7ded4_23_1137"/>
              <p:cNvSpPr txBox="1"/>
              <p:nvPr/>
            </p:nvSpPr>
            <p:spPr>
              <a:xfrm>
                <a:off x="34290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2,38</a:t>
                </a:r>
                <a:endParaRPr b="1" sz="950">
                  <a:solidFill>
                    <a:srgbClr val="1C2B34"/>
                  </a:solidFill>
                  <a:latin typeface="Inter"/>
                  <a:ea typeface="Inter"/>
                  <a:cs typeface="Inter"/>
                  <a:sym typeface="Inter"/>
                </a:endParaRPr>
              </a:p>
            </p:txBody>
          </p:sp>
          <p:sp>
            <p:nvSpPr>
              <p:cNvPr id="438" name="Google Shape;438;h575f3ee0b5d7ded4_23_1137"/>
              <p:cNvSpPr txBox="1"/>
              <p:nvPr/>
            </p:nvSpPr>
            <p:spPr>
              <a:xfrm>
                <a:off x="4267200" y="0"/>
                <a:ext cx="8382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3,62</a:t>
                </a:r>
                <a:endParaRPr b="1" sz="950">
                  <a:solidFill>
                    <a:srgbClr val="1C2B34"/>
                  </a:solidFill>
                  <a:latin typeface="Inter"/>
                  <a:ea typeface="Inter"/>
                  <a:cs typeface="Inter"/>
                  <a:sym typeface="Inter"/>
                </a:endParaRPr>
              </a:p>
            </p:txBody>
          </p:sp>
        </p:grpSp>
        <p:grpSp>
          <p:nvGrpSpPr>
            <p:cNvPr id="439" name="Google Shape;439;h575f3ee0b5d7ded4_23_1137"/>
            <p:cNvGrpSpPr/>
            <p:nvPr/>
          </p:nvGrpSpPr>
          <p:grpSpPr>
            <a:xfrm>
              <a:off x="190500" y="685800"/>
              <a:ext cx="5029200" cy="324000"/>
              <a:chOff x="76200" y="0"/>
              <a:chExt cx="5029200" cy="324000"/>
            </a:xfrm>
          </p:grpSpPr>
          <p:sp>
            <p:nvSpPr>
              <p:cNvPr id="440" name="Google Shape;440;h575f3ee0b5d7ded4_23_1137"/>
              <p:cNvSpPr txBox="1"/>
              <p:nvPr/>
            </p:nvSpPr>
            <p:spPr>
              <a:xfrm>
                <a:off x="76200" y="0"/>
                <a:ext cx="2476500" cy="3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1C2B34"/>
                    </a:solidFill>
                    <a:latin typeface="Inter"/>
                    <a:ea typeface="Inter"/>
                    <a:cs typeface="Inter"/>
                    <a:sym typeface="Inter"/>
                  </a:rPr>
                  <a:t>Metric Scale</a:t>
                </a:r>
                <a:endParaRPr b="0" sz="950">
                  <a:solidFill>
                    <a:srgbClr val="1C2B34"/>
                  </a:solidFill>
                  <a:latin typeface="Inter"/>
                  <a:ea typeface="Inter"/>
                  <a:cs typeface="Inter"/>
                  <a:sym typeface="Inter"/>
                </a:endParaRPr>
              </a:p>
            </p:txBody>
          </p:sp>
          <p:sp>
            <p:nvSpPr>
              <p:cNvPr id="441" name="Google Shape;441;h575f3ee0b5d7ded4_23_1137"/>
              <p:cNvSpPr txBox="1"/>
              <p:nvPr/>
            </p:nvSpPr>
            <p:spPr>
              <a:xfrm>
                <a:off x="25908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1,92</a:t>
                </a:r>
                <a:endParaRPr b="1" sz="950">
                  <a:solidFill>
                    <a:srgbClr val="1C2B34"/>
                  </a:solidFill>
                  <a:latin typeface="Inter"/>
                  <a:ea typeface="Inter"/>
                  <a:cs typeface="Inter"/>
                  <a:sym typeface="Inter"/>
                </a:endParaRPr>
              </a:p>
            </p:txBody>
          </p:sp>
          <p:sp>
            <p:nvSpPr>
              <p:cNvPr id="442" name="Google Shape;442;h575f3ee0b5d7ded4_23_1137"/>
              <p:cNvSpPr txBox="1"/>
              <p:nvPr/>
            </p:nvSpPr>
            <p:spPr>
              <a:xfrm>
                <a:off x="34290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1,55</a:t>
                </a:r>
                <a:endParaRPr b="1" sz="950">
                  <a:solidFill>
                    <a:srgbClr val="1C2B34"/>
                  </a:solidFill>
                  <a:latin typeface="Inter"/>
                  <a:ea typeface="Inter"/>
                  <a:cs typeface="Inter"/>
                  <a:sym typeface="Inter"/>
                </a:endParaRPr>
              </a:p>
            </p:txBody>
          </p:sp>
          <p:sp>
            <p:nvSpPr>
              <p:cNvPr id="443" name="Google Shape;443;h575f3ee0b5d7ded4_23_1137"/>
              <p:cNvSpPr txBox="1"/>
              <p:nvPr/>
            </p:nvSpPr>
            <p:spPr>
              <a:xfrm>
                <a:off x="4267200" y="0"/>
                <a:ext cx="8382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2,25</a:t>
                </a:r>
                <a:endParaRPr b="1" sz="950">
                  <a:solidFill>
                    <a:srgbClr val="1C2B34"/>
                  </a:solidFill>
                  <a:latin typeface="Inter"/>
                  <a:ea typeface="Inter"/>
                  <a:cs typeface="Inter"/>
                  <a:sym typeface="Inter"/>
                </a:endParaRPr>
              </a:p>
            </p:txBody>
          </p:sp>
        </p:grpSp>
        <p:grpSp>
          <p:nvGrpSpPr>
            <p:cNvPr id="444" name="Google Shape;444;h575f3ee0b5d7ded4_23_1137"/>
            <p:cNvGrpSpPr/>
            <p:nvPr/>
          </p:nvGrpSpPr>
          <p:grpSpPr>
            <a:xfrm>
              <a:off x="190500" y="1028700"/>
              <a:ext cx="5029200" cy="324000"/>
              <a:chOff x="76200" y="0"/>
              <a:chExt cx="5029200" cy="324000"/>
            </a:xfrm>
          </p:grpSpPr>
          <p:sp>
            <p:nvSpPr>
              <p:cNvPr id="445" name="Google Shape;445;h575f3ee0b5d7ded4_23_1137"/>
              <p:cNvSpPr txBox="1"/>
              <p:nvPr/>
            </p:nvSpPr>
            <p:spPr>
              <a:xfrm>
                <a:off x="76200" y="0"/>
                <a:ext cx="2476500" cy="3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1C2B34"/>
                    </a:solidFill>
                    <a:latin typeface="Inter"/>
                    <a:ea typeface="Inter"/>
                    <a:cs typeface="Inter"/>
                    <a:sym typeface="Inter"/>
                  </a:rPr>
                  <a:t>Voxel / finalize</a:t>
                </a:r>
                <a:endParaRPr b="0" sz="950">
                  <a:solidFill>
                    <a:srgbClr val="1C2B34"/>
                  </a:solidFill>
                  <a:latin typeface="Inter"/>
                  <a:ea typeface="Inter"/>
                  <a:cs typeface="Inter"/>
                  <a:sym typeface="Inter"/>
                </a:endParaRPr>
              </a:p>
            </p:txBody>
          </p:sp>
          <p:sp>
            <p:nvSpPr>
              <p:cNvPr id="446" name="Google Shape;446;h575f3ee0b5d7ded4_23_1137"/>
              <p:cNvSpPr txBox="1"/>
              <p:nvPr/>
            </p:nvSpPr>
            <p:spPr>
              <a:xfrm>
                <a:off x="25908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8,86</a:t>
                </a:r>
                <a:endParaRPr b="1" sz="950">
                  <a:solidFill>
                    <a:srgbClr val="1C2B34"/>
                  </a:solidFill>
                  <a:latin typeface="Inter"/>
                  <a:ea typeface="Inter"/>
                  <a:cs typeface="Inter"/>
                  <a:sym typeface="Inter"/>
                </a:endParaRPr>
              </a:p>
            </p:txBody>
          </p:sp>
          <p:sp>
            <p:nvSpPr>
              <p:cNvPr id="447" name="Google Shape;447;h575f3ee0b5d7ded4_23_1137"/>
              <p:cNvSpPr txBox="1"/>
              <p:nvPr/>
            </p:nvSpPr>
            <p:spPr>
              <a:xfrm>
                <a:off x="34290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3,14</a:t>
                </a:r>
                <a:endParaRPr b="1" sz="950">
                  <a:solidFill>
                    <a:srgbClr val="1C2B34"/>
                  </a:solidFill>
                  <a:latin typeface="Inter"/>
                  <a:ea typeface="Inter"/>
                  <a:cs typeface="Inter"/>
                  <a:sym typeface="Inter"/>
                </a:endParaRPr>
              </a:p>
            </p:txBody>
          </p:sp>
          <p:sp>
            <p:nvSpPr>
              <p:cNvPr id="448" name="Google Shape;448;h575f3ee0b5d7ded4_23_1137"/>
              <p:cNvSpPr txBox="1"/>
              <p:nvPr/>
            </p:nvSpPr>
            <p:spPr>
              <a:xfrm>
                <a:off x="4267200" y="0"/>
                <a:ext cx="8382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0,39</a:t>
                </a:r>
                <a:endParaRPr b="1" sz="950">
                  <a:solidFill>
                    <a:srgbClr val="1C2B34"/>
                  </a:solidFill>
                  <a:latin typeface="Inter"/>
                  <a:ea typeface="Inter"/>
                  <a:cs typeface="Inter"/>
                  <a:sym typeface="Inter"/>
                </a:endParaRPr>
              </a:p>
            </p:txBody>
          </p:sp>
        </p:grpSp>
        <p:grpSp>
          <p:nvGrpSpPr>
            <p:cNvPr id="449" name="Google Shape;449;h575f3ee0b5d7ded4_23_1137"/>
            <p:cNvGrpSpPr/>
            <p:nvPr/>
          </p:nvGrpSpPr>
          <p:grpSpPr>
            <a:xfrm>
              <a:off x="114300" y="1371600"/>
              <a:ext cx="5143500" cy="324000"/>
              <a:chOff x="0" y="0"/>
              <a:chExt cx="5143500" cy="324000"/>
            </a:xfrm>
          </p:grpSpPr>
          <p:sp>
            <p:nvSpPr>
              <p:cNvPr id="450" name="Google Shape;450;h575f3ee0b5d7ded4_23_1137"/>
              <p:cNvSpPr/>
              <p:nvPr/>
            </p:nvSpPr>
            <p:spPr>
              <a:xfrm>
                <a:off x="0" y="0"/>
                <a:ext cx="5143500" cy="324000"/>
              </a:xfrm>
              <a:prstGeom prst="roundRect">
                <a:avLst>
                  <a:gd fmla="val 17647" name="adj"/>
                </a:avLst>
              </a:prstGeom>
              <a:solidFill>
                <a:srgbClr val="E8F4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1" name="Google Shape;451;h575f3ee0b5d7ded4_23_1137"/>
              <p:cNvSpPr txBox="1"/>
              <p:nvPr/>
            </p:nvSpPr>
            <p:spPr>
              <a:xfrm>
                <a:off x="76200" y="0"/>
                <a:ext cx="2476500" cy="3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50">
                    <a:solidFill>
                      <a:srgbClr val="1C2B34"/>
                    </a:solidFill>
                    <a:latin typeface="Inter"/>
                    <a:ea typeface="Inter"/>
                    <a:cs typeface="Inter"/>
                    <a:sym typeface="Inter"/>
                  </a:rPr>
                  <a:t>SAM2 / Lift / Extract</a:t>
                </a:r>
                <a:endParaRPr b="1" sz="950">
                  <a:solidFill>
                    <a:srgbClr val="1C2B34"/>
                  </a:solidFill>
                  <a:latin typeface="Inter"/>
                  <a:ea typeface="Inter"/>
                  <a:cs typeface="Inter"/>
                  <a:sym typeface="Inter"/>
                </a:endParaRPr>
              </a:p>
            </p:txBody>
          </p:sp>
          <p:sp>
            <p:nvSpPr>
              <p:cNvPr id="452" name="Google Shape;452;h575f3ee0b5d7ded4_23_1137"/>
              <p:cNvSpPr txBox="1"/>
              <p:nvPr/>
            </p:nvSpPr>
            <p:spPr>
              <a:xfrm>
                <a:off x="25908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13,51</a:t>
                </a:r>
                <a:endParaRPr b="1" sz="950">
                  <a:solidFill>
                    <a:srgbClr val="1C2B34"/>
                  </a:solidFill>
                  <a:latin typeface="Inter"/>
                  <a:ea typeface="Inter"/>
                  <a:cs typeface="Inter"/>
                  <a:sym typeface="Inter"/>
                </a:endParaRPr>
              </a:p>
            </p:txBody>
          </p:sp>
          <p:sp>
            <p:nvSpPr>
              <p:cNvPr id="453" name="Google Shape;453;h575f3ee0b5d7ded4_23_1137"/>
              <p:cNvSpPr txBox="1"/>
              <p:nvPr/>
            </p:nvSpPr>
            <p:spPr>
              <a:xfrm>
                <a:off x="34290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4,21</a:t>
                </a:r>
                <a:endParaRPr b="1" sz="950">
                  <a:solidFill>
                    <a:srgbClr val="1C2B34"/>
                  </a:solidFill>
                  <a:latin typeface="Inter"/>
                  <a:ea typeface="Inter"/>
                  <a:cs typeface="Inter"/>
                  <a:sym typeface="Inter"/>
                </a:endParaRPr>
              </a:p>
            </p:txBody>
          </p:sp>
          <p:sp>
            <p:nvSpPr>
              <p:cNvPr id="454" name="Google Shape;454;h575f3ee0b5d7ded4_23_1137"/>
              <p:cNvSpPr txBox="1"/>
              <p:nvPr/>
            </p:nvSpPr>
            <p:spPr>
              <a:xfrm>
                <a:off x="4267200" y="0"/>
                <a:ext cx="8382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3,27</a:t>
                </a:r>
                <a:endParaRPr b="1" sz="950">
                  <a:solidFill>
                    <a:srgbClr val="1C2B34"/>
                  </a:solidFill>
                  <a:latin typeface="Inter"/>
                  <a:ea typeface="Inter"/>
                  <a:cs typeface="Inter"/>
                  <a:sym typeface="Inter"/>
                </a:endParaRPr>
              </a:p>
            </p:txBody>
          </p:sp>
        </p:grpSp>
        <p:grpSp>
          <p:nvGrpSpPr>
            <p:cNvPr id="455" name="Google Shape;455;h575f3ee0b5d7ded4_23_1137"/>
            <p:cNvGrpSpPr/>
            <p:nvPr/>
          </p:nvGrpSpPr>
          <p:grpSpPr>
            <a:xfrm>
              <a:off x="190500" y="1714500"/>
              <a:ext cx="5029200" cy="324000"/>
              <a:chOff x="76200" y="0"/>
              <a:chExt cx="5029200" cy="324000"/>
            </a:xfrm>
          </p:grpSpPr>
          <p:sp>
            <p:nvSpPr>
              <p:cNvPr id="456" name="Google Shape;456;h575f3ee0b5d7ded4_23_1137"/>
              <p:cNvSpPr txBox="1"/>
              <p:nvPr/>
            </p:nvSpPr>
            <p:spPr>
              <a:xfrm>
                <a:off x="76200" y="0"/>
                <a:ext cx="2476500" cy="324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1C2B34"/>
                    </a:solidFill>
                    <a:latin typeface="Inter"/>
                    <a:ea typeface="Inter"/>
                    <a:cs typeface="Inter"/>
                    <a:sym typeface="Inter"/>
                  </a:rPr>
                  <a:t>Shell / CoACD / Inpaint</a:t>
                </a:r>
                <a:endParaRPr b="0" sz="950">
                  <a:solidFill>
                    <a:srgbClr val="1C2B34"/>
                  </a:solidFill>
                  <a:latin typeface="Inter"/>
                  <a:ea typeface="Inter"/>
                  <a:cs typeface="Inter"/>
                  <a:sym typeface="Inter"/>
                </a:endParaRPr>
              </a:p>
            </p:txBody>
          </p:sp>
          <p:sp>
            <p:nvSpPr>
              <p:cNvPr id="457" name="Google Shape;457;h575f3ee0b5d7ded4_23_1137"/>
              <p:cNvSpPr txBox="1"/>
              <p:nvPr/>
            </p:nvSpPr>
            <p:spPr>
              <a:xfrm>
                <a:off x="25908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5,21</a:t>
                </a:r>
                <a:endParaRPr b="1" sz="950">
                  <a:solidFill>
                    <a:srgbClr val="1C2B34"/>
                  </a:solidFill>
                  <a:latin typeface="Inter"/>
                  <a:ea typeface="Inter"/>
                  <a:cs typeface="Inter"/>
                  <a:sym typeface="Inter"/>
                </a:endParaRPr>
              </a:p>
            </p:txBody>
          </p:sp>
          <p:sp>
            <p:nvSpPr>
              <p:cNvPr id="458" name="Google Shape;458;h575f3ee0b5d7ded4_23_1137"/>
              <p:cNvSpPr txBox="1"/>
              <p:nvPr/>
            </p:nvSpPr>
            <p:spPr>
              <a:xfrm>
                <a:off x="3429000" y="0"/>
                <a:ext cx="7620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5,52</a:t>
                </a:r>
                <a:endParaRPr b="1" sz="950">
                  <a:solidFill>
                    <a:srgbClr val="1C2B34"/>
                  </a:solidFill>
                  <a:latin typeface="Inter"/>
                  <a:ea typeface="Inter"/>
                  <a:cs typeface="Inter"/>
                  <a:sym typeface="Inter"/>
                </a:endParaRPr>
              </a:p>
            </p:txBody>
          </p:sp>
          <p:sp>
            <p:nvSpPr>
              <p:cNvPr id="459" name="Google Shape;459;h575f3ee0b5d7ded4_23_1137"/>
              <p:cNvSpPr txBox="1"/>
              <p:nvPr/>
            </p:nvSpPr>
            <p:spPr>
              <a:xfrm>
                <a:off x="4267200" y="0"/>
                <a:ext cx="838200" cy="324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1" lang="en-US" sz="950">
                    <a:solidFill>
                      <a:srgbClr val="1C2B34"/>
                    </a:solidFill>
                    <a:latin typeface="Inter"/>
                    <a:ea typeface="Inter"/>
                    <a:cs typeface="Inter"/>
                    <a:sym typeface="Inter"/>
                  </a:rPr>
                  <a:t>2,97</a:t>
                </a:r>
                <a:endParaRPr b="1" sz="950">
                  <a:solidFill>
                    <a:srgbClr val="1C2B34"/>
                  </a:solidFill>
                  <a:latin typeface="Inter"/>
                  <a:ea typeface="Inter"/>
                  <a:cs typeface="Inter"/>
                  <a:sym typeface="Inter"/>
                </a:endParaRPr>
              </a:p>
            </p:txBody>
          </p:sp>
        </p:grpSp>
      </p:grpSp>
      <p:sp>
        <p:nvSpPr>
          <p:cNvPr id="460" name="Google Shape;460;h575f3ee0b5d7ded4_23_1137"/>
          <p:cNvSpPr txBox="1"/>
          <p:nvPr/>
        </p:nvSpPr>
        <p:spPr>
          <a:xfrm>
            <a:off x="6210300" y="4476750"/>
            <a:ext cx="5372100" cy="1524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b="0" lang="en-US" sz="850">
                <a:solidFill>
                  <a:srgbClr val="63747B"/>
                </a:solidFill>
                <a:latin typeface="Inter"/>
                <a:ea typeface="Inter"/>
                <a:cs typeface="Inter"/>
                <a:sym typeface="Inter"/>
              </a:rPr>
              <a:t>Đơn vị tài nguyên: GiB (peak theo operation).</a:t>
            </a:r>
            <a:endParaRPr b="0" sz="850">
              <a:solidFill>
                <a:srgbClr val="63747B"/>
              </a:solidFill>
              <a:latin typeface="Inter"/>
              <a:ea typeface="Inter"/>
              <a:cs typeface="Inter"/>
              <a:sym typeface="Inter"/>
            </a:endParaRPr>
          </a:p>
        </p:txBody>
      </p:sp>
      <p:grpSp>
        <p:nvGrpSpPr>
          <p:cNvPr id="461" name="Google Shape;461;h575f3ee0b5d7ded4_23_1137"/>
          <p:cNvGrpSpPr/>
          <p:nvPr/>
        </p:nvGrpSpPr>
        <p:grpSpPr>
          <a:xfrm>
            <a:off x="609600" y="4906325"/>
            <a:ext cx="10972800" cy="1103007"/>
            <a:chOff x="0" y="0"/>
            <a:chExt cx="10972800" cy="1882264"/>
          </a:xfrm>
        </p:grpSpPr>
        <p:sp>
          <p:nvSpPr>
            <p:cNvPr id="462" name="Google Shape;462;h575f3ee0b5d7ded4_23_1137"/>
            <p:cNvSpPr/>
            <p:nvPr/>
          </p:nvSpPr>
          <p:spPr>
            <a:xfrm>
              <a:off x="0" y="0"/>
              <a:ext cx="10972800" cy="1771800"/>
            </a:xfrm>
            <a:prstGeom prst="roundRect">
              <a:avLst>
                <a:gd fmla="val 4301" name="adj"/>
              </a:avLst>
            </a:prstGeom>
            <a:solidFill>
              <a:srgbClr val="0F1E2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63" name="Google Shape;463;h575f3ee0b5d7ded4_23_1137"/>
            <p:cNvGrpSpPr/>
            <p:nvPr/>
          </p:nvGrpSpPr>
          <p:grpSpPr>
            <a:xfrm>
              <a:off x="171450" y="260079"/>
              <a:ext cx="10572750" cy="1622185"/>
              <a:chOff x="-57150" y="107679"/>
              <a:chExt cx="10572750" cy="1622185"/>
            </a:xfrm>
          </p:grpSpPr>
          <p:sp>
            <p:nvSpPr>
              <p:cNvPr id="464" name="Google Shape;464;h575f3ee0b5d7ded4_23_1137"/>
              <p:cNvSpPr txBox="1"/>
              <p:nvPr/>
            </p:nvSpPr>
            <p:spPr>
              <a:xfrm>
                <a:off x="0" y="107679"/>
                <a:ext cx="105156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950">
                    <a:solidFill>
                      <a:srgbClr val="F2AD62"/>
                    </a:solidFill>
                    <a:latin typeface="Inter"/>
                    <a:ea typeface="Inter"/>
                    <a:cs typeface="Inter"/>
                    <a:sym typeface="Inter"/>
                  </a:rPr>
                  <a:t>Insights:</a:t>
                </a:r>
                <a:endParaRPr b="1" sz="950">
                  <a:solidFill>
                    <a:srgbClr val="F2AD62"/>
                  </a:solidFill>
                  <a:latin typeface="Inter"/>
                  <a:ea typeface="Inter"/>
                  <a:cs typeface="Inter"/>
                  <a:sym typeface="Inter"/>
                </a:endParaRPr>
              </a:p>
            </p:txBody>
          </p:sp>
          <p:sp>
            <p:nvSpPr>
              <p:cNvPr id="465" name="Google Shape;465;h575f3ee0b5d7ded4_23_1137"/>
              <p:cNvSpPr txBox="1"/>
              <p:nvPr/>
            </p:nvSpPr>
            <p:spPr>
              <a:xfrm>
                <a:off x="-57150" y="491464"/>
                <a:ext cx="10515600" cy="1238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950">
                    <a:solidFill>
                      <a:srgbClr val="FFFFFF"/>
                    </a:solidFill>
                    <a:latin typeface="Inter"/>
                    <a:ea typeface="Inter"/>
                    <a:cs typeface="Inter"/>
                    <a:sym typeface="Inter"/>
                  </a:rPr>
                  <a:t>• Hệ thống chạy được trên GPU 4GB VRAM, nhưng drjohnson sử dụng tới 3,62GB và mất 255 phút xử lý, cho thấy vẫn cần tối ưu tài nguyên và thời gian.</a:t>
                </a:r>
                <a:endParaRPr b="1" sz="950">
                  <a:solidFill>
                    <a:srgbClr val="FFFFFF"/>
                  </a:solidFill>
                  <a:latin typeface="Inter"/>
                  <a:ea typeface="Inter"/>
                  <a:cs typeface="Inter"/>
                  <a:sym typeface="Inter"/>
                </a:endParaRPr>
              </a:p>
              <a:p>
                <a:pPr indent="0" lvl="0" marL="0" rtl="0" algn="l">
                  <a:spcBef>
                    <a:spcPts val="600"/>
                  </a:spcBef>
                  <a:spcAft>
                    <a:spcPts val="600"/>
                  </a:spcAft>
                  <a:buNone/>
                </a:pPr>
                <a:r>
                  <a:rPr b="1" lang="en-US" sz="950">
                    <a:solidFill>
                      <a:srgbClr val="FFFFFF"/>
                    </a:solidFill>
                    <a:latin typeface="Inter"/>
                    <a:ea typeface="Inter"/>
                    <a:cs typeface="Inter"/>
                    <a:sym typeface="Inter"/>
                  </a:rPr>
                  <a:t>• COLMAP + Brush chiếm khoảng 88% thời gian xử lý drjohnson, trong khi tạo geometry thất bại 11 lần, cho thấy cần cải thiện cả tốc độ lẫn độ ổn định.</a:t>
                </a:r>
                <a:endParaRPr b="1" sz="950">
                  <a:solidFill>
                    <a:srgbClr val="FFFFFF"/>
                  </a:solidFill>
                  <a:latin typeface="Inter"/>
                  <a:ea typeface="Inter"/>
                  <a:cs typeface="Inter"/>
                  <a:sym typeface="Inter"/>
                </a:endParaRPr>
              </a:p>
            </p:txBody>
          </p:sp>
        </p:grpSp>
      </p:grpSp>
      <p:cxnSp>
        <p:nvCxnSpPr>
          <p:cNvPr id="466" name="Google Shape;466;h575f3ee0b5d7ded4_23_1137"/>
          <p:cNvCxnSpPr/>
          <p:nvPr/>
        </p:nvCxnSpPr>
        <p:spPr>
          <a:xfrm>
            <a:off x="609600" y="6477000"/>
            <a:ext cx="10972800" cy="0"/>
          </a:xfrm>
          <a:prstGeom prst="straightConnector1">
            <a:avLst/>
          </a:prstGeom>
          <a:solidFill>
            <a:srgbClr val="FFFFFF"/>
          </a:solidFill>
          <a:ln cap="flat" cmpd="sng" w="9525">
            <a:solidFill>
              <a:srgbClr val="D8E0E2"/>
            </a:solidFill>
            <a:prstDash val="solid"/>
            <a:round/>
            <a:headEnd len="sm" w="sm" type="none"/>
            <a:tailEnd len="sm" w="sm" type="none"/>
          </a:ln>
        </p:spPr>
      </p:cxnSp>
      <p:sp>
        <p:nvSpPr>
          <p:cNvPr id="467" name="Google Shape;467;h575f3ee0b5d7ded4_23_1137"/>
          <p:cNvSpPr txBox="1"/>
          <p:nvPr/>
        </p:nvSpPr>
        <p:spPr>
          <a:xfrm>
            <a:off x="609600" y="6553200"/>
            <a:ext cx="72390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850">
                <a:solidFill>
                  <a:srgbClr val="63747B"/>
                </a:solidFill>
                <a:latin typeface="Inter"/>
                <a:ea typeface="Inter"/>
                <a:cs typeface="Inter"/>
                <a:sym typeface="Inter"/>
              </a:rPr>
              <a:t>REAL2SIM STUDIO • T087 • AI20K • Cohort 4</a:t>
            </a:r>
            <a:endParaRPr b="1" sz="850">
              <a:solidFill>
                <a:srgbClr val="63747B"/>
              </a:solidFill>
              <a:latin typeface="Inter"/>
              <a:ea typeface="Inter"/>
              <a:cs typeface="Inter"/>
              <a:sym typeface="Inter"/>
            </a:endParaRPr>
          </a:p>
        </p:txBody>
      </p:sp>
      <p:sp>
        <p:nvSpPr>
          <p:cNvPr id="468" name="Google Shape;468;h575f3ee0b5d7ded4_23_1137"/>
          <p:cNvSpPr/>
          <p:nvPr/>
        </p:nvSpPr>
        <p:spPr>
          <a:xfrm>
            <a:off x="10195560" y="6565392"/>
            <a:ext cx="1362600" cy="173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939"/>
              <a:buFont typeface="Arial"/>
              <a:buNone/>
            </a:pPr>
            <a:r>
              <a:rPr b="0" i="0" lang="en-US" sz="940" u="none" cap="none" strike="noStrike">
                <a:solidFill>
                  <a:srgbClr val="63747B"/>
                </a:solidFill>
                <a:latin typeface="Inter"/>
                <a:ea typeface="Inter"/>
                <a:cs typeface="Inter"/>
                <a:sym typeface="Inter"/>
              </a:rPr>
              <a:t>10</a:t>
            </a:r>
            <a:r>
              <a:rPr lang="en-US" sz="940">
                <a:solidFill>
                  <a:srgbClr val="63747B"/>
                </a:solidFill>
                <a:latin typeface="Inter"/>
                <a:ea typeface="Inter"/>
                <a:cs typeface="Inter"/>
                <a:sym typeface="Inter"/>
              </a:rPr>
              <a:t>B</a:t>
            </a:r>
            <a:r>
              <a:rPr b="0" i="0" lang="en-US" sz="940" u="none" cap="none" strike="noStrike">
                <a:solidFill>
                  <a:srgbClr val="63747B"/>
                </a:solidFill>
                <a:latin typeface="Inter"/>
                <a:ea typeface="Inter"/>
                <a:cs typeface="Inter"/>
                <a:sym typeface="Inter"/>
              </a:rPr>
              <a:t> / 12</a:t>
            </a:r>
            <a:endParaRPr b="0" i="0" sz="94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6F2"/>
        </a:solidFill>
      </p:bgPr>
    </p:bg>
    <p:spTree>
      <p:nvGrpSpPr>
        <p:cNvPr id="473" name="Shape 473"/>
        <p:cNvGrpSpPr/>
        <p:nvPr/>
      </p:nvGrpSpPr>
      <p:grpSpPr>
        <a:xfrm>
          <a:off x="0" y="0"/>
          <a:ext cx="0" cy="0"/>
          <a:chOff x="0" y="0"/>
          <a:chExt cx="0" cy="0"/>
        </a:xfrm>
      </p:grpSpPr>
      <p:sp>
        <p:nvSpPr>
          <p:cNvPr id="474" name="Google Shape;474;h575f3ee0b5d7ded4_143_434"/>
          <p:cNvSpPr/>
          <p:nvPr/>
        </p:nvSpPr>
        <p:spPr>
          <a:xfrm>
            <a:off x="0" y="0"/>
            <a:ext cx="12192000" cy="53035"/>
          </a:xfrm>
          <a:prstGeom prst="rect">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h575f3ee0b5d7ded4_143_434"/>
          <p:cNvSpPr/>
          <p:nvPr/>
        </p:nvSpPr>
        <p:spPr>
          <a:xfrm>
            <a:off x="640080" y="292608"/>
            <a:ext cx="10881360" cy="21945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E8283"/>
              </a:buClr>
              <a:buSzPts val="1150"/>
              <a:buFont typeface="Inter"/>
              <a:buNone/>
            </a:pPr>
            <a:r>
              <a:rPr b="1" i="0" lang="en-US" sz="1400" u="none" cap="none" strike="noStrike">
                <a:solidFill>
                  <a:srgbClr val="0E8283"/>
                </a:solidFill>
                <a:latin typeface="Inter"/>
                <a:ea typeface="Inter"/>
                <a:cs typeface="Inter"/>
                <a:sym typeface="Inter"/>
              </a:rPr>
              <a:t>11   /   ĐỊNH HƯỚNG PHÁT TRIỂN</a:t>
            </a:r>
            <a:endParaRPr b="0" i="0" sz="1400" u="none" cap="none" strike="noStrike">
              <a:solidFill>
                <a:schemeClr val="dk1"/>
              </a:solidFill>
              <a:latin typeface="Inter"/>
              <a:ea typeface="Inter"/>
              <a:cs typeface="Inter"/>
              <a:sym typeface="Inter"/>
            </a:endParaRPr>
          </a:p>
        </p:txBody>
      </p:sp>
      <p:cxnSp>
        <p:nvCxnSpPr>
          <p:cNvPr id="476" name="Google Shape;476;h575f3ee0b5d7ded4_143_434"/>
          <p:cNvCxnSpPr/>
          <p:nvPr/>
        </p:nvCxnSpPr>
        <p:spPr>
          <a:xfrm>
            <a:off x="640080" y="6501384"/>
            <a:ext cx="10899648" cy="0"/>
          </a:xfrm>
          <a:prstGeom prst="straightConnector1">
            <a:avLst/>
          </a:prstGeom>
          <a:noFill/>
          <a:ln cap="flat" cmpd="sng" w="9525">
            <a:solidFill>
              <a:srgbClr val="DBE3DD"/>
            </a:solidFill>
            <a:prstDash val="solid"/>
            <a:round/>
            <a:headEnd len="sm" w="sm" type="none"/>
            <a:tailEnd len="sm" w="sm" type="none"/>
          </a:ln>
        </p:spPr>
      </p:cxnSp>
      <p:sp>
        <p:nvSpPr>
          <p:cNvPr id="477" name="Google Shape;477;h575f3ee0b5d7ded4_143_434"/>
          <p:cNvSpPr/>
          <p:nvPr/>
        </p:nvSpPr>
        <p:spPr>
          <a:xfrm>
            <a:off x="10844784" y="6565392"/>
            <a:ext cx="694944" cy="155448"/>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63747B"/>
              </a:buClr>
              <a:buSzPts val="939"/>
              <a:buFont typeface="Inter"/>
              <a:buNone/>
            </a:pPr>
            <a:r>
              <a:rPr b="0" i="0" lang="en-US" sz="940" u="none" cap="none" strike="noStrike">
                <a:solidFill>
                  <a:srgbClr val="63747B"/>
                </a:solidFill>
                <a:latin typeface="Inter"/>
                <a:ea typeface="Inter"/>
                <a:cs typeface="Inter"/>
                <a:sym typeface="Inter"/>
              </a:rPr>
              <a:t>11 / 12</a:t>
            </a:r>
            <a:endParaRPr b="0" i="0" sz="940" u="none" cap="none" strike="noStrike">
              <a:solidFill>
                <a:schemeClr val="dk1"/>
              </a:solidFill>
              <a:latin typeface="Inter"/>
              <a:ea typeface="Inter"/>
              <a:cs typeface="Inter"/>
              <a:sym typeface="Inter"/>
            </a:endParaRPr>
          </a:p>
        </p:txBody>
      </p:sp>
      <p:sp>
        <p:nvSpPr>
          <p:cNvPr id="478" name="Google Shape;478;h575f3ee0b5d7ded4_143_434"/>
          <p:cNvSpPr/>
          <p:nvPr/>
        </p:nvSpPr>
        <p:spPr>
          <a:xfrm>
            <a:off x="640080" y="768096"/>
            <a:ext cx="10954512" cy="70408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2600"/>
              <a:buFont typeface="Inter"/>
              <a:buNone/>
            </a:pPr>
            <a:r>
              <a:rPr b="1" i="0" lang="en-US" sz="2600" u="none" cap="none" strike="noStrike">
                <a:solidFill>
                  <a:srgbClr val="1C2B34"/>
                </a:solidFill>
                <a:latin typeface="Inter"/>
                <a:ea typeface="Inter"/>
                <a:cs typeface="Inter"/>
                <a:sym typeface="Inter"/>
              </a:rPr>
              <a:t>Từ prototype có kết quả ban đầu đến workflow có thể kiểm chứng.</a:t>
            </a:r>
            <a:endParaRPr b="0" i="0" sz="2600" u="none" cap="none" strike="noStrike">
              <a:solidFill>
                <a:schemeClr val="dk1"/>
              </a:solidFill>
              <a:latin typeface="Inter"/>
              <a:ea typeface="Inter"/>
              <a:cs typeface="Inter"/>
              <a:sym typeface="Inter"/>
            </a:endParaRPr>
          </a:p>
        </p:txBody>
      </p:sp>
      <p:sp>
        <p:nvSpPr>
          <p:cNvPr id="479" name="Google Shape;479;h575f3ee0b5d7ded4_143_434"/>
          <p:cNvSpPr/>
          <p:nvPr/>
        </p:nvSpPr>
        <p:spPr>
          <a:xfrm>
            <a:off x="649224" y="1554480"/>
            <a:ext cx="10881360" cy="521208"/>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600"/>
              <a:buFont typeface="Inter"/>
              <a:buNone/>
            </a:pPr>
            <a:r>
              <a:rPr b="0" i="0" lang="en-US" sz="1600" u="none" cap="none" strike="noStrike">
                <a:solidFill>
                  <a:srgbClr val="63747B"/>
                </a:solidFill>
                <a:latin typeface="Inter"/>
                <a:ea typeface="Inter"/>
                <a:cs typeface="Inter"/>
                <a:sym typeface="Inter"/>
              </a:rPr>
              <a:t>Nhóm ưu tiên ổn định kỹ thuật trước, rồi mới đánh giá hiệu quả đối với công việc của kỹ sư.</a:t>
            </a:r>
            <a:endParaRPr b="0" i="0" sz="1600" u="none" cap="none" strike="noStrike">
              <a:solidFill>
                <a:schemeClr val="dk1"/>
              </a:solidFill>
              <a:latin typeface="Inter"/>
              <a:ea typeface="Inter"/>
              <a:cs typeface="Inter"/>
              <a:sym typeface="Inter"/>
            </a:endParaRPr>
          </a:p>
        </p:txBody>
      </p:sp>
      <p:sp>
        <p:nvSpPr>
          <p:cNvPr id="480" name="Google Shape;480;h575f3ee0b5d7ded4_143_434"/>
          <p:cNvSpPr/>
          <p:nvPr/>
        </p:nvSpPr>
        <p:spPr>
          <a:xfrm>
            <a:off x="667512" y="2240280"/>
            <a:ext cx="3456432" cy="2624328"/>
          </a:xfrm>
          <a:prstGeom prst="roundRect">
            <a:avLst>
              <a:gd fmla="val 4878"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h575f3ee0b5d7ded4_143_434"/>
          <p:cNvSpPr/>
          <p:nvPr/>
        </p:nvSpPr>
        <p:spPr>
          <a:xfrm>
            <a:off x="877824" y="2450592"/>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h575f3ee0b5d7ded4_143_434"/>
          <p:cNvSpPr/>
          <p:nvPr/>
        </p:nvSpPr>
        <p:spPr>
          <a:xfrm>
            <a:off x="896112" y="2468880"/>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01</a:t>
            </a:r>
            <a:endParaRPr b="0" i="0" sz="1200" u="none" cap="none" strike="noStrike">
              <a:solidFill>
                <a:schemeClr val="dk1"/>
              </a:solidFill>
              <a:latin typeface="Inter"/>
              <a:ea typeface="Inter"/>
              <a:cs typeface="Inter"/>
              <a:sym typeface="Inter"/>
            </a:endParaRPr>
          </a:p>
        </p:txBody>
      </p:sp>
      <p:sp>
        <p:nvSpPr>
          <p:cNvPr id="483" name="Google Shape;483;h575f3ee0b5d7ded4_143_434"/>
          <p:cNvSpPr/>
          <p:nvPr/>
        </p:nvSpPr>
        <p:spPr>
          <a:xfrm>
            <a:off x="896112" y="2907792"/>
            <a:ext cx="2999232"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00"/>
              <a:buFont typeface="Inter"/>
              <a:buNone/>
            </a:pPr>
            <a:r>
              <a:rPr b="1" i="0" lang="en-US" sz="1800" u="none" cap="none" strike="noStrike">
                <a:solidFill>
                  <a:srgbClr val="1C2B34"/>
                </a:solidFill>
                <a:latin typeface="Inter"/>
                <a:ea typeface="Inter"/>
                <a:cs typeface="Inter"/>
                <a:sym typeface="Inter"/>
              </a:rPr>
              <a:t>Ổn định và hoàn thiện</a:t>
            </a:r>
            <a:endParaRPr b="0" i="0" sz="1800" u="none" cap="none" strike="noStrike">
              <a:solidFill>
                <a:schemeClr val="dk1"/>
              </a:solidFill>
              <a:latin typeface="Inter"/>
              <a:ea typeface="Inter"/>
              <a:cs typeface="Inter"/>
              <a:sym typeface="Inter"/>
            </a:endParaRPr>
          </a:p>
        </p:txBody>
      </p:sp>
      <p:sp>
        <p:nvSpPr>
          <p:cNvPr id="484" name="Google Shape;484;h575f3ee0b5d7ded4_143_434"/>
          <p:cNvSpPr/>
          <p:nvPr/>
        </p:nvSpPr>
        <p:spPr>
          <a:xfrm>
            <a:off x="896112" y="3538728"/>
            <a:ext cx="2999232" cy="95097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20"/>
              <a:buFont typeface="Inter"/>
              <a:buNone/>
            </a:pPr>
            <a:r>
              <a:rPr b="0" i="0" lang="en-US" sz="1520" u="none" cap="none" strike="noStrike">
                <a:solidFill>
                  <a:srgbClr val="63747B"/>
                </a:solidFill>
                <a:latin typeface="Inter"/>
                <a:ea typeface="Inter"/>
                <a:cs typeface="Inter"/>
                <a:sym typeface="Inter"/>
              </a:rPr>
              <a:t>Kiểm tra các trường hợp Geometry Generation thất bại; cải thiện chất lượng object và collider.</a:t>
            </a:r>
            <a:endParaRPr b="0" i="0" sz="1520" u="none" cap="none" strike="noStrike">
              <a:solidFill>
                <a:schemeClr val="dk1"/>
              </a:solidFill>
              <a:latin typeface="Inter"/>
              <a:ea typeface="Inter"/>
              <a:cs typeface="Inter"/>
              <a:sym typeface="Inter"/>
            </a:endParaRPr>
          </a:p>
        </p:txBody>
      </p:sp>
      <p:sp>
        <p:nvSpPr>
          <p:cNvPr id="485" name="Google Shape;485;h575f3ee0b5d7ded4_143_434"/>
          <p:cNvSpPr/>
          <p:nvPr/>
        </p:nvSpPr>
        <p:spPr>
          <a:xfrm>
            <a:off x="4370832" y="2240280"/>
            <a:ext cx="3456432" cy="2624328"/>
          </a:xfrm>
          <a:prstGeom prst="roundRect">
            <a:avLst>
              <a:gd fmla="val 4878"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h575f3ee0b5d7ded4_143_434"/>
          <p:cNvSpPr/>
          <p:nvPr/>
        </p:nvSpPr>
        <p:spPr>
          <a:xfrm>
            <a:off x="4581144" y="2450592"/>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h575f3ee0b5d7ded4_143_434"/>
          <p:cNvSpPr/>
          <p:nvPr/>
        </p:nvSpPr>
        <p:spPr>
          <a:xfrm>
            <a:off x="4599432" y="2468880"/>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02</a:t>
            </a:r>
            <a:endParaRPr b="0" i="0" sz="1200" u="none" cap="none" strike="noStrike">
              <a:solidFill>
                <a:schemeClr val="dk1"/>
              </a:solidFill>
              <a:latin typeface="Inter"/>
              <a:ea typeface="Inter"/>
              <a:cs typeface="Inter"/>
              <a:sym typeface="Inter"/>
            </a:endParaRPr>
          </a:p>
        </p:txBody>
      </p:sp>
      <p:sp>
        <p:nvSpPr>
          <p:cNvPr id="488" name="Google Shape;488;h575f3ee0b5d7ded4_143_434"/>
          <p:cNvSpPr/>
          <p:nvPr/>
        </p:nvSpPr>
        <p:spPr>
          <a:xfrm>
            <a:off x="4599432" y="2907792"/>
            <a:ext cx="2999232"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00"/>
              <a:buFont typeface="Inter"/>
              <a:buNone/>
            </a:pPr>
            <a:r>
              <a:rPr b="1" i="0" lang="en-US" sz="1800" u="none" cap="none" strike="noStrike">
                <a:solidFill>
                  <a:srgbClr val="1C2B34"/>
                </a:solidFill>
                <a:latin typeface="Inter"/>
                <a:ea typeface="Inter"/>
                <a:cs typeface="Inter"/>
                <a:sym typeface="Inter"/>
              </a:rPr>
              <a:t>Nghiệm thu trong Isaac Sim</a:t>
            </a:r>
            <a:endParaRPr b="0" i="0" sz="1800" u="none" cap="none" strike="noStrike">
              <a:solidFill>
                <a:schemeClr val="dk1"/>
              </a:solidFill>
              <a:latin typeface="Inter"/>
              <a:ea typeface="Inter"/>
              <a:cs typeface="Inter"/>
              <a:sym typeface="Inter"/>
            </a:endParaRPr>
          </a:p>
        </p:txBody>
      </p:sp>
      <p:sp>
        <p:nvSpPr>
          <p:cNvPr id="489" name="Google Shape;489;h575f3ee0b5d7ded4_143_434"/>
          <p:cNvSpPr/>
          <p:nvPr/>
        </p:nvSpPr>
        <p:spPr>
          <a:xfrm>
            <a:off x="4599432" y="3538728"/>
            <a:ext cx="2999232" cy="95097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20"/>
              <a:buFont typeface="Inter"/>
              <a:buNone/>
            </a:pPr>
            <a:r>
              <a:rPr b="0" i="0" lang="en-US" sz="1520" u="none" cap="none" strike="noStrike">
                <a:solidFill>
                  <a:srgbClr val="63747B"/>
                </a:solidFill>
                <a:latin typeface="Inter"/>
                <a:ea typeface="Inter"/>
                <a:cs typeface="Inter"/>
                <a:sym typeface="Inter"/>
              </a:rPr>
              <a:t>Import OpenUSD, chạy cùng một robot trên hai bố trí và đối chiếu kết quả va chạm.</a:t>
            </a:r>
            <a:endParaRPr b="0" i="0" sz="1520" u="none" cap="none" strike="noStrike">
              <a:solidFill>
                <a:schemeClr val="dk1"/>
              </a:solidFill>
              <a:latin typeface="Inter"/>
              <a:ea typeface="Inter"/>
              <a:cs typeface="Inter"/>
              <a:sym typeface="Inter"/>
            </a:endParaRPr>
          </a:p>
        </p:txBody>
      </p:sp>
      <p:sp>
        <p:nvSpPr>
          <p:cNvPr id="490" name="Google Shape;490;h575f3ee0b5d7ded4_143_434"/>
          <p:cNvSpPr/>
          <p:nvPr/>
        </p:nvSpPr>
        <p:spPr>
          <a:xfrm>
            <a:off x="8074152" y="2240280"/>
            <a:ext cx="3456432" cy="2624328"/>
          </a:xfrm>
          <a:prstGeom prst="roundRect">
            <a:avLst>
              <a:gd fmla="val 4878" name="adj"/>
            </a:avLst>
          </a:prstGeom>
          <a:solidFill>
            <a:srgbClr val="FFFFFF"/>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h575f3ee0b5d7ded4_143_434"/>
          <p:cNvSpPr/>
          <p:nvPr/>
        </p:nvSpPr>
        <p:spPr>
          <a:xfrm>
            <a:off x="8284464" y="2450592"/>
            <a:ext cx="365760" cy="310896"/>
          </a:xfrm>
          <a:prstGeom prst="roundRect">
            <a:avLst>
              <a:gd fmla="val 41176" name="adj"/>
            </a:avLst>
          </a:prstGeom>
          <a:solidFill>
            <a:srgbClr val="0E8283"/>
          </a:solidFill>
          <a:ln cap="flat" cmpd="sng" w="12700">
            <a:solidFill>
              <a:srgbClr val="0E8283">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h575f3ee0b5d7ded4_143_434"/>
          <p:cNvSpPr/>
          <p:nvPr/>
        </p:nvSpPr>
        <p:spPr>
          <a:xfrm>
            <a:off x="8302752" y="2468880"/>
            <a:ext cx="329184" cy="27432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Inter"/>
              <a:buNone/>
            </a:pPr>
            <a:r>
              <a:rPr b="1" i="0" lang="en-US" sz="1200" u="none" cap="none" strike="noStrike">
                <a:solidFill>
                  <a:srgbClr val="FFFFFF"/>
                </a:solidFill>
                <a:latin typeface="Inter"/>
                <a:ea typeface="Inter"/>
                <a:cs typeface="Inter"/>
                <a:sym typeface="Inter"/>
              </a:rPr>
              <a:t>03</a:t>
            </a:r>
            <a:endParaRPr b="0" i="0" sz="1200" u="none" cap="none" strike="noStrike">
              <a:solidFill>
                <a:schemeClr val="dk1"/>
              </a:solidFill>
              <a:latin typeface="Inter"/>
              <a:ea typeface="Inter"/>
              <a:cs typeface="Inter"/>
              <a:sym typeface="Inter"/>
            </a:endParaRPr>
          </a:p>
        </p:txBody>
      </p:sp>
      <p:sp>
        <p:nvSpPr>
          <p:cNvPr id="493" name="Google Shape;493;h575f3ee0b5d7ded4_143_434"/>
          <p:cNvSpPr/>
          <p:nvPr/>
        </p:nvSpPr>
        <p:spPr>
          <a:xfrm>
            <a:off x="8302752" y="2907792"/>
            <a:ext cx="2999232" cy="4572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2B34"/>
              </a:buClr>
              <a:buSzPts val="1800"/>
              <a:buFont typeface="Inter"/>
              <a:buNone/>
            </a:pPr>
            <a:r>
              <a:rPr b="1" i="0" lang="en-US" sz="1800" u="none" cap="none" strike="noStrike">
                <a:solidFill>
                  <a:srgbClr val="1C2B34"/>
                </a:solidFill>
                <a:latin typeface="Inter"/>
                <a:ea typeface="Inter"/>
                <a:cs typeface="Inter"/>
                <a:sym typeface="Inter"/>
              </a:rPr>
              <a:t>Thử nghiệm với người dùng</a:t>
            </a:r>
            <a:endParaRPr b="0" i="0" sz="1800" u="none" cap="none" strike="noStrike">
              <a:solidFill>
                <a:schemeClr val="dk1"/>
              </a:solidFill>
              <a:latin typeface="Inter"/>
              <a:ea typeface="Inter"/>
              <a:cs typeface="Inter"/>
              <a:sym typeface="Inter"/>
            </a:endParaRPr>
          </a:p>
        </p:txBody>
      </p:sp>
      <p:sp>
        <p:nvSpPr>
          <p:cNvPr id="494" name="Google Shape;494;h575f3ee0b5d7ded4_143_434"/>
          <p:cNvSpPr/>
          <p:nvPr/>
        </p:nvSpPr>
        <p:spPr>
          <a:xfrm>
            <a:off x="8302752" y="3538728"/>
            <a:ext cx="2999232" cy="950976"/>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520"/>
              <a:buFont typeface="Inter"/>
              <a:buNone/>
            </a:pPr>
            <a:r>
              <a:rPr b="0" i="0" lang="en-US" sz="1520" u="none" cap="none" strike="noStrike">
                <a:solidFill>
                  <a:srgbClr val="63747B"/>
                </a:solidFill>
                <a:latin typeface="Inter"/>
                <a:ea typeface="Inter"/>
                <a:cs typeface="Inter"/>
                <a:sym typeface="Inter"/>
              </a:rPr>
              <a:t>Cho kỹ sư thực hiện cùng một bài toán; đo thời gian, công sức, chất lượng và chi phí.</a:t>
            </a:r>
            <a:endParaRPr b="0" i="0" sz="1520" u="none" cap="none" strike="noStrike">
              <a:solidFill>
                <a:schemeClr val="dk1"/>
              </a:solidFill>
              <a:latin typeface="Inter"/>
              <a:ea typeface="Inter"/>
              <a:cs typeface="Inter"/>
              <a:sym typeface="Inter"/>
            </a:endParaRPr>
          </a:p>
        </p:txBody>
      </p:sp>
      <p:sp>
        <p:nvSpPr>
          <p:cNvPr id="495" name="Google Shape;495;h575f3ee0b5d7ded4_143_434"/>
          <p:cNvSpPr/>
          <p:nvPr/>
        </p:nvSpPr>
        <p:spPr>
          <a:xfrm>
            <a:off x="694944" y="5157216"/>
            <a:ext cx="10835640" cy="740664"/>
          </a:xfrm>
          <a:prstGeom prst="roundRect">
            <a:avLst>
              <a:gd fmla="val 17284" name="adj"/>
            </a:avLst>
          </a:prstGeom>
          <a:solidFill>
            <a:srgbClr val="111D25"/>
          </a:solidFill>
          <a:ln cap="flat" cmpd="sng" w="12700">
            <a:solidFill>
              <a:srgbClr val="111D25">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h575f3ee0b5d7ded4_143_434"/>
          <p:cNvSpPr/>
          <p:nvPr/>
        </p:nvSpPr>
        <p:spPr>
          <a:xfrm>
            <a:off x="950976" y="5321808"/>
            <a:ext cx="10277856" cy="4114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530"/>
              <a:buFont typeface="Inter"/>
              <a:buNone/>
            </a:pPr>
            <a:r>
              <a:rPr b="1" i="0" lang="en-US" sz="1530" u="none" cap="none" strike="noStrike">
                <a:solidFill>
                  <a:srgbClr val="FFFFFF"/>
                </a:solidFill>
                <a:latin typeface="Inter"/>
                <a:ea typeface="Inter"/>
                <a:cs typeface="Inter"/>
                <a:sym typeface="Inter"/>
              </a:rPr>
              <a:t>Các chỉ số cần đo tiếp: Metric Error  •  Collision Correctness  •  Human Effort  •  Time-to-Usable-Scene</a:t>
            </a:r>
            <a:endParaRPr b="0" i="0" sz="1530" u="none" cap="none" strike="noStrike">
              <a:solidFill>
                <a:schemeClr val="dk1"/>
              </a:solidFill>
              <a:latin typeface="Inter"/>
              <a:ea typeface="Inter"/>
              <a:cs typeface="Inter"/>
              <a:sym typeface="Inter"/>
            </a:endParaRPr>
          </a:p>
        </p:txBody>
      </p:sp>
      <p:sp>
        <p:nvSpPr>
          <p:cNvPr id="497" name="Google Shape;497;h575f3ee0b5d7ded4_143_434"/>
          <p:cNvSpPr/>
          <p:nvPr/>
        </p:nvSpPr>
        <p:spPr>
          <a:xfrm>
            <a:off x="713232" y="6016752"/>
            <a:ext cx="10771632" cy="32004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63747B"/>
              </a:buClr>
              <a:buSzPts val="1230"/>
              <a:buFont typeface="Inter"/>
              <a:buNone/>
            </a:pPr>
            <a:r>
              <a:rPr b="0" i="0" lang="en-US" sz="1230" u="none" cap="none" strike="noStrike">
                <a:solidFill>
                  <a:srgbClr val="63747B"/>
                </a:solidFill>
                <a:latin typeface="Inter"/>
                <a:ea typeface="Inter"/>
                <a:cs typeface="Inter"/>
                <a:sym typeface="Inter"/>
              </a:rPr>
              <a:t>Định hướng B2B: tìm cơ hội với các nhóm robotics, sau đó mới xác thực nhu cầu trả tiền và mô hình kinh doanh.</a:t>
            </a:r>
            <a:endParaRPr b="0" i="0" sz="1230" u="none" cap="none" strike="noStrike">
              <a:solidFill>
                <a:schemeClr val="dk1"/>
              </a:solidFill>
              <a:latin typeface="Inter"/>
              <a:ea typeface="Inter"/>
              <a:cs typeface="Inter"/>
              <a:sym typeface="Inter"/>
            </a:endParaRPr>
          </a:p>
        </p:txBody>
      </p:sp>
      <p:sp>
        <p:nvSpPr>
          <p:cNvPr id="498" name="Google Shape;498;h575f3ee0b5d7ded4_143_434"/>
          <p:cNvSpPr/>
          <p:nvPr/>
        </p:nvSpPr>
        <p:spPr>
          <a:xfrm>
            <a:off x="649224" y="6565392"/>
            <a:ext cx="7223700" cy="1554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20"/>
              <a:buFont typeface="Arial"/>
              <a:buNone/>
            </a:pPr>
            <a:r>
              <a:rPr b="1" i="0" lang="en-US" sz="920" u="none" cap="none" strike="noStrike">
                <a:solidFill>
                  <a:srgbClr val="63747B"/>
                </a:solidFill>
                <a:latin typeface="Inter"/>
                <a:ea typeface="Inter"/>
                <a:cs typeface="Inter"/>
                <a:sym typeface="Inter"/>
              </a:rPr>
              <a:t>REAL2SIM STUDIO • T087 • AI20K • Cohort 4</a:t>
            </a:r>
            <a:endParaRPr b="1" i="0" sz="920" u="none" cap="none" strike="noStrike">
              <a:solidFill>
                <a:srgbClr val="63747B"/>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D25"/>
        </a:solidFill>
      </p:bgPr>
    </p:bg>
    <p:spTree>
      <p:nvGrpSpPr>
        <p:cNvPr id="503" name="Shape 503"/>
        <p:cNvGrpSpPr/>
        <p:nvPr/>
      </p:nvGrpSpPr>
      <p:grpSpPr>
        <a:xfrm>
          <a:off x="0" y="0"/>
          <a:ext cx="0" cy="0"/>
          <a:chOff x="0" y="0"/>
          <a:chExt cx="0" cy="0"/>
        </a:xfrm>
      </p:grpSpPr>
      <p:sp>
        <p:nvSpPr>
          <p:cNvPr id="504" name="Google Shape;504;h575f3ee0b5d7ded4_23_1567"/>
          <p:cNvSpPr/>
          <p:nvPr/>
        </p:nvSpPr>
        <p:spPr>
          <a:xfrm>
            <a:off x="0" y="0"/>
            <a:ext cx="12192000" cy="53100"/>
          </a:xfrm>
          <a:prstGeom prst="rect">
            <a:avLst/>
          </a:prstGeom>
          <a:solidFill>
            <a:srgbClr val="F2AD62"/>
          </a:solidFill>
          <a:ln cap="flat" cmpd="sng" w="12700">
            <a:solidFill>
              <a:srgbClr val="F2AD62">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h575f3ee0b5d7ded4_23_1567"/>
          <p:cNvSpPr/>
          <p:nvPr/>
        </p:nvSpPr>
        <p:spPr>
          <a:xfrm>
            <a:off x="640080" y="292608"/>
            <a:ext cx="10881300" cy="219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2AD62"/>
              </a:buClr>
              <a:buSzPts val="1150"/>
              <a:buFont typeface="Inter"/>
              <a:buNone/>
            </a:pPr>
            <a:r>
              <a:rPr b="1" i="0" lang="en-US" sz="1400" u="none" cap="none" strike="noStrike">
                <a:solidFill>
                  <a:srgbClr val="F2AD62"/>
                </a:solidFill>
                <a:latin typeface="Inter"/>
                <a:ea typeface="Inter"/>
                <a:cs typeface="Inter"/>
                <a:sym typeface="Inter"/>
              </a:rPr>
              <a:t>12   /   CẢM ƠN &amp; HỎI ĐÁP</a:t>
            </a:r>
            <a:endParaRPr b="0" i="0" sz="1400" u="none" cap="none" strike="noStrike">
              <a:solidFill>
                <a:schemeClr val="dk1"/>
              </a:solidFill>
              <a:latin typeface="Inter"/>
              <a:ea typeface="Inter"/>
              <a:cs typeface="Inter"/>
              <a:sym typeface="Inter"/>
            </a:endParaRPr>
          </a:p>
        </p:txBody>
      </p:sp>
      <p:cxnSp>
        <p:nvCxnSpPr>
          <p:cNvPr id="506" name="Google Shape;506;h575f3ee0b5d7ded4_23_1567"/>
          <p:cNvCxnSpPr/>
          <p:nvPr/>
        </p:nvCxnSpPr>
        <p:spPr>
          <a:xfrm>
            <a:off x="640080" y="6501384"/>
            <a:ext cx="10899600" cy="0"/>
          </a:xfrm>
          <a:prstGeom prst="straightConnector1">
            <a:avLst/>
          </a:prstGeom>
          <a:noFill/>
          <a:ln cap="flat" cmpd="sng" w="9525">
            <a:solidFill>
              <a:srgbClr val="49616A"/>
            </a:solidFill>
            <a:prstDash val="solid"/>
            <a:round/>
            <a:headEnd len="sm" w="sm" type="none"/>
            <a:tailEnd len="sm" w="sm" type="none"/>
          </a:ln>
        </p:spPr>
      </p:cxnSp>
      <p:sp>
        <p:nvSpPr>
          <p:cNvPr id="507" name="Google Shape;507;h575f3ee0b5d7ded4_23_1567"/>
          <p:cNvSpPr/>
          <p:nvPr/>
        </p:nvSpPr>
        <p:spPr>
          <a:xfrm>
            <a:off x="10844784" y="6565392"/>
            <a:ext cx="694800" cy="15540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B0C5C7"/>
              </a:buClr>
              <a:buSzPts val="939"/>
              <a:buFont typeface="Inter"/>
              <a:buNone/>
            </a:pPr>
            <a:r>
              <a:rPr b="0" i="0" lang="en-US" sz="940" u="none" cap="none" strike="noStrike">
                <a:solidFill>
                  <a:srgbClr val="B0C5C7"/>
                </a:solidFill>
                <a:latin typeface="Inter"/>
                <a:ea typeface="Inter"/>
                <a:cs typeface="Inter"/>
                <a:sym typeface="Inter"/>
              </a:rPr>
              <a:t>12 / 12</a:t>
            </a:r>
            <a:endParaRPr b="0" i="0" sz="940" u="none" cap="none" strike="noStrike">
              <a:solidFill>
                <a:schemeClr val="dk1"/>
              </a:solidFill>
              <a:latin typeface="Inter"/>
              <a:ea typeface="Inter"/>
              <a:cs typeface="Inter"/>
              <a:sym typeface="Inter"/>
            </a:endParaRPr>
          </a:p>
        </p:txBody>
      </p:sp>
      <p:sp>
        <p:nvSpPr>
          <p:cNvPr id="508" name="Google Shape;508;h575f3ee0b5d7ded4_23_1567"/>
          <p:cNvSpPr/>
          <p:nvPr/>
        </p:nvSpPr>
        <p:spPr>
          <a:xfrm>
            <a:off x="731520" y="1190625"/>
            <a:ext cx="5193900" cy="3048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800">
                <a:solidFill>
                  <a:srgbClr val="F2AD62"/>
                </a:solidFill>
                <a:latin typeface="Inter"/>
                <a:ea typeface="Inter"/>
                <a:cs typeface="Inter"/>
                <a:sym typeface="Inter"/>
              </a:rPr>
              <a:t>Q&amp;A • TRAO ĐỔI</a:t>
            </a:r>
            <a:endParaRPr b="1" i="0" sz="1800">
              <a:solidFill>
                <a:srgbClr val="F2AD62"/>
              </a:solidFill>
              <a:latin typeface="Inter"/>
              <a:ea typeface="Inter"/>
              <a:cs typeface="Inter"/>
              <a:sym typeface="Inter"/>
            </a:endParaRPr>
          </a:p>
        </p:txBody>
      </p:sp>
      <p:sp>
        <p:nvSpPr>
          <p:cNvPr id="509" name="Google Shape;509;h575f3ee0b5d7ded4_23_1567"/>
          <p:cNvSpPr/>
          <p:nvPr/>
        </p:nvSpPr>
        <p:spPr>
          <a:xfrm>
            <a:off x="731520" y="1762125"/>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0" name="Google Shape;510;h575f3ee0b5d7ded4_23_1567"/>
          <p:cNvSpPr/>
          <p:nvPr/>
        </p:nvSpPr>
        <p:spPr>
          <a:xfrm>
            <a:off x="902970" y="1895475"/>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01</a:t>
            </a:r>
            <a:endParaRPr b="1" i="0" sz="1200">
              <a:solidFill>
                <a:srgbClr val="F2AD62"/>
              </a:solidFill>
              <a:latin typeface="Inter"/>
              <a:ea typeface="Inter"/>
              <a:cs typeface="Inter"/>
              <a:sym typeface="Inter"/>
            </a:endParaRPr>
          </a:p>
        </p:txBody>
      </p:sp>
      <p:sp>
        <p:nvSpPr>
          <p:cNvPr id="511" name="Google Shape;511;h575f3ee0b5d7ded4_23_1567"/>
          <p:cNvSpPr/>
          <p:nvPr/>
        </p:nvSpPr>
        <p:spPr>
          <a:xfrm>
            <a:off x="1303020" y="1838325"/>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Video đầu vào cần đáp ứng những điều kiện gì để tái dựng 3D tốt?</a:t>
            </a:r>
            <a:endParaRPr b="0" i="0" sz="1250">
              <a:solidFill>
                <a:srgbClr val="FFFFFF"/>
              </a:solidFill>
              <a:latin typeface="Inter"/>
              <a:ea typeface="Inter"/>
              <a:cs typeface="Inter"/>
              <a:sym typeface="Inter"/>
            </a:endParaRPr>
          </a:p>
        </p:txBody>
      </p:sp>
      <p:sp>
        <p:nvSpPr>
          <p:cNvPr id="512" name="Google Shape;512;h575f3ee0b5d7ded4_23_1567"/>
          <p:cNvSpPr/>
          <p:nvPr/>
        </p:nvSpPr>
        <p:spPr>
          <a:xfrm>
            <a:off x="731520" y="2428875"/>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3" name="Google Shape;513;h575f3ee0b5d7ded4_23_1567"/>
          <p:cNvSpPr/>
          <p:nvPr/>
        </p:nvSpPr>
        <p:spPr>
          <a:xfrm>
            <a:off x="902970" y="2562225"/>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02</a:t>
            </a:r>
            <a:endParaRPr b="1" i="0" sz="1200">
              <a:solidFill>
                <a:srgbClr val="F2AD62"/>
              </a:solidFill>
              <a:latin typeface="Inter"/>
              <a:ea typeface="Inter"/>
              <a:cs typeface="Inter"/>
              <a:sym typeface="Inter"/>
            </a:endParaRPr>
          </a:p>
        </p:txBody>
      </p:sp>
      <p:sp>
        <p:nvSpPr>
          <p:cNvPr id="514" name="Google Shape;514;h575f3ee0b5d7ded4_23_1567"/>
          <p:cNvSpPr/>
          <p:nvPr/>
        </p:nvSpPr>
        <p:spPr>
          <a:xfrm>
            <a:off x="1303020" y="2505075"/>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Nếu không có LiDAR, Real2Sim xác định kích thước thực tế bằng cách nào?</a:t>
            </a:r>
            <a:endParaRPr b="0" i="0" sz="1250">
              <a:solidFill>
                <a:srgbClr val="FFFFFF"/>
              </a:solidFill>
              <a:latin typeface="Inter"/>
              <a:ea typeface="Inter"/>
              <a:cs typeface="Inter"/>
              <a:sym typeface="Inter"/>
            </a:endParaRPr>
          </a:p>
        </p:txBody>
      </p:sp>
      <p:sp>
        <p:nvSpPr>
          <p:cNvPr id="515" name="Google Shape;515;h575f3ee0b5d7ded4_23_1567"/>
          <p:cNvSpPr/>
          <p:nvPr/>
        </p:nvSpPr>
        <p:spPr>
          <a:xfrm>
            <a:off x="731520" y="3095625"/>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h575f3ee0b5d7ded4_23_1567"/>
          <p:cNvSpPr/>
          <p:nvPr/>
        </p:nvSpPr>
        <p:spPr>
          <a:xfrm>
            <a:off x="902970" y="3228975"/>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03</a:t>
            </a:r>
            <a:endParaRPr b="1" i="0" sz="1200">
              <a:solidFill>
                <a:srgbClr val="F2AD62"/>
              </a:solidFill>
              <a:latin typeface="Inter"/>
              <a:ea typeface="Inter"/>
              <a:cs typeface="Inter"/>
              <a:sym typeface="Inter"/>
            </a:endParaRPr>
          </a:p>
        </p:txBody>
      </p:sp>
      <p:sp>
        <p:nvSpPr>
          <p:cNvPr id="517" name="Google Shape;517;h575f3ee0b5d7ded4_23_1567"/>
          <p:cNvSpPr/>
          <p:nvPr/>
        </p:nvSpPr>
        <p:spPr>
          <a:xfrm>
            <a:off x="1303020" y="3171825"/>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Nếu AI nhận diện hoặc tách sai vật thể, hệ thống xử lý như thế nào?</a:t>
            </a:r>
            <a:endParaRPr b="0" i="0" sz="1250">
              <a:solidFill>
                <a:srgbClr val="FFFFFF"/>
              </a:solidFill>
              <a:latin typeface="Inter"/>
              <a:ea typeface="Inter"/>
              <a:cs typeface="Inter"/>
              <a:sym typeface="Inter"/>
            </a:endParaRPr>
          </a:p>
        </p:txBody>
      </p:sp>
      <p:sp>
        <p:nvSpPr>
          <p:cNvPr id="518" name="Google Shape;518;h575f3ee0b5d7ded4_23_1567"/>
          <p:cNvSpPr/>
          <p:nvPr/>
        </p:nvSpPr>
        <p:spPr>
          <a:xfrm>
            <a:off x="6217920" y="1209675"/>
            <a:ext cx="5238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r">
              <a:spcBef>
                <a:spcPts val="0"/>
              </a:spcBef>
              <a:spcAft>
                <a:spcPts val="0"/>
              </a:spcAft>
              <a:buNone/>
            </a:pPr>
            <a:r>
              <a:rPr b="1" i="0" lang="en-US" sz="1300">
                <a:solidFill>
                  <a:srgbClr val="F2AD62"/>
                </a:solidFill>
                <a:latin typeface="Inter"/>
                <a:ea typeface="Inter"/>
                <a:cs typeface="Inter"/>
                <a:sym typeface="Inter"/>
              </a:rPr>
              <a:t>c4-app-087.pages.dev</a:t>
            </a:r>
            <a:endParaRPr b="1" i="0" sz="1300">
              <a:solidFill>
                <a:srgbClr val="F2AD62"/>
              </a:solidFill>
              <a:latin typeface="Inter"/>
              <a:ea typeface="Inter"/>
              <a:cs typeface="Inter"/>
              <a:sym typeface="Inter"/>
            </a:endParaRPr>
          </a:p>
        </p:txBody>
      </p:sp>
      <p:sp>
        <p:nvSpPr>
          <p:cNvPr id="519" name="Google Shape;519;h575f3ee0b5d7ded4_23_1567"/>
          <p:cNvSpPr/>
          <p:nvPr/>
        </p:nvSpPr>
        <p:spPr>
          <a:xfrm>
            <a:off x="649224" y="6565392"/>
            <a:ext cx="7223700" cy="155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B0C5C7"/>
              </a:buClr>
              <a:buSzPts val="920"/>
              <a:buFont typeface="Inter"/>
              <a:buNone/>
            </a:pPr>
            <a:r>
              <a:rPr b="1" i="0" lang="en-US" sz="920" u="none" cap="none" strike="noStrike">
                <a:solidFill>
                  <a:srgbClr val="B0C5C7"/>
                </a:solidFill>
                <a:latin typeface="Inter"/>
                <a:ea typeface="Inter"/>
                <a:cs typeface="Inter"/>
                <a:sym typeface="Inter"/>
              </a:rPr>
              <a:t>REAL2SIM STUDIO   •  T087   •  AI20K   •  Cohort 4</a:t>
            </a:r>
            <a:endParaRPr b="0" i="0" sz="920" u="none" cap="none" strike="noStrike">
              <a:solidFill>
                <a:schemeClr val="dk1"/>
              </a:solidFill>
              <a:latin typeface="Inter"/>
              <a:ea typeface="Inter"/>
              <a:cs typeface="Inter"/>
              <a:sym typeface="Inter"/>
            </a:endParaRPr>
          </a:p>
        </p:txBody>
      </p:sp>
      <p:grpSp>
        <p:nvGrpSpPr>
          <p:cNvPr id="520" name="Google Shape;520;h575f3ee0b5d7ded4_23_1567"/>
          <p:cNvGrpSpPr/>
          <p:nvPr/>
        </p:nvGrpSpPr>
        <p:grpSpPr>
          <a:xfrm>
            <a:off x="731520" y="3762375"/>
            <a:ext cx="10728900" cy="533400"/>
            <a:chOff x="-5486400" y="1333500"/>
            <a:chExt cx="10728900" cy="533400"/>
          </a:xfrm>
        </p:grpSpPr>
        <p:sp>
          <p:nvSpPr>
            <p:cNvPr id="521" name="Google Shape;521;h575f3ee0b5d7ded4_23_1567"/>
            <p:cNvSpPr/>
            <p:nvPr/>
          </p:nvSpPr>
          <p:spPr>
            <a:xfrm>
              <a:off x="-5486400" y="1333500"/>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2" name="Google Shape;522;h575f3ee0b5d7ded4_23_1567"/>
            <p:cNvSpPr txBox="1"/>
            <p:nvPr/>
          </p:nvSpPr>
          <p:spPr>
            <a:xfrm>
              <a:off x="-5314950" y="1466850"/>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04</a:t>
              </a:r>
              <a:endParaRPr b="1" i="0" sz="1200">
                <a:solidFill>
                  <a:srgbClr val="F2AD62"/>
                </a:solidFill>
                <a:latin typeface="Inter"/>
                <a:ea typeface="Inter"/>
                <a:cs typeface="Inter"/>
                <a:sym typeface="Inter"/>
              </a:endParaRPr>
            </a:p>
          </p:txBody>
        </p:sp>
        <p:sp>
          <p:nvSpPr>
            <p:cNvPr id="523" name="Google Shape;523;h575f3ee0b5d7ded4_23_1567"/>
            <p:cNvSpPr txBox="1"/>
            <p:nvPr/>
          </p:nvSpPr>
          <p:spPr>
            <a:xfrm>
              <a:off x="-4914900" y="1409700"/>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Real2Sim có thể xử lý những môi trường lớn và phức tạp hơn không?</a:t>
              </a:r>
              <a:endParaRPr b="0" i="0" sz="1250">
                <a:solidFill>
                  <a:srgbClr val="FFFFFF"/>
                </a:solidFill>
                <a:latin typeface="Inter"/>
                <a:ea typeface="Inter"/>
                <a:cs typeface="Inter"/>
                <a:sym typeface="Inter"/>
              </a:endParaRPr>
            </a:p>
          </p:txBody>
        </p:sp>
      </p:grpSp>
      <p:grpSp>
        <p:nvGrpSpPr>
          <p:cNvPr id="524" name="Google Shape;524;h575f3ee0b5d7ded4_23_1567"/>
          <p:cNvGrpSpPr/>
          <p:nvPr/>
        </p:nvGrpSpPr>
        <p:grpSpPr>
          <a:xfrm>
            <a:off x="731520" y="4429125"/>
            <a:ext cx="10728900" cy="533400"/>
            <a:chOff x="-5486400" y="1238250"/>
            <a:chExt cx="10728900" cy="533400"/>
          </a:xfrm>
        </p:grpSpPr>
        <p:sp>
          <p:nvSpPr>
            <p:cNvPr id="525" name="Google Shape;525;h575f3ee0b5d7ded4_23_1567"/>
            <p:cNvSpPr/>
            <p:nvPr/>
          </p:nvSpPr>
          <p:spPr>
            <a:xfrm>
              <a:off x="-5486400" y="1238250"/>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6" name="Google Shape;526;h575f3ee0b5d7ded4_23_1567"/>
            <p:cNvSpPr txBox="1"/>
            <p:nvPr/>
          </p:nvSpPr>
          <p:spPr>
            <a:xfrm>
              <a:off x="-5314950" y="1371600"/>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05</a:t>
              </a:r>
              <a:endParaRPr b="1" i="0" sz="1200">
                <a:solidFill>
                  <a:srgbClr val="F2AD62"/>
                </a:solidFill>
                <a:latin typeface="Inter"/>
                <a:ea typeface="Inter"/>
                <a:cs typeface="Inter"/>
                <a:sym typeface="Inter"/>
              </a:endParaRPr>
            </a:p>
          </p:txBody>
        </p:sp>
        <p:sp>
          <p:nvSpPr>
            <p:cNvPr id="527" name="Google Shape;527;h575f3ee0b5d7ded4_23_1567"/>
            <p:cNvSpPr txBox="1"/>
            <p:nvPr/>
          </p:nvSpPr>
          <p:spPr>
            <a:xfrm>
              <a:off x="-4914900" y="1314450"/>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Ba điểm nổi bật nhất của Real2Sim Studio là gì?</a:t>
              </a:r>
              <a:endParaRPr b="0" i="0" sz="1250">
                <a:solidFill>
                  <a:srgbClr val="FFFFFF"/>
                </a:solidFill>
                <a:latin typeface="Inter"/>
                <a:ea typeface="Inter"/>
                <a:cs typeface="Inter"/>
                <a:sym typeface="Inter"/>
              </a:endParaRPr>
            </a:p>
          </p:txBody>
        </p:sp>
      </p:grpSp>
      <p:grpSp>
        <p:nvGrpSpPr>
          <p:cNvPr id="528" name="Google Shape;528;h575f3ee0b5d7ded4_23_1567"/>
          <p:cNvGrpSpPr/>
          <p:nvPr/>
        </p:nvGrpSpPr>
        <p:grpSpPr>
          <a:xfrm>
            <a:off x="731520" y="5095875"/>
            <a:ext cx="10728900" cy="533400"/>
            <a:chOff x="-5486400" y="1143000"/>
            <a:chExt cx="10728900" cy="533400"/>
          </a:xfrm>
        </p:grpSpPr>
        <p:sp>
          <p:nvSpPr>
            <p:cNvPr id="529" name="Google Shape;529;h575f3ee0b5d7ded4_23_1567"/>
            <p:cNvSpPr/>
            <p:nvPr/>
          </p:nvSpPr>
          <p:spPr>
            <a:xfrm>
              <a:off x="-5486400" y="1143000"/>
              <a:ext cx="10728900" cy="533400"/>
            </a:xfrm>
            <a:prstGeom prst="roundRect">
              <a:avLst>
                <a:gd fmla="val 21428" name="adj"/>
              </a:avLst>
            </a:prstGeom>
            <a:solidFill>
              <a:srgbClr val="162831"/>
            </a:solidFill>
            <a:ln cap="flat" cmpd="sng" w="9525">
              <a:solidFill>
                <a:srgbClr val="4260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0" name="Google Shape;530;h575f3ee0b5d7ded4_23_1567"/>
            <p:cNvSpPr txBox="1"/>
            <p:nvPr/>
          </p:nvSpPr>
          <p:spPr>
            <a:xfrm>
              <a:off x="-5314950" y="1276350"/>
              <a:ext cx="342900" cy="266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200">
                  <a:solidFill>
                    <a:srgbClr val="F2AD62"/>
                  </a:solidFill>
                  <a:latin typeface="Inter"/>
                  <a:ea typeface="Inter"/>
                  <a:cs typeface="Inter"/>
                  <a:sym typeface="Inter"/>
                </a:rPr>
                <a:t>06</a:t>
              </a:r>
              <a:endParaRPr b="1" i="0" sz="1200">
                <a:solidFill>
                  <a:srgbClr val="F2AD62"/>
                </a:solidFill>
                <a:latin typeface="Inter"/>
                <a:ea typeface="Inter"/>
                <a:cs typeface="Inter"/>
                <a:sym typeface="Inter"/>
              </a:endParaRPr>
            </a:p>
          </p:txBody>
        </p:sp>
        <p:sp>
          <p:nvSpPr>
            <p:cNvPr id="531" name="Google Shape;531;h575f3ee0b5d7ded4_23_1567"/>
            <p:cNvSpPr txBox="1"/>
            <p:nvPr/>
          </p:nvSpPr>
          <p:spPr>
            <a:xfrm>
              <a:off x="-4914900" y="1219200"/>
              <a:ext cx="9906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0" lang="en-US" sz="1250">
                  <a:solidFill>
                    <a:srgbClr val="FFFFFF"/>
                  </a:solidFill>
                  <a:latin typeface="Inter"/>
                  <a:ea typeface="Inter"/>
                  <a:cs typeface="Inter"/>
                  <a:sym typeface="Inter"/>
                </a:rPr>
                <a:t>Thách thức kỹ thuật lớn nhất mà nhóm gặp phải khi phát triển Real2Sim là gì?</a:t>
              </a:r>
              <a:endParaRPr b="0" i="0" sz="1250">
                <a:solidFill>
                  <a:srgbClr val="FFFFFF"/>
                </a:solidFill>
                <a:latin typeface="Inter"/>
                <a:ea typeface="Inter"/>
                <a:cs typeface="Inter"/>
                <a:sym typeface="Inter"/>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2026-10-18T10:31:50Z</dcterms:created>
  <dc:creator>Real2Sim Studio</dc:creator>
</cp:coreProperties>
</file>